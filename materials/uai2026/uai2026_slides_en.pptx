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ce79a077684aee" /><Relationship Type="http://schemas.openxmlformats.org/officeDocument/2006/relationships/extended-properties" Target="/docProps/app.xml" Id="Rc4625bd41ec84cc3" /><Relationship Type="http://schemas.openxmlformats.org/officeDocument/2006/relationships/officeDocument" Target="/ppt/presentation.xml" Id="R05df90dedfb44e35" /></Relationships>
</file>

<file path=ppt/presentation.xml><?xml version="1.0" encoding="utf-8"?>
<p:presentation xmlns:p="http://schemas.openxmlformats.org/presentationml/2006/main">
  <p:sldMasterIdLst>
    <p:sldMasterId xmlns:r="http://schemas.openxmlformats.org/officeDocument/2006/relationships" id="2147483648" r:id="R8e97e0032fa0429f"/>
  </p:sldMasterIdLst>
  <p:notesMasterIdLst>
    <p:notesMasterId xmlns:r="http://schemas.openxmlformats.org/officeDocument/2006/relationships" r:id="Rf503a9e1102949a9"/>
  </p:notesMasterIdLst>
  <p:sldIdLst>
    <p:sldId xmlns:r="http://schemas.openxmlformats.org/officeDocument/2006/relationships" id="256" r:id="R27f02099d4144d14"/>
    <p:sldId xmlns:r="http://schemas.openxmlformats.org/officeDocument/2006/relationships" id="257" r:id="R3dae12ac84b841d5"/>
    <p:sldId xmlns:r="http://schemas.openxmlformats.org/officeDocument/2006/relationships" id="258" r:id="R299bd31d2a494db3"/>
    <p:sldId xmlns:r="http://schemas.openxmlformats.org/officeDocument/2006/relationships" id="259" r:id="R1c0fef59c6b74789"/>
    <p:sldId xmlns:r="http://schemas.openxmlformats.org/officeDocument/2006/relationships" id="260" r:id="R2fabf2fa08ab49b6"/>
    <p:sldId xmlns:r="http://schemas.openxmlformats.org/officeDocument/2006/relationships" id="261" r:id="Recd31356de8f4444"/>
    <p:sldId xmlns:r="http://schemas.openxmlformats.org/officeDocument/2006/relationships" id="262" r:id="Rc34e8d28a30c4473"/>
    <p:sldId xmlns:r="http://schemas.openxmlformats.org/officeDocument/2006/relationships" id="263" r:id="Rd0b9aed36dc84172"/>
    <p:sldId xmlns:r="http://schemas.openxmlformats.org/officeDocument/2006/relationships" id="264" r:id="R517a970702134c49"/>
    <p:sldId xmlns:r="http://schemas.openxmlformats.org/officeDocument/2006/relationships" id="265" r:id="Rddbb0452b52e45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2da8d9b49c4ecd" /><Relationship Type="http://schemas.openxmlformats.org/officeDocument/2006/relationships/slideMaster" Target="/ppt/slideMasters/slideMaster1.xml" Id="R8e97e0032fa0429f" /><Relationship Type="http://schemas.openxmlformats.org/officeDocument/2006/relationships/notesMaster" Target="/ppt/notesMasters/notesMaster1.xml" Id="Rf503a9e1102949a9" /><Relationship Type="http://schemas.openxmlformats.org/officeDocument/2006/relationships/presProps" Target="/ppt/presProps.xml" Id="Ra75aac125b6b4149" /><Relationship Type="http://schemas.openxmlformats.org/officeDocument/2006/relationships/tableStyles" Target="/ppt/tableStyles.xml" Id="R3f5c07739b394fdc" /><Relationship Type="http://schemas.openxmlformats.org/officeDocument/2006/relationships/slide" Target="/ppt/slides/slide1.xml" Id="R27f02099d4144d14" /><Relationship Type="http://schemas.openxmlformats.org/officeDocument/2006/relationships/slide" Target="/ppt/slides/slide2.xml" Id="R3dae12ac84b841d5" /><Relationship Type="http://schemas.openxmlformats.org/officeDocument/2006/relationships/slide" Target="/ppt/slides/slide3.xml" Id="R299bd31d2a494db3" /><Relationship Type="http://schemas.openxmlformats.org/officeDocument/2006/relationships/slide" Target="/ppt/slides/slide4.xml" Id="R1c0fef59c6b74789" /><Relationship Type="http://schemas.openxmlformats.org/officeDocument/2006/relationships/slide" Target="/ppt/slides/slide5.xml" Id="R2fabf2fa08ab49b6" /><Relationship Type="http://schemas.openxmlformats.org/officeDocument/2006/relationships/slide" Target="/ppt/slides/slide6.xml" Id="Recd31356de8f4444" /><Relationship Type="http://schemas.openxmlformats.org/officeDocument/2006/relationships/slide" Target="/ppt/slides/slide7.xml" Id="Rc34e8d28a30c4473" /><Relationship Type="http://schemas.openxmlformats.org/officeDocument/2006/relationships/slide" Target="/ppt/slides/slide8.xml" Id="Rd0b9aed36dc84172" /><Relationship Type="http://schemas.openxmlformats.org/officeDocument/2006/relationships/slide" Target="/ppt/slides/slide9.xml" Id="R517a970702134c49" /><Relationship Type="http://schemas.openxmlformats.org/officeDocument/2006/relationships/slide" Target="/ppt/slides/slide10.xml" Id="Rddbb0452b52e45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3f13a88a4c4e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f3d34f52f04325" /><Relationship Type="http://schemas.openxmlformats.org/officeDocument/2006/relationships/notesMaster" Target="/ppt/notesMasters/notesMaster1.xml" Id="Rc21738b9c16b42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9457f85c7c4759" /><Relationship Type="http://schemas.openxmlformats.org/officeDocument/2006/relationships/notesMaster" Target="/ppt/notesMasters/notesMaster1.xml" Id="R3f245d1c571e41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2c91bb923e4873" /><Relationship Type="http://schemas.openxmlformats.org/officeDocument/2006/relationships/notesMaster" Target="/ppt/notesMasters/notesMaster1.xml" Id="Rfc5ce639a40d4f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ad58b4f4624acd" /><Relationship Type="http://schemas.openxmlformats.org/officeDocument/2006/relationships/notesMaster" Target="/ppt/notesMasters/notesMaster1.xml" Id="R757bb3cdbe8e4b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9e66745be04540" /><Relationship Type="http://schemas.openxmlformats.org/officeDocument/2006/relationships/notesMaster" Target="/ppt/notesMasters/notesMaster1.xml" Id="R58db789182ba4e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5abfbf559f4c52" /><Relationship Type="http://schemas.openxmlformats.org/officeDocument/2006/relationships/notesMaster" Target="/ppt/notesMasters/notesMaster1.xml" Id="R6e08c9097ef143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5cb59d3232419c" /><Relationship Type="http://schemas.openxmlformats.org/officeDocument/2006/relationships/notesMaster" Target="/ppt/notesMasters/notesMaster1.xml" Id="R5bd30210811043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3a0d33dfdb4ea5" /><Relationship Type="http://schemas.openxmlformats.org/officeDocument/2006/relationships/notesMaster" Target="/ppt/notesMasters/notesMaster1.xml" Id="R0c671d40073644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d9b2e6c6224e7a" /><Relationship Type="http://schemas.openxmlformats.org/officeDocument/2006/relationships/notesMaster" Target="/ppt/notesMasters/notesMaster1.xml" Id="R1c283ad63cbd46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aee230f9d246b1" /><Relationship Type="http://schemas.openxmlformats.org/officeDocument/2006/relationships/notesMaster" Target="/ppt/notesMasters/notesMaster1.xml" Id="R11c85449c4a14b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Conformal prediction produces a set of plausible labels, not just a single prediction. Coverage is the fraction of examples whose true label appears in that set. The appeal is a statistical guarantee under exchangeability, which roughly requires calibration and future examples to be comparable. Deployment can violate that assumption. This study asks a practical question: can something measured before deployment identify models that are more vulnerable to future coverage loss? The proposed signal is the concentration of SHAP feature importance in the single most influential feature. We will connect that idea to the COVID-19 supply-chain case study, an idealized mechanism, and the observed cross-domain association. The result is a warning signal for a particular family of classifiers. It is not a replacement for conformal calibration or a guarantee under arbitrary future shift.</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Abstract; §Introduction</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supplies eight classification tasks under the same calendar split. Models train before February 2020, validation covers February through July 2020, and test observations come afterward. This is an observational temporal case study, not a randomized intervention identifying the causal effect of COVID. Each of fifty seeds trains an independent LightGBM model and calibrates its own predictor; the experiment is not an ensemble of fifty predictions. The table shows four tasks to make the contrast visible. Payment-term coverage falls by 77.1 percentage points, while sales-office coverage is essentially unchanged. The seed runs measure algorithmic variation on these tasks; they are not fifty independent shocks. Rounding explains why displayed validation and test values occasionally differ from the separately reported drop. The central problem is explaining this heterogeneous vulnerability.</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§Methodology; Table tab:main_results</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feature, average the absolute SHAP attribution over validation examples. Then divide the largest of those averages by the sum across all features. The result lies between zero and one and is comparable across the tasks despite different raw attribution scales. A value of 0.5 means that one feature accounts for half of the measured attribution mass. This does not say that half of prediction errors will come from that feature, nor that the feature will necessarily change in deployment. It describes concentration in a fitted model's explanation. The timing matters: no future labels or future covariates are needed to compute this diagnostic. The hypothesis is that a model with one dominant reliance point can be fragile when a damaging shift affects that point. Stability of the feature still matters.</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§SHAP Concentration Diagnostic; Eq. eq:concentration</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APS scores accumulate predicted probability down the ranked labels until the true class is reached. If the model becomes confidently wrong, the true class can appear late in that ranking, moving its score beyond the cutoff calibrated earlier. The theorem studies a deliberately simplified model: a mixture in probability space of a component depending on one feature and a residual component. The dominant feature's shifted component puts little probability on the true class, while the residual component and label retain their calibration distribution. Under the additional inequalities stated in the theorem, increasing the mixture weight worsens bounds on scores and coverage. The paper explicitly notes that TreeSHAP operates in log-odds space here. Thus this is directional mechanistic support under assumptions, not a formal guarantee that any measured SHAP concentration determines future coverage.</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§Theory; Theorem thm:score_inflation, assumptions A1–A3 and A1 footnote</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is a task: concentration measured on validation data appears on the horizontal axis, and subsequent coverage loss on the vertical axis. The pooled association is strong, with Spearman correlation 0.853. The unit of analysis is the task, not an individual prediction or seed. The sixteen-task result combines the original eight SALT tasks with eight external multiclass tasks. It is therefore not sixteen wholly independent new validations of a rule developed elsewhere. Four external tasks use documented shifts, and four are null-shift controls with random or predefined splits. The three-class Stack Overflow task is excluded from this primary endpoint, which uses at least four classes. The dashed threshold is exploratory. Notice the exceptions, especially sales-office and KDDCup99: they are important for interpreting the signal as a risk diagnostic rather than a deterministic rule.</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§SHAP Concentration Correlates with Failure; Table tab:stratified_correlation; Figure fig:n16_correlation</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distribution test can correctly detect that data changed while saying little about which fitted model loses coverage. In this case study, the three reported shift indicators identify differences across all tasks but have weak rank associations with the severity of coverage loss. SHAP concentration is more strongly associated with that severity and is available earlier. Native feature-gain concentration and variability of validation coverage across seeds are alternative pre-deployment diagnostics. Their observed correlations are smaller on the eight SALT tasks. This comparison must retain its information distinction: shift tests use post-shift observations, so we should not imply a controlled same-input forecasting competition. The small task count also limits statistical separation between alternative explanations. In particular, class count and concentration are related within SALT; the cross-domain partial-correlation analysis gives additional evidence but does not turn the study into a causal experiment.</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Table tab:diagnostic_comparison; §Comparison with Standard Shift Detection</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40 percent concentration cutoff is a compact screening rule. It should not be read as a universal threshold at which a predictor suddenly becomes unsafe. Sales-office has concentration above the cutoff but almost no coverage loss. The manuscript motivates a protective-secondary-feature check from that one observation; its numerical cutoffs remain provisional. KDDCup99 illustrates the reverse problem: concentration is below the threshold but the mean loss crosses the study's fifteen-percentage-point at-risk definition, with substantial seed variability. Covertype is the principal catastrophic external case, with the stated geographic split. A separate specificity experiment uses another Covertype split and obtains different results; those experiments should not be merged. The practical interpretation is to investigate concentrated dependence, examine feature stability, and keep monitoring empirical coverage. A low concentration value does not establish future validity.</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Table tab:framework_validation; §Decision Framework; §Cross-Domain and External Validation</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result has a scope: gradient-boosted multiclass classifiers using APS. The model-sensitivity analysis is useful because it tests whether the same compact diagnostic behaves similarly in other architectures. It does not. Random forests show a weaker association, and the multilayer perceptron can lose substantial coverage while its measured attribution remains relatively distributed. The source discusses these as global-sensitivity failures that a top-feature metric does not capture. One example is the MLP on sales-group, with roughly 27.5 percent concentration but 78.4 percentage points of coverage loss. That is a direct reason not to use a low C value as a universal reliability certificate. The architectural explanations are plausible interpretations, rather than isolated causal effects of bagging, boosting, or neural representations. Neural diagnostics and broader transfer need dedicated validation.</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Appendix Model Class Sensitivity; Tables tab:model_sensitivity and tab:mlp_lgb_comparison</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diagnostic does not by itself provide a repair. The paper examines three possible responses. Adaptive conformal inference can bring marginal coverage closer to target, but the returned sets may cover a large fraction of all classes, limiting practical value. This is why a coverage number should be paired with set-size or informativeness measures. RAPS regularizes how many labels accumulate in a prediction set and helps some high-cardinality tasks in the reported comparison; it does not uniformly resolve failure associated with a dominant feature. Retraining shows partial recovery in one highlighted task, but that experiment is single-seed and the multiple-testing-adjusted p-value is 0.11. These findings motivate mechanism-specific follow-up, not a universally validated deployment recipe. Prospective studies should specify the diagnostic, intervention, monitoring schedule, and success criteria before seeing future outcomes.</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§Extended Experiments: ACI, RAPS and Retraining</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 practical change in the reliability question. Instead of only asking whether a distribution has shifted, ask how the fitted predictor distributes its reliance and whether a shift could hit that reliance. The COVID-19 case study provides a striking contrast among tasks exposed to the same time period, and the external experiments support a broader association while preserving counterexamples. The idealized theorem provides directional intuition under a probability-mixture assumption; it does not certify measured TreeSHAP values. Three limits should remain visible: the threshold was developed using a small task set, the pooled endpoint includes those original tasks, and the evidence is model-family specific. The next step is prospective testing across new settings, with predeclared thresholds and interventions. In practice, this diagnostic can motivate closer inspection and monitoring; it cannot replace the assumptions behind conformal prediction.</a:t>
            </a:r>
          </a:p>
          <a:p xmlns:a="http://schemas.openxmlformats.org/drawingml/2006/main">
            <a:r>
              <a:t/>
            </a:r>
          </a:p>
          <a:p xmlns:a="http://schemas.openxmlformats.org/drawingml/2006/main">
            <a:r>
              <a:t>Sources</a:t>
            </a:r>
          </a:p>
          <a:p xmlns:a="http://schemas.openxmlformats.org/drawingml/2006/main">
            <a:r>
              <a:t>https://github.com/ChorokLeeDev/conformal-covid-uai2026/blob/96d9616961e5ae8607373181d35262cb21a2b0d1/paper/main.tex — §Conclusion; §Decision Framework; Theorem A1 footnote</a:t>
            </a:r>
          </a:p>
          <a:p xmlns:a="http://schemas.openxmlformats.org/drawingml/2006/main">
            <a:r>
              <a:t>UAI 2026 camera-ready source; fixed 29 September 2026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607322066344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7fce7ee5a44547" /><Relationship Type="http://schemas.openxmlformats.org/officeDocument/2006/relationships/slideLayout" Target="/ppt/slideLayouts/slideLayout1.xml" Id="R728f33f2641a4c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8f33f2641a4c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3d96c0915148d6" /><Relationship Type="http://schemas.openxmlformats.org/officeDocument/2006/relationships/notesSlide" Target="/ppt/notesSlides/notesSlide1.xml" Id="Rd75fe27f807245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b20b00d9f24052" /><Relationship Type="http://schemas.openxmlformats.org/officeDocument/2006/relationships/notesSlide" Target="/ppt/notesSlides/notesSlide2.xml" Id="R8af68aeaf88646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508efb64b64e27" /><Relationship Type="http://schemas.openxmlformats.org/officeDocument/2006/relationships/notesSlide" Target="/ppt/notesSlides/notesSlide3.xml" Id="R1281400052bf46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bec5edd9d74580" /><Relationship Type="http://schemas.openxmlformats.org/officeDocument/2006/relationships/notesSlide" Target="/ppt/notesSlides/notesSlide4.xml" Id="Ra14aeedbf9e143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f64b5215bd4828" /><Relationship Type="http://schemas.openxmlformats.org/officeDocument/2006/relationships/image" Target="/ppt/media/image.png" Id="Ra1ae6284021d4c5c" /><Relationship Type="http://schemas.openxmlformats.org/officeDocument/2006/relationships/notesSlide" Target="/ppt/notesSlides/notesSlide5.xml" Id="Rbca270f5caa846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b3f85ea0484eb9" /><Relationship Type="http://schemas.openxmlformats.org/officeDocument/2006/relationships/notesSlide" Target="/ppt/notesSlides/notesSlide6.xml" Id="Rcfefd578c41441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df5d5ffab040d9" /><Relationship Type="http://schemas.openxmlformats.org/officeDocument/2006/relationships/notesSlide" Target="/ppt/notesSlides/notesSlide7.xml" Id="R536661791f2641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e4b0a3f408422c" /><Relationship Type="http://schemas.openxmlformats.org/officeDocument/2006/relationships/notesSlide" Target="/ppt/notesSlides/notesSlide8.xml" Id="R07c1329f5ee542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e28e8b4c734911" /><Relationship Type="http://schemas.openxmlformats.org/officeDocument/2006/relationships/notesSlide" Target="/ppt/notesSlides/notesSlide9.xml" Id="R60ce44d0027b48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c79ac4abcd49cc" /><Relationship Type="http://schemas.openxmlformats.org/officeDocument/2006/relationships/notesSlide" Target="/ppt/notesSlides/notesSlide10.xml" Id="R87caa3be4d064f6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RELIABLE PREDICTION AND STATISTICAL EVALUATIO">
            <a:extLst xmlns:a="http://schemas.openxmlformats.org/drawingml/2006/main">
              <a:ext uri="{FF2B5EF4-FFF2-40B4-BE49-F238E27FC236}">
                <a16:creationId xmlns:a16="http://schemas.microsoft.com/office/drawing/2014/main" id="{5990ADE6-9653-48F3-AEEC-F48495C7AEB5}"/>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RELIABLE PREDICTION AND STATISTICAL EVALUATION</a:t>
            </a:r>
          </a:p>
        </p:txBody>
      </p:sp>
      <p:sp>
        <p:nvSpPr>
          <p:cNvPr id="2" name="Diagnosing Conformal Prediction Failures Unde">
            <a:extLst xmlns:a="http://schemas.openxmlformats.org/drawingml/2006/main">
              <a:ext uri="{FF2B5EF4-FFF2-40B4-BE49-F238E27FC236}">
                <a16:creationId xmlns:a16="http://schemas.microsoft.com/office/drawing/2014/main" id="{EB1F2252-C623-4AC4-8A9F-5E9184A92825}"/>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Diagnosing Conformal Prediction Failures Under Distribution Shift: A COVID-19 Case Study</a:t>
            </a:r>
          </a:p>
        </p:txBody>
      </p:sp>
      <p:sp>
        <p:nvSpPr>
          <p:cNvPr id="3" name="Chorok Lee">
            <a:extLst xmlns:a="http://schemas.openxmlformats.org/drawingml/2006/main">
              <a:ext uri="{FF2B5EF4-FFF2-40B4-BE49-F238E27FC236}">
                <a16:creationId xmlns:a16="http://schemas.microsoft.com/office/drawing/2014/main" id="{74C020A1-799D-4C76-974E-74FCF024BB40}"/>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4" name="KAIST">
            <a:extLst xmlns:a="http://schemas.openxmlformats.org/drawingml/2006/main">
              <a:ext uri="{FF2B5EF4-FFF2-40B4-BE49-F238E27FC236}">
                <a16:creationId xmlns:a16="http://schemas.microsoft.com/office/drawing/2014/main" id="{9E975D22-26FC-4011-A09D-FE44D0132B00}"/>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5" name="When conformal coverage fails">
            <a:extLst xmlns:a="http://schemas.openxmlformats.org/drawingml/2006/main">
              <a:ext uri="{FF2B5EF4-FFF2-40B4-BE49-F238E27FC236}">
                <a16:creationId xmlns:a16="http://schemas.microsoft.com/office/drawing/2014/main" id="{4B7AF5D0-F184-487B-B0DB-8C47ED44E18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When conformal coverage fails</a:t>
            </a:r>
          </a:p>
        </p:txBody>
      </p:sp>
      <p:sp>
        <p:nvSpPr>
          <p:cNvPr id="6" name="01 / 10">
            <a:extLst xmlns:a="http://schemas.openxmlformats.org/drawingml/2006/main">
              <a:ext uri="{FF2B5EF4-FFF2-40B4-BE49-F238E27FC236}">
                <a16:creationId xmlns:a16="http://schemas.microsoft.com/office/drawing/2014/main" id="{E01259A9-D365-478F-8A32-8D2471E93620}"/>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3636017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ame calendar shock, very different failures">
            <a:extLst xmlns:a="http://schemas.openxmlformats.org/drawingml/2006/main">
              <a:ext uri="{FF2B5EF4-FFF2-40B4-BE49-F238E27FC236}">
                <a16:creationId xmlns:a16="http://schemas.microsoft.com/office/drawing/2014/main" id="{75C299B9-6F0C-413C-8042-DA38ED69FE98}"/>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Same calendar shock, very different failures</a:t>
            </a:r>
          </a:p>
        </p:txBody>
      </p:sp>
      <p:sp>
        <p:nvSpPr>
          <p:cNvPr id="2" name="Eight SALT tasks share the COVID-era split; t">
            <a:extLst xmlns:a="http://schemas.openxmlformats.org/drawingml/2006/main">
              <a:ext uri="{FF2B5EF4-FFF2-40B4-BE49-F238E27FC236}">
                <a16:creationId xmlns:a16="http://schemas.microsoft.com/office/drawing/2014/main" id="{3126A1AB-9101-41FE-9420-6AE275AAFFF2}"/>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Eight SALT tasks share the COVID-era split; their coverage losses vary sharply.</a:t>
            </a:r>
          </a:p>
        </p:txBody>
      </p:sp>
      <p:graphicFrame>
        <p:nvGraphicFramePr>
          <p:cNvPr id="9" name=""/>
          <p:cNvGraphicFramePr/>
          <p:nvPr/>
        </p:nvGraphicFramePr>
        <p:xfrm>
          <a:off xmlns:a="http://schemas.openxmlformats.org/drawingml/2006/main" x="666750" y="2514600"/>
          <a:ext xmlns:a="http://schemas.openxmlformats.org/drawingml/2006/main" cx="10858500" cy="2533650"/>
        </p:xfrm>
        <a:graphic xmlns:a="http://schemas.openxmlformats.org/drawingml/2006/main">
          <a:graphicData uri="http://schemas.openxmlformats.org/drawingml/2006/table">
            <a:tbl>
              <a:tblPr firstRow="1" bandRow="0"/>
              <a:tblGrid>
                <a:gridCol w="3739968"/>
                <a:gridCol w="2414139"/>
                <a:gridCol w="2414139"/>
                <a:gridCol w="2290253"/>
              </a:tblGrid>
              <a:tr h="476250">
                <a:tc>
                  <a:txBody>
                    <a:bodyPr/>
                    <a:lstStyle/>
                    <a:p>
                      <a:r>
                        <a:rPr sz="1650" b="1">
                          <a:solidFill>
                            <a:srgbClr val="FFFFFF"/>
                          </a:solidFill>
                          <a:latin typeface="Noto Sans"/>
                          <a:ea typeface="Noto Sans"/>
                          <a:cs typeface="Noto Sans"/>
                        </a:rPr>
                        <a:t>Task</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Validation</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Post-shift</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Drop</a:t>
                      </a:r>
                    </a:p>
                  </a:txBody>
                  <a:tcPr marL="133350" marR="133350" marT="85725" marB="85725" anchor="ctr">
                    <a:solidFill>
                      <a:srgbClr val="102A43"/>
                    </a:solidFill>
                  </a:tcPr>
                </a:tc>
              </a:tr>
              <a:tr h="514350">
                <a:tc>
                  <a:txBody>
                    <a:bodyPr/>
                    <a:lstStyle/>
                    <a:p>
                      <a:r>
                        <a:rPr sz="1650" b="0">
                          <a:solidFill>
                            <a:srgbClr val="354F62"/>
                          </a:solidFill>
                          <a:latin typeface="Noto Sans"/>
                          <a:ea typeface="Noto Sans"/>
                          <a:cs typeface="Noto Sans"/>
                        </a:rPr>
                        <a:t>Sales payment terms</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90.8%</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13.7%</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77.1 pp</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Sales shipping condition</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93.5%</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21.8%</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71.6 pp</a:t>
                      </a:r>
                    </a:p>
                  </a:txBody>
                  <a:tcPr marL="133350" marR="133350" marT="85725" marB="85725" anchor="ctr">
                    <a:solidFill>
                      <a:srgbClr val="F1F6F8"/>
                    </a:solidFill>
                  </a:tcPr>
                </a:tc>
              </a:tr>
              <a:tr h="514350">
                <a:tc>
                  <a:txBody>
                    <a:bodyPr/>
                    <a:lstStyle/>
                    <a:p>
                      <a:r>
                        <a:rPr sz="1650" b="0">
                          <a:solidFill>
                            <a:srgbClr val="354F62"/>
                          </a:solidFill>
                          <a:latin typeface="Noto Sans"/>
                          <a:ea typeface="Noto Sans"/>
                          <a:cs typeface="Noto Sans"/>
                        </a:rPr>
                        <a:t>Item plant</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92.0%</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81.4%</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10.6 pp</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Sales office</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99.9%</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99.9%</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0.1 pp</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20058D44-0C83-4C5E-BDDC-AAB14A83BD47}"/>
              </a:ext>
            </a:extLst>
          </p:cNvPr>
          <p:cNvSpPr>
            <a:spLocks xmlns:a="http://schemas.openxmlformats.org/drawingml/2006/main" noGrp="1"/>
          </p:cNvSpPr>
          <p:nvPr/>
        </p:nvSpPr>
        <p:spPr>
          <a:xfrm xmlns:a="http://schemas.openxmlformats.org/drawingml/2006/main">
            <a:off x="666750" y="5219700"/>
            <a:ext cx="10858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Non-randomized APS targets 90% coverage; values are 50-seed means.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Drop = validation coverage minus post-shift coverage; rounded values may not subtract exactly.</a:t>
            </a:r>
          </a:p>
        </p:txBody>
      </p:sp>
      <p:sp>
        <p:nvSpPr>
          <p:cNvPr id="5" name="When conformal coverage fails">
            <a:extLst xmlns:a="http://schemas.openxmlformats.org/drawingml/2006/main">
              <a:ext uri="{FF2B5EF4-FFF2-40B4-BE49-F238E27FC236}">
                <a16:creationId xmlns:a16="http://schemas.microsoft.com/office/drawing/2014/main" id="{4083831B-BB13-48A2-8084-62E5A9A4A068}"/>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6" name="02 / 10">
            <a:extLst xmlns:a="http://schemas.openxmlformats.org/drawingml/2006/main">
              <a:ext uri="{FF2B5EF4-FFF2-40B4-BE49-F238E27FC236}">
                <a16:creationId xmlns:a16="http://schemas.microsoft.com/office/drawing/2014/main" id="{1F2689EA-5D3E-474C-A4BC-9C233B7B7E4F}"/>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15465931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easure where the model places its reliance">
            <a:extLst xmlns:a="http://schemas.openxmlformats.org/drawingml/2006/main">
              <a:ext uri="{FF2B5EF4-FFF2-40B4-BE49-F238E27FC236}">
                <a16:creationId xmlns:a16="http://schemas.microsoft.com/office/drawing/2014/main" id="{F741BCFE-9501-41F2-ADEF-486AB3275B08}"/>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Measure where the model places its reliance</a:t>
            </a:r>
          </a:p>
        </p:txBody>
      </p:sp>
      <p:sp>
        <p:nvSpPr>
          <p:cNvPr id="2" name="Top-1 concentration is the largest share of t">
            <a:extLst xmlns:a="http://schemas.openxmlformats.org/drawingml/2006/main">
              <a:ext uri="{FF2B5EF4-FFF2-40B4-BE49-F238E27FC236}">
                <a16:creationId xmlns:a16="http://schemas.microsoft.com/office/drawing/2014/main" id="{A32F4145-B060-4B35-9026-F96A5E7D6678}"/>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Top-1 concentration is the largest share of total mean absolute SHAP importance.</a:t>
            </a:r>
          </a:p>
        </p:txBody>
      </p:sp>
      <p:sp>
        <p:nvSpPr>
          <p:cNvPr id="3" name="C = largest mean |SHAP| / total mean |SHAP|">
            <a:extLst xmlns:a="http://schemas.openxmlformats.org/drawingml/2006/main">
              <a:ext uri="{FF2B5EF4-FFF2-40B4-BE49-F238E27FC236}">
                <a16:creationId xmlns:a16="http://schemas.microsoft.com/office/drawing/2014/main" id="{1E30C3B7-BB37-4379-9683-DBB5333BED4A}"/>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2563A6"/>
                </a:solidFill>
                <a:latin typeface="Noto Sans"/>
                <a:ea typeface="Noto Sans"/>
                <a:cs typeface="Noto Sans"/>
              </a:defRPr>
            </a:pPr>
            <a:r>
              <a:rPr sz="3225" b="1">
                <a:solidFill>
                  <a:srgbClr val="2563A6"/>
                </a:solidFill>
                <a:latin typeface="Noto Sans"/>
                <a:ea typeface="Noto Sans"/>
                <a:cs typeface="Noto Sans"/>
              </a:rPr>
              <a:t>C = largest mean |SHAP| / total mean |SHAP|</a:t>
            </a:r>
          </a:p>
        </p:txBody>
      </p:sp>
      <p:sp>
        <p:nvSpPr>
          <p:cNvPr id="4" name="">
            <a:extLst xmlns:a="http://schemas.openxmlformats.org/drawingml/2006/main">
              <a:ext uri="{FF2B5EF4-FFF2-40B4-BE49-F238E27FC236}">
                <a16:creationId xmlns:a16="http://schemas.microsoft.com/office/drawing/2014/main" id="{53148A5A-FDC1-4AAB-B39D-99215A544AF8}"/>
              </a:ext>
            </a:extLst>
          </p:cNvPr>
          <p:cNvSpPr>
            <a:spLocks xmlns:a="http://schemas.openxmlformats.org/drawingml/2006/main" noGrp="1"/>
          </p:cNvSpPr>
          <p:nvPr/>
        </p:nvSpPr>
        <p:spPr>
          <a:xfrm xmlns:a="http://schemas.openxmlformats.org/drawingml/2006/main">
            <a:off x="666750" y="4181475"/>
            <a:ext cx="10858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Compute SHAP on validation data before deployment.</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A large C means one feature dominates the measured attribution.</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C measures reliance concentration; it does not measure how much future data will shift.</a:t>
            </a:r>
          </a:p>
        </p:txBody>
      </p:sp>
      <p:sp>
        <p:nvSpPr>
          <p:cNvPr id="5" name="When conformal coverage fails">
            <a:extLst xmlns:a="http://schemas.openxmlformats.org/drawingml/2006/main">
              <a:ext uri="{FF2B5EF4-FFF2-40B4-BE49-F238E27FC236}">
                <a16:creationId xmlns:a16="http://schemas.microsoft.com/office/drawing/2014/main" id="{0DCDB204-0E9E-4B1D-9744-04C4C8F3AA1B}"/>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6" name="03 / 10">
            <a:extLst xmlns:a="http://schemas.openxmlformats.org/drawingml/2006/main">
              <a:ext uri="{FF2B5EF4-FFF2-40B4-BE49-F238E27FC236}">
                <a16:creationId xmlns:a16="http://schemas.microsoft.com/office/drawing/2014/main" id="{0AC751F9-957C-482B-A2A9-80206D094F3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21297864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y concentration can amplify vulnerability">
            <a:extLst xmlns:a="http://schemas.openxmlformats.org/drawingml/2006/main">
              <a:ext uri="{FF2B5EF4-FFF2-40B4-BE49-F238E27FC236}">
                <a16:creationId xmlns:a16="http://schemas.microsoft.com/office/drawing/2014/main" id="{EEE04F50-4B36-41B4-95E5-BA34959A383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Why concentration can amplify vulnerability</a:t>
            </a:r>
          </a:p>
        </p:txBody>
      </p:sp>
      <p:sp>
        <p:nvSpPr>
          <p:cNvPr id="2" name="The theory explains a mechanism under stated ">
            <a:extLst xmlns:a="http://schemas.openxmlformats.org/drawingml/2006/main">
              <a:ext uri="{FF2B5EF4-FFF2-40B4-BE49-F238E27FC236}">
                <a16:creationId xmlns:a16="http://schemas.microsoft.com/office/drawing/2014/main" id="{B56793D5-D8A0-4D04-A81F-171464A5A4E3}"/>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The theory explains a mechanism under stated assumptions.</a:t>
            </a:r>
          </a:p>
        </p:txBody>
      </p:sp>
      <p:sp>
        <p:nvSpPr>
          <p:cNvPr id="3" name="Idealized mechanism">
            <a:extLst xmlns:a="http://schemas.openxmlformats.org/drawingml/2006/main">
              <a:ext uri="{FF2B5EF4-FFF2-40B4-BE49-F238E27FC236}">
                <a16:creationId xmlns:a16="http://schemas.microsoft.com/office/drawing/2014/main" id="{895FFD75-AECE-41E1-9E62-CA66F8084BCB}"/>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Idealized mechanism</a:t>
            </a:r>
          </a:p>
        </p:txBody>
      </p:sp>
      <p:sp>
        <p:nvSpPr>
          <p:cNvPr id="4" name="The class-probability model combines a domina">
            <a:extLst xmlns:a="http://schemas.openxmlformats.org/drawingml/2006/main">
              <a:ext uri="{FF2B5EF4-FFF2-40B4-BE49-F238E27FC236}">
                <a16:creationId xmlns:a16="http://schemas.microsoft.com/office/drawing/2014/main" id="{93F8679C-D782-42B6-8293-35592B6D29D0}"/>
              </a:ext>
            </a:extLst>
          </p:cNvPr>
          <p:cNvSpPr>
            <a:spLocks xmlns:a="http://schemas.openxmlformats.org/drawingml/2006/main" noGrp="1"/>
          </p:cNvSpPr>
          <p:nvPr/>
        </p:nvSpPr>
        <p:spPr>
          <a:xfrm xmlns:a="http://schemas.openxmlformats.org/drawingml/2006/main">
            <a:off x="666750" y="3276600"/>
            <a:ext cx="3289300" cy="2188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class-probability model combines a dominant-feature component and a residual component. Shift damages the dominant component while residual behavior stays exchangeable.</a:t>
            </a:r>
          </a:p>
        </p:txBody>
      </p:sp>
      <p:sp>
        <p:nvSpPr>
          <p:cNvPr id="5" name="Formal conclusion">
            <a:extLst xmlns:a="http://schemas.openxmlformats.org/drawingml/2006/main">
              <a:ext uri="{FF2B5EF4-FFF2-40B4-BE49-F238E27FC236}">
                <a16:creationId xmlns:a16="http://schemas.microsoft.com/office/drawing/2014/main" id="{8A8103DB-617C-47D8-9559-71A4917C407B}"/>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Formal conclusion</a:t>
            </a:r>
          </a:p>
        </p:txBody>
      </p:sp>
      <p:sp>
        <p:nvSpPr>
          <p:cNvPr id="6" name="Under the theorem's conditions, a lower bound">
            <a:extLst xmlns:a="http://schemas.openxmlformats.org/drawingml/2006/main">
              <a:ext uri="{FF2B5EF4-FFF2-40B4-BE49-F238E27FC236}">
                <a16:creationId xmlns:a16="http://schemas.microsoft.com/office/drawing/2014/main" id="{D685E3CD-A72D-4747-A939-5DA48B8F25DC}"/>
              </a:ext>
            </a:extLst>
          </p:cNvPr>
          <p:cNvSpPr>
            <a:spLocks xmlns:a="http://schemas.openxmlformats.org/drawingml/2006/main" noGrp="1"/>
          </p:cNvSpPr>
          <p:nvPr/>
        </p:nvSpPr>
        <p:spPr>
          <a:xfrm xmlns:a="http://schemas.openxmlformats.org/drawingml/2006/main">
            <a:off x="44513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Under the theorem's conditions, a lower bound on expected APS score increases with concentration; a corresponding coverage upper bound worsens.</a:t>
            </a:r>
          </a:p>
        </p:txBody>
      </p:sp>
      <p:sp>
        <p:nvSpPr>
          <p:cNvPr id="7" name="Empirical boundary">
            <a:extLst xmlns:a="http://schemas.openxmlformats.org/drawingml/2006/main">
              <a:ext uri="{FF2B5EF4-FFF2-40B4-BE49-F238E27FC236}">
                <a16:creationId xmlns:a16="http://schemas.microsoft.com/office/drawing/2014/main" id="{07DFB826-11DF-4F5A-83A5-7E70C1A5C731}"/>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Empirical boundary</a:t>
            </a:r>
          </a:p>
        </p:txBody>
      </p:sp>
      <p:sp>
        <p:nvSpPr>
          <p:cNvPr id="8" name="Probability-space additivity is an idealizati">
            <a:extLst xmlns:a="http://schemas.openxmlformats.org/drawingml/2006/main">
              <a:ext uri="{FF2B5EF4-FFF2-40B4-BE49-F238E27FC236}">
                <a16:creationId xmlns:a16="http://schemas.microsoft.com/office/drawing/2014/main" id="{1C656F2E-C15C-41DF-8AF3-E802D1F6CF7F}"/>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Probability-space additivity is an idealization. Measured TreeSHAP concentration is a proxy, not a guaranteed mixing coefficient.</a:t>
            </a:r>
          </a:p>
        </p:txBody>
      </p:sp>
      <p:sp>
        <p:nvSpPr>
          <p:cNvPr id="9" name="When conformal coverage fails">
            <a:extLst xmlns:a="http://schemas.openxmlformats.org/drawingml/2006/main">
              <a:ext uri="{FF2B5EF4-FFF2-40B4-BE49-F238E27FC236}">
                <a16:creationId xmlns:a16="http://schemas.microsoft.com/office/drawing/2014/main" id="{D460154D-9597-48D0-9EB4-B37F5043068B}"/>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10" name="04 / 10">
            <a:extLst xmlns:a="http://schemas.openxmlformats.org/drawingml/2006/main">
              <a:ext uri="{FF2B5EF4-FFF2-40B4-BE49-F238E27FC236}">
                <a16:creationId xmlns:a16="http://schemas.microsoft.com/office/drawing/2014/main" id="{00432A98-4943-42CF-BEAC-3EB8E78065A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5957665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 strong association across the study tasks">
            <a:extLst xmlns:a="http://schemas.openxmlformats.org/drawingml/2006/main">
              <a:ext uri="{FF2B5EF4-FFF2-40B4-BE49-F238E27FC236}">
                <a16:creationId xmlns:a16="http://schemas.microsoft.com/office/drawing/2014/main" id="{C7DC216D-0B77-49A4-AD03-B062B0D86BC5}"/>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strong association across the study tasks</a:t>
            </a:r>
          </a:p>
        </p:txBody>
      </p:sp>
      <p:sp>
        <p:nvSpPr>
          <p:cNvPr id="2" name="Primary pooled endpoint: Spearman ρ = 0.853 a">
            <a:extLst xmlns:a="http://schemas.openxmlformats.org/drawingml/2006/main">
              <a:ext uri="{FF2B5EF4-FFF2-40B4-BE49-F238E27FC236}">
                <a16:creationId xmlns:a16="http://schemas.microsoft.com/office/drawing/2014/main" id="{AF03FCC2-AFA0-4A53-A929-0AE00BACC8DA}"/>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Primary pooled endpoint: Spearman ρ = 0.853 across 16 multiclass tasks in 9 domains.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1ae6284021d4c5c"/>
          <a:stretch xmlns:a="http://schemas.openxmlformats.org/drawingml/2006/main"/>
        </p:blipFill>
        <p:spPr>
          <a:xfrm xmlns:a="http://schemas.openxmlformats.org/drawingml/2006/main">
            <a:off x="1864998" y="2571750"/>
            <a:ext cx="5414004" cy="3190875"/>
          </a:xfrm>
          <a:prstGeom xmlns:a="http://schemas.openxmlformats.org/drawingml/2006/main" prst="rect">
            <a:avLst/>
          </a:prstGeom>
        </p:spPr>
      </p:pic>
      <p:sp>
        <p:nvSpPr>
          <p:cNvPr id="4" name="Exact source data replotted: 8 SALT and 8 ext">
            <a:extLst xmlns:a="http://schemas.openxmlformats.org/drawingml/2006/main">
              <a:ext uri="{FF2B5EF4-FFF2-40B4-BE49-F238E27FC236}">
                <a16:creationId xmlns:a16="http://schemas.microsoft.com/office/drawing/2014/main" id="{E9C86EE8-A342-41CE-A9D7-B91130FFB3D3}"/>
              </a:ext>
            </a:extLst>
          </p:cNvPr>
          <p:cNvSpPr>
            <a:spLocks xmlns:a="http://schemas.openxmlformats.org/drawingml/2006/main" noGrp="1"/>
          </p:cNvSpPr>
          <p:nvPr/>
        </p:nvSpPr>
        <p:spPr>
          <a:xfrm xmlns:a="http://schemas.openxmlformats.org/drawingml/2006/main">
            <a:off x="666750" y="58578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07D8B"/>
                </a:solidFill>
                <a:latin typeface="Noto Sans"/>
                <a:ea typeface="Noto Sans"/>
                <a:cs typeface="Noto Sans"/>
              </a:defRPr>
            </a:pPr>
            <a:r>
              <a:rPr sz="1350" b="0">
                <a:solidFill>
                  <a:srgbClr val="607D8B"/>
                </a:solidFill>
                <a:latin typeface="Noto Sans"/>
                <a:ea typeface="Noto Sans"/>
                <a:cs typeface="Noto Sans"/>
              </a:rPr>
              <a:t>Exact source data replotted: 8 SALT and 8 external multiclass tasks. The 40% cutoff is exploratory.</a:t>
            </a:r>
          </a:p>
        </p:txBody>
      </p:sp>
      <p:sp>
        <p:nvSpPr>
          <p:cNvPr id="5" name="">
            <a:extLst xmlns:a="http://schemas.openxmlformats.org/drawingml/2006/main">
              <a:ext uri="{FF2B5EF4-FFF2-40B4-BE49-F238E27FC236}">
                <a16:creationId xmlns:a16="http://schemas.microsoft.com/office/drawing/2014/main" id="{6307CEBA-9C54-4869-88FF-C4D4BEC6DA38}"/>
              </a:ext>
            </a:extLst>
          </p:cNvPr>
          <p:cNvSpPr>
            <a:spLocks xmlns:a="http://schemas.openxmlformats.org/drawingml/2006/main" noGrp="1"/>
          </p:cNvSpPr>
          <p:nvPr/>
        </p:nvSpPr>
        <p:spPr>
          <a:xfrm xmlns:a="http://schemas.openxmlformats.org/drawingml/2006/main">
            <a:off x="8905875" y="2667000"/>
            <a:ext cx="26193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1800" b="0">
                <a:solidFill>
                  <a:srgbClr val="354F62"/>
                </a:solidFill>
                <a:latin typeface="Noto Sans"/>
                <a:ea typeface="Noto Sans"/>
                <a:cs typeface="Noto Sans"/>
              </a:defRPr>
            </a:pPr>
            <a:r>
              <a:rPr sz="1800" b="0">
                <a:solidFill>
                  <a:srgbClr val="354F62"/>
                </a:solidFill>
                <a:latin typeface="Noto Sans"/>
                <a:ea typeface="Noto Sans"/>
                <a:cs typeface="Noto Sans"/>
              </a:rPr>
              <a:t>Reported p &lt; 0.001; bootstrap 95% interval [0.50, 0.96].</a:t>
            </a:r>
          </a:p>
          <a:p xmlns:a="http://schemas.openxmlformats.org/drawingml/2006/main">
            <a:pPr marL="241300" indent="-127000">
              <a:spcAft>
                <a:spcPts val="1400"/>
              </a:spcAft>
              <a:buChar cha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pool includes the original 8 SALT tasks and 8 external tasks.</a:t>
            </a:r>
          </a:p>
        </p:txBody>
      </p:sp>
      <p:sp>
        <p:nvSpPr>
          <p:cNvPr id="6" name="When conformal coverage fails">
            <a:extLst xmlns:a="http://schemas.openxmlformats.org/drawingml/2006/main">
              <a:ext uri="{FF2B5EF4-FFF2-40B4-BE49-F238E27FC236}">
                <a16:creationId xmlns:a16="http://schemas.microsoft.com/office/drawing/2014/main" id="{B5657C7B-D94A-406C-9793-9910E21C165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7" name="05 / 10">
            <a:extLst xmlns:a="http://schemas.openxmlformats.org/drawingml/2006/main">
              <a:ext uri="{FF2B5EF4-FFF2-40B4-BE49-F238E27FC236}">
                <a16:creationId xmlns:a16="http://schemas.microsoft.com/office/drawing/2014/main" id="{9B70FCD9-7AF9-48B6-B9AA-55A650D32187}"/>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8508500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tecting shift and predicting damage differ">
            <a:extLst xmlns:a="http://schemas.openxmlformats.org/drawingml/2006/main">
              <a:ext uri="{FF2B5EF4-FFF2-40B4-BE49-F238E27FC236}">
                <a16:creationId xmlns:a16="http://schemas.microsoft.com/office/drawing/2014/main" id="{9D835528-8432-4948-B517-95E47EF54ABE}"/>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Detecting shift and predicting damage differ</a:t>
            </a:r>
          </a:p>
        </p:txBody>
      </p:sp>
      <p:sp>
        <p:nvSpPr>
          <p:cNvPr id="2" name="On the eight SALT tasks, model-specific relia">
            <a:extLst xmlns:a="http://schemas.openxmlformats.org/drawingml/2006/main">
              <a:ext uri="{FF2B5EF4-FFF2-40B4-BE49-F238E27FC236}">
                <a16:creationId xmlns:a16="http://schemas.microsoft.com/office/drawing/2014/main" id="{94FF2455-9A1A-47CC-AB6A-2B4AE6880CF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On the eight SALT tasks, model-specific reliance is more associated with coverage loss.</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4259955"/>
                <a:gridCol w="2694232"/>
                <a:gridCol w="3904313"/>
              </a:tblGrid>
              <a:tr h="483108">
                <a:tc>
                  <a:txBody>
                    <a:bodyPr/>
                    <a:lstStyle/>
                    <a:p>
                      <a:r>
                        <a:rPr sz="1800" b="1">
                          <a:solidFill>
                            <a:srgbClr val="FFFFFF"/>
                          </a:solidFill>
                          <a:latin typeface="Noto Sans"/>
                          <a:ea typeface="Noto Sans"/>
                          <a:cs typeface="Noto Sans"/>
                        </a:rPr>
                        <a:t>Diagnostic</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Spearman ρ</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When available</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Top-1 SHAP concentration</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0.833</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Before deployment</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Native gain concentration</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0.667</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Before deployment</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Across-seed disagreement</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0.452</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Before deployment</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MMD / C2ST / PSI</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 0.19</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Requires shifted data</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490D55DC-34D8-42B3-9047-67F9DE6E0C97}"/>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Different information requirements: this is not a same-input forecasting contest.</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Association does not establish a causal effect of concentration.</a:t>
            </a:r>
          </a:p>
        </p:txBody>
      </p:sp>
      <p:sp>
        <p:nvSpPr>
          <p:cNvPr id="5" name="When conformal coverage fails">
            <a:extLst xmlns:a="http://schemas.openxmlformats.org/drawingml/2006/main">
              <a:ext uri="{FF2B5EF4-FFF2-40B4-BE49-F238E27FC236}">
                <a16:creationId xmlns:a16="http://schemas.microsoft.com/office/drawing/2014/main" id="{97419127-03A8-42FB-8C9F-0DDFB8E241A8}"/>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6" name="06 / 10">
            <a:extLst xmlns:a="http://schemas.openxmlformats.org/drawingml/2006/main">
              <a:ext uri="{FF2B5EF4-FFF2-40B4-BE49-F238E27FC236}">
                <a16:creationId xmlns:a16="http://schemas.microsoft.com/office/drawing/2014/main" id="{9E0C816C-0CF6-4049-995E-F15C3588CE7D}"/>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15455594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40% rule has useful exceptions">
            <a:extLst xmlns:a="http://schemas.openxmlformats.org/drawingml/2006/main">
              <a:ext uri="{FF2B5EF4-FFF2-40B4-BE49-F238E27FC236}">
                <a16:creationId xmlns:a16="http://schemas.microsoft.com/office/drawing/2014/main" id="{7F35EC35-C7FA-498F-84CD-69116CDCB0A4}"/>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40% rule has useful exceptions</a:t>
            </a:r>
          </a:p>
        </p:txBody>
      </p:sp>
      <p:sp>
        <p:nvSpPr>
          <p:cNvPr id="2" name="An exploratory flag is not a safe-deployment ">
            <a:extLst xmlns:a="http://schemas.openxmlformats.org/drawingml/2006/main">
              <a:ext uri="{FF2B5EF4-FFF2-40B4-BE49-F238E27FC236}">
                <a16:creationId xmlns:a16="http://schemas.microsoft.com/office/drawing/2014/main" id="{D6F491BF-58DA-4AAC-9951-8811ECF69610}"/>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An exploratory flag is not a safe-deployment certificate.</a:t>
            </a:r>
          </a:p>
        </p:txBody>
      </p:sp>
      <p:graphicFrame>
        <p:nvGraphicFramePr>
          <p:cNvPr id="9" name=""/>
          <p:cNvGraphicFramePr/>
          <p:nvPr/>
        </p:nvGraphicFramePr>
        <p:xfrm>
          <a:off xmlns:a="http://schemas.openxmlformats.org/drawingml/2006/main" x="666750" y="2514600"/>
          <a:ext xmlns:a="http://schemas.openxmlformats.org/drawingml/2006/main" cx="10858500" cy="2533650"/>
        </p:xfrm>
        <a:graphic xmlns:a="http://schemas.openxmlformats.org/drawingml/2006/main">
          <a:graphicData uri="http://schemas.openxmlformats.org/drawingml/2006/table">
            <a:tbl>
              <a:tblPr firstRow="1" bandRow="0"/>
              <a:tblGrid>
                <a:gridCol w="3296291"/>
                <a:gridCol w="2268663"/>
                <a:gridCol w="2268663"/>
                <a:gridCol w="3024884"/>
              </a:tblGrid>
              <a:tr h="476250">
                <a:tc>
                  <a:txBody>
                    <a:bodyPr/>
                    <a:lstStyle/>
                    <a:p>
                      <a:r>
                        <a:rPr sz="1650" b="1">
                          <a:solidFill>
                            <a:srgbClr val="FFFFFF"/>
                          </a:solidFill>
                          <a:latin typeface="Noto Sans"/>
                          <a:ea typeface="Noto Sans"/>
                          <a:cs typeface="Noto Sans"/>
                        </a:rPr>
                        <a:t>Task</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C</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Drop</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Interpretation</a:t>
                      </a:r>
                    </a:p>
                  </a:txBody>
                  <a:tcPr marL="133350" marR="133350" marT="85725" marB="85725" anchor="ctr">
                    <a:solidFill>
                      <a:srgbClr val="102A43"/>
                    </a:solidFill>
                  </a:tcPr>
                </a:tc>
              </a:tr>
              <a:tr h="514350">
                <a:tc>
                  <a:txBody>
                    <a:bodyPr/>
                    <a:lstStyle/>
                    <a:p>
                      <a:r>
                        <a:rPr sz="1650" b="0">
                          <a:solidFill>
                            <a:srgbClr val="354F62"/>
                          </a:solidFill>
                          <a:latin typeface="Noto Sans"/>
                          <a:ea typeface="Noto Sans"/>
                          <a:cs typeface="Noto Sans"/>
                        </a:rPr>
                        <a:t>Sales payment terms</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54.2%</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77.1 pp</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High-C failure</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Sales office</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42.6%</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0.1 pp</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False positive</a:t>
                      </a:r>
                    </a:p>
                  </a:txBody>
                  <a:tcPr marL="133350" marR="133350" marT="85725" marB="85725" anchor="ctr">
                    <a:solidFill>
                      <a:srgbClr val="F1F6F8"/>
                    </a:solidFill>
                  </a:tcPr>
                </a:tc>
              </a:tr>
              <a:tr h="514350">
                <a:tc>
                  <a:txBody>
                    <a:bodyPr/>
                    <a:lstStyle/>
                    <a:p>
                      <a:r>
                        <a:rPr sz="1650" b="0">
                          <a:solidFill>
                            <a:srgbClr val="354F62"/>
                          </a:solidFill>
                          <a:latin typeface="Noto Sans"/>
                          <a:ea typeface="Noto Sans"/>
                          <a:cs typeface="Noto Sans"/>
                        </a:rPr>
                        <a:t>Covertype</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49.8%</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81.8 pp</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External failure</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KDDCup99</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21.1%</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15.9 pp</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False negative</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C338CAC7-18BA-4DAD-8DCB-48C66B8679D8}"/>
              </a:ext>
            </a:extLst>
          </p:cNvPr>
          <p:cNvSpPr>
            <a:spLocks xmlns:a="http://schemas.openxmlformats.org/drawingml/2006/main" noGrp="1"/>
          </p:cNvSpPr>
          <p:nvPr/>
        </p:nvSpPr>
        <p:spPr>
          <a:xfrm xmlns:a="http://schemas.openxmlformats.org/drawingml/2006/main">
            <a:off x="666750" y="5219700"/>
            <a:ext cx="10858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At-risk means mean coverage loss &gt; 15 percentage points.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 protective-feature rule came from one case; it requires further validation.</a:t>
            </a:r>
          </a:p>
        </p:txBody>
      </p:sp>
      <p:sp>
        <p:nvSpPr>
          <p:cNvPr id="5" name="When conformal coverage fails">
            <a:extLst xmlns:a="http://schemas.openxmlformats.org/drawingml/2006/main">
              <a:ext uri="{FF2B5EF4-FFF2-40B4-BE49-F238E27FC236}">
                <a16:creationId xmlns:a16="http://schemas.microsoft.com/office/drawing/2014/main" id="{41D7AE50-872F-44EB-95C3-3F71EC625ACA}"/>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6" name="07 / 10">
            <a:extLst xmlns:a="http://schemas.openxmlformats.org/drawingml/2006/main">
              <a:ext uri="{FF2B5EF4-FFF2-40B4-BE49-F238E27FC236}">
                <a16:creationId xmlns:a16="http://schemas.microsoft.com/office/drawing/2014/main" id="{6D9AFC19-E6DF-4475-A233-B483F1FD293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10459805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cope changes with the classifier">
            <a:extLst xmlns:a="http://schemas.openxmlformats.org/drawingml/2006/main">
              <a:ext uri="{FF2B5EF4-FFF2-40B4-BE49-F238E27FC236}">
                <a16:creationId xmlns:a16="http://schemas.microsoft.com/office/drawing/2014/main" id="{F22956D3-B27E-4EFA-B2E1-B075A46DADE3}"/>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Scope changes with the classifier</a:t>
            </a:r>
          </a:p>
        </p:txBody>
      </p:sp>
      <p:sp>
        <p:nvSpPr>
          <p:cNvPr id="2" name="The strongest evidence concerns gradient-boos">
            <a:extLst xmlns:a="http://schemas.openxmlformats.org/drawingml/2006/main">
              <a:ext uri="{FF2B5EF4-FFF2-40B4-BE49-F238E27FC236}">
                <a16:creationId xmlns:a16="http://schemas.microsoft.com/office/drawing/2014/main" id="{A75807E8-EE1A-4B59-B6C8-053212D6AC7F}"/>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The strongest evidence concerns gradient-boosted multiclass APS predictors.</a:t>
            </a:r>
          </a:p>
        </p:txBody>
      </p:sp>
      <p:sp>
        <p:nvSpPr>
          <p:cNvPr id="3" name="LightGBM">
            <a:extLst xmlns:a="http://schemas.openxmlformats.org/drawingml/2006/main">
              <a:ext uri="{FF2B5EF4-FFF2-40B4-BE49-F238E27FC236}">
                <a16:creationId xmlns:a16="http://schemas.microsoft.com/office/drawing/2014/main" id="{53060507-3BEA-4741-9A33-45FB114761DF}"/>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LightGBM</a:t>
            </a:r>
          </a:p>
        </p:txBody>
      </p:sp>
      <p:sp>
        <p:nvSpPr>
          <p:cNvPr id="4" name="Within SALT, concentration–drop ρ = 0.833. Si">
            <a:extLst xmlns:a="http://schemas.openxmlformats.org/drawingml/2006/main">
              <a:ext uri="{FF2B5EF4-FFF2-40B4-BE49-F238E27FC236}">
                <a16:creationId xmlns:a16="http://schemas.microsoft.com/office/drawing/2014/main" id="{BAF96078-2925-4019-859E-B473D84DE0F3}"/>
              </a:ext>
            </a:extLst>
          </p:cNvPr>
          <p:cNvSpPr>
            <a:spLocks xmlns:a="http://schemas.openxmlformats.org/drawingml/2006/main" noGrp="1"/>
          </p:cNvSpPr>
          <p:nvPr/>
        </p:nvSpPr>
        <p:spPr>
          <a:xfrm xmlns:a="http://schemas.openxmlformats.org/drawingml/2006/main">
            <a:off x="6667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Within SALT, concentration–drop ρ = 0.833. Single-feature reliance aligns with the studied failure mechanism.</a:t>
            </a:r>
          </a:p>
        </p:txBody>
      </p:sp>
      <p:sp>
        <p:nvSpPr>
          <p:cNvPr id="5" name="Random forest">
            <a:extLst xmlns:a="http://schemas.openxmlformats.org/drawingml/2006/main">
              <a:ext uri="{FF2B5EF4-FFF2-40B4-BE49-F238E27FC236}">
                <a16:creationId xmlns:a16="http://schemas.microsoft.com/office/drawing/2014/main" id="{91E96DF4-6297-4E3F-B484-21CD232690C6}"/>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Random forest</a:t>
            </a:r>
          </a:p>
        </p:txBody>
      </p:sp>
      <p:sp>
        <p:nvSpPr>
          <p:cNvPr id="6" name="Within SALT, ρ = 0.30. Concentration is a wea">
            <a:extLst xmlns:a="http://schemas.openxmlformats.org/drawingml/2006/main">
              <a:ext uri="{FF2B5EF4-FFF2-40B4-BE49-F238E27FC236}">
                <a16:creationId xmlns:a16="http://schemas.microsoft.com/office/drawing/2014/main" id="{7B734D80-A7DD-4DEE-ADEE-C22518562FE3}"/>
              </a:ext>
            </a:extLst>
          </p:cNvPr>
          <p:cNvSpPr>
            <a:spLocks xmlns:a="http://schemas.openxmlformats.org/drawingml/2006/main" noGrp="1"/>
          </p:cNvSpPr>
          <p:nvPr/>
        </p:nvSpPr>
        <p:spPr>
          <a:xfrm xmlns:a="http://schemas.openxmlformats.org/drawingml/2006/main">
            <a:off x="44513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Within SALT, ρ = 0.30. Concentration is a weaker diagnostic in the reported architecture check.</a:t>
            </a:r>
          </a:p>
        </p:txBody>
      </p:sp>
      <p:sp>
        <p:nvSpPr>
          <p:cNvPr id="7" name="MLP">
            <a:extLst xmlns:a="http://schemas.openxmlformats.org/drawingml/2006/main">
              <a:ext uri="{FF2B5EF4-FFF2-40B4-BE49-F238E27FC236}">
                <a16:creationId xmlns:a16="http://schemas.microsoft.com/office/drawing/2014/main" id="{A030AEEF-3398-47BB-B170-B803EEFFAE53}"/>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MLP</a:t>
            </a:r>
          </a:p>
        </p:txBody>
      </p:sp>
      <p:sp>
        <p:nvSpPr>
          <p:cNvPr id="8" name="Within SALT, ρ = 0.43. Large losses also occu">
            <a:extLst xmlns:a="http://schemas.openxmlformats.org/drawingml/2006/main">
              <a:ext uri="{FF2B5EF4-FFF2-40B4-BE49-F238E27FC236}">
                <a16:creationId xmlns:a16="http://schemas.microsoft.com/office/drawing/2014/main" id="{81574B6C-1D26-4817-BA5B-AEBA88A7259B}"/>
              </a:ext>
            </a:extLst>
          </p:cNvPr>
          <p:cNvSpPr>
            <a:spLocks xmlns:a="http://schemas.openxmlformats.org/drawingml/2006/main" noGrp="1"/>
          </p:cNvSpPr>
          <p:nvPr/>
        </p:nvSpPr>
        <p:spPr>
          <a:xfrm xmlns:a="http://schemas.openxmlformats.org/drawingml/2006/main">
            <a:off x="82359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Within SALT, ρ = 0.43. Large losses also occur with low concentration; the top-feature signal misses these cases.</a:t>
            </a:r>
          </a:p>
        </p:txBody>
      </p:sp>
      <p:sp>
        <p:nvSpPr>
          <p:cNvPr id="9" name="">
            <a:extLst xmlns:a="http://schemas.openxmlformats.org/drawingml/2006/main">
              <a:ext uri="{FF2B5EF4-FFF2-40B4-BE49-F238E27FC236}">
                <a16:creationId xmlns:a16="http://schemas.microsoft.com/office/drawing/2014/main" id="{4623BA81-648A-4A6F-B794-CB3E071696D4}"/>
              </a:ext>
            </a:extLst>
          </p:cNvPr>
          <p:cNvSpPr>
            <a:spLocks xmlns:a="http://schemas.openxmlformats.org/drawingml/2006/main" noGrp="1"/>
          </p:cNvSpPr>
          <p:nvPr/>
        </p:nvSpPr>
        <p:spPr>
          <a:xfrm xmlns:a="http://schemas.openxmlformats.org/drawingml/2006/main">
            <a:off x="666750" y="523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These are observed model-family differences, not proof of their training causes.</a:t>
            </a:r>
          </a:p>
        </p:txBody>
      </p:sp>
      <p:sp>
        <p:nvSpPr>
          <p:cNvPr id="10" name="When conformal coverage fails">
            <a:extLst xmlns:a="http://schemas.openxmlformats.org/drawingml/2006/main">
              <a:ext uri="{FF2B5EF4-FFF2-40B4-BE49-F238E27FC236}">
                <a16:creationId xmlns:a16="http://schemas.microsoft.com/office/drawing/2014/main" id="{057DCC1A-1240-49D1-8343-574272EE558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11" name="08 / 10">
            <a:extLst xmlns:a="http://schemas.openxmlformats.org/drawingml/2006/main">
              <a:ext uri="{FF2B5EF4-FFF2-40B4-BE49-F238E27FC236}">
                <a16:creationId xmlns:a16="http://schemas.microsoft.com/office/drawing/2014/main" id="{5FF97082-705A-4648-9F2D-16BFADAD6E48}"/>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5660629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ecovering coverage can reduce usefulness">
            <a:extLst xmlns:a="http://schemas.openxmlformats.org/drawingml/2006/main">
              <a:ext uri="{FF2B5EF4-FFF2-40B4-BE49-F238E27FC236}">
                <a16:creationId xmlns:a16="http://schemas.microsoft.com/office/drawing/2014/main" id="{DEB91959-6544-4056-A444-3558BE56E376}"/>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Recovering coverage can reduce usefulness</a:t>
            </a:r>
          </a:p>
        </p:txBody>
      </p:sp>
      <p:sp>
        <p:nvSpPr>
          <p:cNvPr id="2" name="The diagnostic identifies vulnerability; miti">
            <a:extLst xmlns:a="http://schemas.openxmlformats.org/drawingml/2006/main">
              <a:ext uri="{FF2B5EF4-FFF2-40B4-BE49-F238E27FC236}">
                <a16:creationId xmlns:a16="http://schemas.microsoft.com/office/drawing/2014/main" id="{4A67FEFE-ED43-4F8F-9A15-4E26EE70804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563A6"/>
                </a:solidFill>
                <a:latin typeface="Noto Sans"/>
                <a:ea typeface="Noto Sans"/>
                <a:cs typeface="Noto Sans"/>
              </a:defRPr>
            </a:pPr>
            <a:r>
              <a:rPr sz="2175" b="0">
                <a:solidFill>
                  <a:srgbClr val="2563A6"/>
                </a:solidFill>
                <a:latin typeface="Noto Sans"/>
                <a:ea typeface="Noto Sans"/>
                <a:cs typeface="Noto Sans"/>
              </a:rPr>
              <a:t>The diagnostic identifies vulnerability; mitigation remains mechanism-dependent.</a:t>
            </a:r>
          </a:p>
        </p:txBody>
      </p:sp>
      <p:sp>
        <p:nvSpPr>
          <p:cNvPr id="3" name="Adaptive calibration">
            <a:extLst xmlns:a="http://schemas.openxmlformats.org/drawingml/2006/main">
              <a:ext uri="{FF2B5EF4-FFF2-40B4-BE49-F238E27FC236}">
                <a16:creationId xmlns:a16="http://schemas.microsoft.com/office/drawing/2014/main" id="{19BD5215-E316-489A-9AAD-EA9E1A9C606C}"/>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Adaptive calibration</a:t>
            </a:r>
          </a:p>
        </p:txBody>
      </p:sp>
      <p:sp>
        <p:nvSpPr>
          <p:cNvPr id="4" name="ACI increases coverage on severe tasks, but m">
            <a:extLst xmlns:a="http://schemas.openxmlformats.org/drawingml/2006/main">
              <a:ext uri="{FF2B5EF4-FFF2-40B4-BE49-F238E27FC236}">
                <a16:creationId xmlns:a16="http://schemas.microsoft.com/office/drawing/2014/main" id="{8CDA3C08-8250-4856-9462-D9D07F216362}"/>
              </a:ext>
            </a:extLst>
          </p:cNvPr>
          <p:cNvSpPr>
            <a:spLocks xmlns:a="http://schemas.openxmlformats.org/drawingml/2006/main" noGrp="1"/>
          </p:cNvSpPr>
          <p:nvPr/>
        </p:nvSpPr>
        <p:spPr>
          <a:xfrm xmlns:a="http://schemas.openxmlformats.org/drawingml/2006/main">
            <a:off x="6667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ACI increases coverage on severe tasks, but may return very large label sets. Coverage and informativeness must be reported together.</a:t>
            </a:r>
          </a:p>
        </p:txBody>
      </p:sp>
      <p:sp>
        <p:nvSpPr>
          <p:cNvPr id="5" name="Regularized scores">
            <a:extLst xmlns:a="http://schemas.openxmlformats.org/drawingml/2006/main">
              <a:ext uri="{FF2B5EF4-FFF2-40B4-BE49-F238E27FC236}">
                <a16:creationId xmlns:a16="http://schemas.microsoft.com/office/drawing/2014/main" id="{058AD0DB-BAE1-43AE-8582-F43EC554785A}"/>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Regularized scores</a:t>
            </a:r>
          </a:p>
        </p:txBody>
      </p:sp>
      <p:sp>
        <p:nvSpPr>
          <p:cNvPr id="6" name="RAPS reduces loss for some high-class-count t">
            <a:extLst xmlns:a="http://schemas.openxmlformats.org/drawingml/2006/main">
              <a:ext uri="{FF2B5EF4-FFF2-40B4-BE49-F238E27FC236}">
                <a16:creationId xmlns:a16="http://schemas.microsoft.com/office/drawing/2014/main" id="{C53D79D0-317D-4D78-994B-D70E5AE74CD3}"/>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RAPS reduces loss for some high-class-count tasks, yet does not uniformly repair concentrated-dependence failures.</a:t>
            </a:r>
          </a:p>
        </p:txBody>
      </p:sp>
      <p:sp>
        <p:nvSpPr>
          <p:cNvPr id="7" name="Retraining">
            <a:extLst xmlns:a="http://schemas.openxmlformats.org/drawingml/2006/main">
              <a:ext uri="{FF2B5EF4-FFF2-40B4-BE49-F238E27FC236}">
                <a16:creationId xmlns:a16="http://schemas.microsoft.com/office/drawing/2014/main" id="{65683E97-B8BA-4DE0-81D6-10A22217567B}"/>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563A6"/>
                </a:solidFill>
                <a:latin typeface="Noto Sans"/>
                <a:ea typeface="Noto Sans"/>
                <a:cs typeface="Noto Sans"/>
              </a:defRPr>
            </a:pPr>
            <a:r>
              <a:rPr sz="2100" b="1">
                <a:solidFill>
                  <a:srgbClr val="2563A6"/>
                </a:solidFill>
                <a:latin typeface="Noto Sans"/>
                <a:ea typeface="Noto Sans"/>
                <a:cs typeface="Noto Sans"/>
              </a:rPr>
              <a:t>Retraining</a:t>
            </a:r>
          </a:p>
        </p:txBody>
      </p:sp>
      <p:sp>
        <p:nvSpPr>
          <p:cNvPr id="8" name="Quarterly retraining offers suggestive partia">
            <a:extLst xmlns:a="http://schemas.openxmlformats.org/drawingml/2006/main">
              <a:ext uri="{FF2B5EF4-FFF2-40B4-BE49-F238E27FC236}">
                <a16:creationId xmlns:a16="http://schemas.microsoft.com/office/drawing/2014/main" id="{DCC7888F-DAC1-47AB-9DEE-73BD6C6E9E18}"/>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Quarterly retraining offers suggestive partial recovery; the highlighted single-seed effect is not significant after Holm correction.</a:t>
            </a:r>
          </a:p>
        </p:txBody>
      </p:sp>
      <p:sp>
        <p:nvSpPr>
          <p:cNvPr id="9" name="When conformal coverage fails">
            <a:extLst xmlns:a="http://schemas.openxmlformats.org/drawingml/2006/main">
              <a:ext uri="{FF2B5EF4-FFF2-40B4-BE49-F238E27FC236}">
                <a16:creationId xmlns:a16="http://schemas.microsoft.com/office/drawing/2014/main" id="{9DDD355E-493A-4518-95E1-926805F2C321}"/>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When conformal coverage fails</a:t>
            </a:r>
          </a:p>
        </p:txBody>
      </p:sp>
      <p:sp>
        <p:nvSpPr>
          <p:cNvPr id="10" name="09 / 10">
            <a:extLst xmlns:a="http://schemas.openxmlformats.org/drawingml/2006/main">
              <a:ext uri="{FF2B5EF4-FFF2-40B4-BE49-F238E27FC236}">
                <a16:creationId xmlns:a16="http://schemas.microsoft.com/office/drawing/2014/main" id="{E9B04085-2E60-47A1-AFEE-17EA230A932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1536406152"/>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Model reliance and future coverage">
            <a:extLst xmlns:a="http://schemas.openxmlformats.org/drawingml/2006/main">
              <a:ext uri="{FF2B5EF4-FFF2-40B4-BE49-F238E27FC236}">
                <a16:creationId xmlns:a16="http://schemas.microsoft.com/office/drawing/2014/main" id="{31C484A2-15EC-4551-94F8-A4E3597665FC}"/>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Model reliance and future coverage</a:t>
            </a:r>
          </a:p>
        </p:txBody>
      </p:sp>
      <p:sp>
        <p:nvSpPr>
          <p:cNvPr id="2" name="Concentration is a warning signal to test, no">
            <a:extLst xmlns:a="http://schemas.openxmlformats.org/drawingml/2006/main">
              <a:ext uri="{FF2B5EF4-FFF2-40B4-BE49-F238E27FC236}">
                <a16:creationId xmlns:a16="http://schemas.microsoft.com/office/drawing/2014/main" id="{E2F2037D-19C0-4D88-BA83-C5E65D3156F8}"/>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Concentration is a warning signal to test, not a new coverage guarantee.</a:t>
            </a:r>
          </a:p>
        </p:txBody>
      </p:sp>
      <p:sp>
        <p:nvSpPr>
          <p:cNvPr id="3" name="">
            <a:extLst xmlns:a="http://schemas.openxmlformats.org/drawingml/2006/main">
              <a:ext uri="{FF2B5EF4-FFF2-40B4-BE49-F238E27FC236}">
                <a16:creationId xmlns:a16="http://schemas.microsoft.com/office/drawing/2014/main" id="{FE8FD676-8962-4F2E-9F43-AB4265E40D13}"/>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Measure validation-time top-1 SHAP concentration for the fitted model.</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Check whether a plausible shift threatens its dominant feature.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Treat the 40% cutoff and protective-feature rule as exploratory.</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Validate prospectively and monitor both coverage and set usefulness.</a:t>
            </a:r>
          </a:p>
        </p:txBody>
      </p:sp>
      <p:sp>
        <p:nvSpPr>
          <p:cNvPr id="4" name="Source: github.com/ChorokLeeDev/conformal-cov">
            <a:extLst xmlns:a="http://schemas.openxmlformats.org/drawingml/2006/main">
              <a:ext uri="{FF2B5EF4-FFF2-40B4-BE49-F238E27FC236}">
                <a16:creationId xmlns:a16="http://schemas.microsoft.com/office/drawing/2014/main" id="{03DC6954-849D-41E0-A808-4E91838CED66}"/>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github.com/ChorokLeeDev/conformal-covid-uai2026</a:t>
            </a:r>
          </a:p>
        </p:txBody>
      </p:sp>
      <p:sp>
        <p:nvSpPr>
          <p:cNvPr id="5" name="When conformal coverage fails">
            <a:extLst xmlns:a="http://schemas.openxmlformats.org/drawingml/2006/main">
              <a:ext uri="{FF2B5EF4-FFF2-40B4-BE49-F238E27FC236}">
                <a16:creationId xmlns:a16="http://schemas.microsoft.com/office/drawing/2014/main" id="{69D30794-714F-47DB-A118-BCBB5C51D6A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When conformal coverage fails</a:t>
            </a:r>
          </a:p>
        </p:txBody>
      </p:sp>
      <p:sp>
        <p:nvSpPr>
          <p:cNvPr id="6" name="10 / 10">
            <a:extLst xmlns:a="http://schemas.openxmlformats.org/drawingml/2006/main">
              <a:ext uri="{FF2B5EF4-FFF2-40B4-BE49-F238E27FC236}">
                <a16:creationId xmlns:a16="http://schemas.microsoft.com/office/drawing/2014/main" id="{388F4EAE-5119-426F-8FD6-D9C325262273}"/>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1637426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2026-09-29T06:03:07.8490000Z</dcterms:created>
  <dcterms:modified xsi:type="dcterms:W3CDTF">2026-09-29T06:03:07.8490000Z</dcterms:modified>
</coreProperties>
</file>