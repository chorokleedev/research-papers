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1569cba2e34762" /><Relationship Type="http://schemas.openxmlformats.org/officeDocument/2006/relationships/extended-properties" Target="/docProps/app.xml" Id="R81683f29318041d0" /><Relationship Type="http://schemas.openxmlformats.org/officeDocument/2006/relationships/officeDocument" Target="/ppt/presentation.xml" Id="Rb0c6e72aca054292" /></Relationships>
</file>

<file path=ppt/presentation.xml><?xml version="1.0" encoding="utf-8"?>
<p:presentation xmlns:p="http://schemas.openxmlformats.org/presentationml/2006/main">
  <p:sldMasterIdLst>
    <p:sldMasterId xmlns:r="http://schemas.openxmlformats.org/officeDocument/2006/relationships" id="2147483648" r:id="R957b5dad371b446b"/>
  </p:sldMasterIdLst>
  <p:notesMasterIdLst>
    <p:notesMasterId xmlns:r="http://schemas.openxmlformats.org/officeDocument/2006/relationships" r:id="R6709977f71f04e9b"/>
  </p:notesMasterIdLst>
  <p:sldIdLst>
    <p:sldId xmlns:r="http://schemas.openxmlformats.org/officeDocument/2006/relationships" id="256" r:id="R76e15441f8a04b5c"/>
    <p:sldId xmlns:r="http://schemas.openxmlformats.org/officeDocument/2006/relationships" id="257" r:id="R1471dae2fdb3406b"/>
    <p:sldId xmlns:r="http://schemas.openxmlformats.org/officeDocument/2006/relationships" id="258" r:id="R393c93a3e58f448c"/>
    <p:sldId xmlns:r="http://schemas.openxmlformats.org/officeDocument/2006/relationships" id="259" r:id="R43aee5d03a524a7b"/>
    <p:sldId xmlns:r="http://schemas.openxmlformats.org/officeDocument/2006/relationships" id="260" r:id="R6146ba7d3dd44a59"/>
    <p:sldId xmlns:r="http://schemas.openxmlformats.org/officeDocument/2006/relationships" id="261" r:id="R3e2801248431427a"/>
    <p:sldId xmlns:r="http://schemas.openxmlformats.org/officeDocument/2006/relationships" id="262" r:id="R53a276125a4e4671"/>
    <p:sldId xmlns:r="http://schemas.openxmlformats.org/officeDocument/2006/relationships" id="263" r:id="R5d1ceffb74c148e7"/>
    <p:sldId xmlns:r="http://schemas.openxmlformats.org/officeDocument/2006/relationships" id="264" r:id="R8b7a87090de34a38"/>
    <p:sldId xmlns:r="http://schemas.openxmlformats.org/officeDocument/2006/relationships" id="265" r:id="Rdc56f55c2146485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2da8197e30470f" /><Relationship Type="http://schemas.openxmlformats.org/officeDocument/2006/relationships/slideMaster" Target="/ppt/slideMasters/slideMaster1.xml" Id="R957b5dad371b446b" /><Relationship Type="http://schemas.openxmlformats.org/officeDocument/2006/relationships/notesMaster" Target="/ppt/notesMasters/notesMaster1.xml" Id="R6709977f71f04e9b" /><Relationship Type="http://schemas.openxmlformats.org/officeDocument/2006/relationships/presProps" Target="/ppt/presProps.xml" Id="Re9e3afbdbb3b431c" /><Relationship Type="http://schemas.openxmlformats.org/officeDocument/2006/relationships/tableStyles" Target="/ppt/tableStyles.xml" Id="R0ddaeff4c4c04157" /><Relationship Type="http://schemas.openxmlformats.org/officeDocument/2006/relationships/slide" Target="/ppt/slides/slide1.xml" Id="R76e15441f8a04b5c" /><Relationship Type="http://schemas.openxmlformats.org/officeDocument/2006/relationships/slide" Target="/ppt/slides/slide2.xml" Id="R1471dae2fdb3406b" /><Relationship Type="http://schemas.openxmlformats.org/officeDocument/2006/relationships/slide" Target="/ppt/slides/slide3.xml" Id="R393c93a3e58f448c" /><Relationship Type="http://schemas.openxmlformats.org/officeDocument/2006/relationships/slide" Target="/ppt/slides/slide4.xml" Id="R43aee5d03a524a7b" /><Relationship Type="http://schemas.openxmlformats.org/officeDocument/2006/relationships/slide" Target="/ppt/slides/slide5.xml" Id="R6146ba7d3dd44a59" /><Relationship Type="http://schemas.openxmlformats.org/officeDocument/2006/relationships/slide" Target="/ppt/slides/slide6.xml" Id="R3e2801248431427a" /><Relationship Type="http://schemas.openxmlformats.org/officeDocument/2006/relationships/slide" Target="/ppt/slides/slide7.xml" Id="R53a276125a4e4671" /><Relationship Type="http://schemas.openxmlformats.org/officeDocument/2006/relationships/slide" Target="/ppt/slides/slide8.xml" Id="R5d1ceffb74c148e7" /><Relationship Type="http://schemas.openxmlformats.org/officeDocument/2006/relationships/slide" Target="/ppt/slides/slide9.xml" Id="R8b7a87090de34a38" /><Relationship Type="http://schemas.openxmlformats.org/officeDocument/2006/relationships/slide" Target="/ppt/slides/slide10.xml" Id="Rdc56f55c214648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7de37987e443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a09ce6fe04c28" /><Relationship Type="http://schemas.openxmlformats.org/officeDocument/2006/relationships/notesMaster" Target="/ppt/notesMasters/notesMaster1.xml" Id="R9f569e4e42e34f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b3bfa0ab10442d" /><Relationship Type="http://schemas.openxmlformats.org/officeDocument/2006/relationships/notesMaster" Target="/ppt/notesMasters/notesMaster1.xml" Id="R2c5cef64a0a54a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c5f574b3aa41fe" /><Relationship Type="http://schemas.openxmlformats.org/officeDocument/2006/relationships/notesMaster" Target="/ppt/notesMasters/notesMaster1.xml" Id="Rdbca0b34ba4c44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7135143d064165" /><Relationship Type="http://schemas.openxmlformats.org/officeDocument/2006/relationships/notesMaster" Target="/ppt/notesMasters/notesMaster1.xml" Id="R6121a4c95f4348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94768c26db4755" /><Relationship Type="http://schemas.openxmlformats.org/officeDocument/2006/relationships/notesMaster" Target="/ppt/notesMasters/notesMaster1.xml" Id="R2edcd640b41e46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9ca0fc73fe43f9" /><Relationship Type="http://schemas.openxmlformats.org/officeDocument/2006/relationships/notesMaster" Target="/ppt/notesMasters/notesMaster1.xml" Id="Rc6e2c51cc1b54b5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806f5c29924f27" /><Relationship Type="http://schemas.openxmlformats.org/officeDocument/2006/relationships/notesMaster" Target="/ppt/notesMasters/notesMaster1.xml" Id="Re681182bd16944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4bb61fda534220" /><Relationship Type="http://schemas.openxmlformats.org/officeDocument/2006/relationships/notesMaster" Target="/ppt/notesMasters/notesMaster1.xml" Id="Rb843e5a1935848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ead57431254ade" /><Relationship Type="http://schemas.openxmlformats.org/officeDocument/2006/relationships/notesMaster" Target="/ppt/notesMasters/notesMaster1.xml" Id="Rad0101eb95dd44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b77de88b9741ca" /><Relationship Type="http://schemas.openxmlformats.org/officeDocument/2006/relationships/notesMaster" Target="/ppt/notesMasters/notesMaster1.xml" Id="R082f3655c3bc45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problem is an evaluator who has many predictions but labels for only some of them. Good performance on those observed cases can be misleading if errors are disproportionately unresolved. This paper asks a design question: how many additional labels can establish that a specified acceptable-risk claim has been violated? It studies a frozen cohort, one decision deadline, and a committed missing-label set. These restrictions make a precise worst-case benchmark possible. The results distinguish three resources that are often conflated: the number of queries, the quality information available about the returned labels, and the number of predictions in the cohort. The numerical examples are mathematical design certificates, not estimates from a deployed audit. The talk will move from the hidden-error ambiguity to exact finite examples, and then explain why assumptions change the answer.</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Abstract; Introduction</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motivating illustration, not an experimental dataset. Consider one thousand predictions and five hundred unresolved labels. Suppose the five hundred visible labels are all correct. One possible completion has one hundred hidden errors; another has two hundred. The visible ledger is identical, while the completed cohort error fractions are ten and twenty percent. A private uniform audit reaches into the unresolved pool, where these possibilities imply different error proportions. Importantly, the formal target is the law that generates risk, not merely the realized fraction in this illustration. A risk law at the acceptable boundary can occasionally generate an error-rich cohort. The test therefore has to control false alarms over the stipulated null class before it interprets newly discovered errors as evidence of a violation. Finding one error is not itself enough.</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Introduction; Experiment and guarantees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protocol matters as much as the statistical test. First, the predictor and cohort are frozen and all outcomes already exist. An outcome-aware mechanism can choose which labels to withhold, so natural feedback is not assumed random. It must commit the entire partial record before auditing begins. Second, the auditor privately selects distinct pending cases, with a hard budget on the number of queries. Selection may be adaptive, although uniform nonadaptive sampling attains the truthful asymptotic frontier. Third, the evaluator makes one decision at a prespecified deadline and controls its false-alarm probability. No additional native releases, outcome proxies, or predictable audit seeds are allowed during querying. These requirements describe the experiment to which the theorems apply. They do not claim that real deployments automatically satisfy it. Counterfactual or future outcomes may not be obtainable simply by requesting a label.</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Experiment and guarantees; Exact intervention frontier</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a denote the acceptable risk boundary, p the planned higher risk, and epsilon equal p minus a. Let beta be the fraction of pending labels as the cohort size grows. The theorem fixes the number of truthful queries k while allowing the cohort and native observations to grow. If beta is no larger than epsilon, every fixed positive budget has limiting power one under the stated risk classes. Above that boundary, an adversary can conceal the risk difference in a larger unresolved pool. The exact limit is a worst-case binomial testing power over feasible hidden-error fractions. The upper bound allows every adaptive policy and the full record; it does not merely discard information by retaining a count. At the boundary, passive performance additionally depends on how the pending count approaches its limit. Therefore the one-query statement is asymptotic and qualified, never a promise that one label alone identifies risk.</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Theorem: Fixed trusted-query budget; Corollary: Qualified zero-versus-one-query transition</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paper moves from an asymptotic benchmark to a finite certified decision. Fix one thousand predictions, five hundred pending labels, acceptable risk ten percent, planning alternative twenty percent, false alarms at most five percent, and desired worst-case power ninety-five percent. Under truthful audits and the count-tail risk classes, every policy using at most fifty-six queries has power below the target: an exact upper certificate is approximately 0.949008. A supplied monotone residual rule using fifty-seven queries has a certified lower power approximately 0.952437, with size at most 0.05. These two inequalities establish minimum budget fifty-seven without identifying the exact optimal power. The fifty-six-query asymptotic threshold is a different statement. The finite rule is calibrated for this design alternative, and the same number must not be transferred to different risks, cohort sizes, noisy labels, or average-risk assumptions.</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A concrete query-budget consequence; Appendix: Certified threshold, matched comparisons, and sensitivity</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Returned audit responses need not be perfect. A known common channel specifies its false-positive probability and sensitivity, allowing the same response mechanism to be used under both risk hypotheses. Conditional reliability bounds provide less information: they constrain response errors but allow identity- and history-dependent channels within the envelope. The table compares these information sets at the same ten-versus-twenty percent risk design and fifty percent missingness. With a known ten percent symmetric noise channel, the numerical minimum fixed budget for ninety-five percent limiting power is ninety-four. If only the corresponding conditional bounds are known, it is three hundred sixty-seven. At twenty percent, the robust problem enters a blind region: every fixed budget has limiting power equal to the five percent false-alarm level. The finite entries are numerical asymptotic inversions; the blind-region claim is exact. They are not finite-cohort guarantees or a theorem about budgets growing with cohort size.</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Robust noisy frontier; Reliability blind region; Table: Numerical minimum budgets for 95% limiting power</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risk classes reveal why an audit budget has no meaning without its underlying guarantee. Count-tail classes constrain the distribution of the total number of errors relative to binomial tails. Predictable-risk classes instead bound the cumulative conditional probabilities of error. These two classes are not nested; they share the truthful first-order frontier but can retain different information in existing observations when queries are noisy. Mean-risk classes impose only an expectation bound. Under those weak classes, at acceptable risk ten percent, alternative twenty percent, and size five percent, the exact minimax power is ten percent even if all labels are recovered. This is a property of the allowed risk-generating laws, not poor implementation. The observed cohort cannot validate its own class. A deployment therefore needs a defensible reason for choosing a risk contract before applying a certificate or interpreting a negative audit.</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Which assumptions carry information?; Proposition: Sharp mean-risk ceiling; Table: What must be supplied</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fifty-seven-query rule was designed to detect twenty percent risk against a ten percent boundary. When actual risk is twelve percent, the same frozen rule has worst-case power only about 1.15 percent. This low number is a retained negative result, and it is even below a random five percent alarm. It demonstrates that a design-point guarantee is not uniform sensitivity to every violation. A private mixture of two rules partly repairs this: its certified lower powers are 8.661% at twelve percent risk and 95.017% at twenty percent. There is also an information limit independent of audit design. With one thousand predictions and complete truthful labels, the optimal test has only about 65.32 percent power for ten versus twelve percent risk. Exact inversion gives a minimum complete-label cohort size of 2,645 for ninety-five percent power. That number is necessary for any partial audit at the same design, but is not sufficient for a particular partial-label procedure. Budget planning must therefore consider both effect size and cohort size.</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Verification and finite-sample strength; Appendix: Exact inversion of the complete-information cohort requirement; Table: Worst-mask power of the same frozen rule</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practical reading starts before any audit labels are inspected. Specify the acceptable-risk claim, false-alarm level, effect size worth detecting, desired power, cohort size, and pending-label bound. Then justify the risk class and how audit-label reliability transports from any validation controls to the unresolved cases. A measured average labeling accuracy is not the conditional response envelope used by the robust theorem. Commit the partial record and use private sampling under the one-deadline protocol. If an exact finite certificate matches the design, it can support a budget decision; otherwise, an asymptotic inversion is a planning benchmark and should be labeled as such. Finally inspect performance away from the planning alternative, since the paper shows that it can deteriorate sharply. Nonrejection does not certify acceptable risk or the realized error total. These are design implications of the mathematical results, not a claim that the manuscript validates a deployed monitoring system.</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Experiment and guarantees; Verification and finite-sample strength; Conclusion and limitations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answers a narrow but consequential question: how well can even the best audit detect excessive risk when an outcome-aware process chooses the missing labels? Its exact asymptotic benchmark and finite examples give more information than a statement that random sampling is unbiased. They show both attainable power and barriers that no adaptive policy can overcome in the specified experiment. The most useful message is that label count, label-quality information, and cohort size are separate resources. Fifty-seven truthful queries solve one declared finite design, while uncertainty about responses can require many more queries or create a blind region. A smaller risk gap can require a larger cohort even with complete labels. All conclusions remain conditional on the risk law and protocol assumptions. The numerical work is deterministic and distinguishes exact rational certificates from numerical optimization; it does not substitute for external validation of those assumptions.</a:t>
            </a:r>
          </a:p>
          <a:p xmlns:a="http://schemas.openxmlformats.org/drawingml/2006/main">
            <a:r>
              <a:t/>
            </a:r>
          </a:p>
          <a:p xmlns:a="http://schemas.openxmlformats.org/drawingml/2006/main">
            <a:r>
              <a:t>Sources</a:t>
            </a:r>
          </a:p>
          <a:p xmlns:a="http://schemas.openxmlformats.org/drawingml/2006/main">
            <a:r>
              <a:t>https://github.com/ChorokLeeDev/selective-labels-minimax-iclr2027/blob/38b792da07a174980303e6cb9272e5f5e3bd9bac/paper/body.tex — Abstract; Conclusion and limitations</a:t>
            </a:r>
          </a:p>
          <a:p xmlns:a="http://schemas.openxmlformats.org/drawingml/2006/main">
            <a:r>
              <a:t>Current scientific manuscript, pinned 29 September 2026. Research communication; no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135403014b49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9b0614eeb44641" /><Relationship Type="http://schemas.openxmlformats.org/officeDocument/2006/relationships/slideLayout" Target="/ppt/slideLayouts/slideLayout1.xml" Id="Re1d67786b2114b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d67786b2114b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8bc555a21024bbf" /><Relationship Type="http://schemas.openxmlformats.org/officeDocument/2006/relationships/notesSlide" Target="/ppt/notesSlides/notesSlide1.xml" Id="R75f90bfdb4d545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ab4023cef64c7b" /><Relationship Type="http://schemas.openxmlformats.org/officeDocument/2006/relationships/notesSlide" Target="/ppt/notesSlides/notesSlide2.xml" Id="R89abe8c51e2a46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7f47378a3644d1d" /><Relationship Type="http://schemas.openxmlformats.org/officeDocument/2006/relationships/notesSlide" Target="/ppt/notesSlides/notesSlide3.xml" Id="Reb5ca78a254740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95f2597a784e2b" /><Relationship Type="http://schemas.openxmlformats.org/officeDocument/2006/relationships/notesSlide" Target="/ppt/notesSlides/notesSlide4.xml" Id="R5a0e2c05a6694f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e10a5c29b34c4e" /><Relationship Type="http://schemas.openxmlformats.org/officeDocument/2006/relationships/notesSlide" Target="/ppt/notesSlides/notesSlide5.xml" Id="R9e0f7d4acaa142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5071fd3eca477a" /><Relationship Type="http://schemas.openxmlformats.org/officeDocument/2006/relationships/notesSlide" Target="/ppt/notesSlides/notesSlide6.xml" Id="R2617e4b8457145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f41f985358433e" /><Relationship Type="http://schemas.openxmlformats.org/officeDocument/2006/relationships/notesSlide" Target="/ppt/notesSlides/notesSlide7.xml" Id="R57c3ff2513a447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c672d19df14b74" /><Relationship Type="http://schemas.openxmlformats.org/officeDocument/2006/relationships/notesSlide" Target="/ppt/notesSlides/notesSlide8.xml" Id="R98e61cd6ee0849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96a0b5513b407a" /><Relationship Type="http://schemas.openxmlformats.org/officeDocument/2006/relationships/notesSlide" Target="/ppt/notesSlides/notesSlide9.xml" Id="R601701888eb24d1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a9b8fadb1f4476" /><Relationship Type="http://schemas.openxmlformats.org/officeDocument/2006/relationships/notesSlide" Target="/ppt/notesSlides/notesSlide10.xml" Id="R124b17856fc443ba"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RELIABLE PREDICTION AND STATISTICAL EVALUATIO">
            <a:extLst xmlns:a="http://schemas.openxmlformats.org/drawingml/2006/main">
              <a:ext uri="{FF2B5EF4-FFF2-40B4-BE49-F238E27FC236}">
                <a16:creationId xmlns:a16="http://schemas.microsoft.com/office/drawing/2014/main" id="{38A4FABC-B6DF-4E1E-8969-4FEA73F11A1B}"/>
              </a:ext>
            </a:extLst>
          </p:cNvPr>
          <p:cNvSpPr>
            <a:spLocks xmlns:a="http://schemas.openxmlformats.org/drawingml/2006/main" noGrp="1"/>
          </p:cNvSpPr>
          <p:nvPr/>
        </p:nvSpPr>
        <p:spPr>
          <a:xfrm xmlns:a="http://schemas.openxmlformats.org/drawingml/2006/main">
            <a:off x="666750" y="6477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1">
                <a:solidFill>
                  <a:srgbClr val="9DCFD0"/>
                </a:solidFill>
                <a:latin typeface="Noto Sans"/>
                <a:ea typeface="Noto Sans"/>
                <a:cs typeface="Noto Sans"/>
              </a:defRPr>
            </a:pPr>
            <a:r>
              <a:rPr sz="1500" b="1">
                <a:solidFill>
                  <a:srgbClr val="9DCFD0"/>
                </a:solidFill>
                <a:latin typeface="Noto Sans"/>
                <a:ea typeface="Noto Sans"/>
                <a:cs typeface="Noto Sans"/>
              </a:rPr>
              <a:t>RELIABLE PREDICTION AND STATISTICAL EVALUATION</a:t>
            </a:r>
          </a:p>
        </p:txBody>
      </p:sp>
      <p:sp>
        <p:nvSpPr>
          <p:cNvPr id="2" name="How Many More Labels Are Needed? Minimax Eval">
            <a:extLst xmlns:a="http://schemas.openxmlformats.org/drawingml/2006/main">
              <a:ext uri="{FF2B5EF4-FFF2-40B4-BE49-F238E27FC236}">
                <a16:creationId xmlns:a16="http://schemas.microsoft.com/office/drawing/2014/main" id="{60C8E28D-B8F5-495E-8127-C862F08514DC}"/>
              </a:ext>
            </a:extLst>
          </p:cNvPr>
          <p:cNvSpPr>
            <a:spLocks xmlns:a="http://schemas.openxmlformats.org/drawingml/2006/main" noGrp="1"/>
          </p:cNvSpPr>
          <p:nvPr/>
        </p:nvSpPr>
        <p:spPr>
          <a:xfrm xmlns:a="http://schemas.openxmlformats.org/drawingml/2006/main">
            <a:off x="666750" y="1571625"/>
            <a:ext cx="107632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Noto Sans"/>
                <a:ea typeface="Noto Sans"/>
                <a:cs typeface="Noto Sans"/>
              </a:defRPr>
            </a:pPr>
            <a:r>
              <a:rPr sz="4350" b="1">
                <a:solidFill>
                  <a:srgbClr val="FFFFFF"/>
                </a:solidFill>
                <a:latin typeface="Noto Sans"/>
                <a:ea typeface="Noto Sans"/>
                <a:cs typeface="Noto Sans"/>
              </a:rPr>
              <a:t>How Many More Labels Are Needed? Minimax Evaluation under Selective Labels</a:t>
            </a:r>
          </a:p>
        </p:txBody>
      </p:sp>
      <p:sp>
        <p:nvSpPr>
          <p:cNvPr id="3" name="Chorok Lee">
            <a:extLst xmlns:a="http://schemas.openxmlformats.org/drawingml/2006/main">
              <a:ext uri="{FF2B5EF4-FFF2-40B4-BE49-F238E27FC236}">
                <a16:creationId xmlns:a16="http://schemas.microsoft.com/office/drawing/2014/main" id="{B8A26D93-AEE7-4849-9B44-B05C6F371951}"/>
              </a:ext>
            </a:extLst>
          </p:cNvPr>
          <p:cNvSpPr>
            <a:spLocks xmlns:a="http://schemas.openxmlformats.org/drawingml/2006/main" noGrp="1"/>
          </p:cNvSpPr>
          <p:nvPr/>
        </p:nvSpPr>
        <p:spPr>
          <a:xfrm xmlns:a="http://schemas.openxmlformats.org/drawingml/2006/main">
            <a:off x="666750" y="557212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FFFFFF"/>
                </a:solidFill>
                <a:latin typeface="Noto Sans"/>
                <a:ea typeface="Noto Sans"/>
                <a:cs typeface="Noto Sans"/>
              </a:defRPr>
            </a:pPr>
            <a:r>
              <a:rPr sz="2025" b="1">
                <a:solidFill>
                  <a:srgbClr val="FFFFFF"/>
                </a:solidFill>
                <a:latin typeface="Noto Sans"/>
                <a:ea typeface="Noto Sans"/>
                <a:cs typeface="Noto Sans"/>
              </a:rPr>
              <a:t>Chorok Lee</a:t>
            </a:r>
          </a:p>
        </p:txBody>
      </p:sp>
      <p:sp>
        <p:nvSpPr>
          <p:cNvPr id="4" name="KAIST">
            <a:extLst xmlns:a="http://schemas.openxmlformats.org/drawingml/2006/main">
              <a:ext uri="{FF2B5EF4-FFF2-40B4-BE49-F238E27FC236}">
                <a16:creationId xmlns:a16="http://schemas.microsoft.com/office/drawing/2014/main" id="{13887C69-F507-4291-BF2E-DA3A3AE1B162}"/>
              </a:ext>
            </a:extLst>
          </p:cNvPr>
          <p:cNvSpPr>
            <a:spLocks xmlns:a="http://schemas.openxmlformats.org/drawingml/2006/main" noGrp="1"/>
          </p:cNvSpPr>
          <p:nvPr/>
        </p:nvSpPr>
        <p:spPr>
          <a:xfrm xmlns:a="http://schemas.openxmlformats.org/drawingml/2006/main">
            <a:off x="666750" y="59626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C0D2DC"/>
                </a:solidFill>
                <a:latin typeface="Noto Sans"/>
                <a:ea typeface="Noto Sans"/>
                <a:cs typeface="Noto Sans"/>
              </a:defRPr>
            </a:pPr>
            <a:r>
              <a:rPr sz="1725" b="0">
                <a:solidFill>
                  <a:srgbClr val="C0D2DC"/>
                </a:solidFill>
                <a:latin typeface="Noto Sans"/>
                <a:ea typeface="Noto Sans"/>
                <a:cs typeface="Noto Sans"/>
              </a:rPr>
              <a:t>KAIST</a:t>
            </a:r>
          </a:p>
        </p:txBody>
      </p:sp>
      <p:sp>
        <p:nvSpPr>
          <p:cNvPr id="5" name="How many labels make an audit informative?">
            <a:extLst xmlns:a="http://schemas.openxmlformats.org/drawingml/2006/main">
              <a:ext uri="{FF2B5EF4-FFF2-40B4-BE49-F238E27FC236}">
                <a16:creationId xmlns:a16="http://schemas.microsoft.com/office/drawing/2014/main" id="{752DD110-7D88-4DB5-930B-C86D68E09836}"/>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How many labels make an audit informative?</a:t>
            </a:r>
          </a:p>
        </p:txBody>
      </p:sp>
      <p:sp>
        <p:nvSpPr>
          <p:cNvPr id="6" name="01 / 10">
            <a:extLst xmlns:a="http://schemas.openxmlformats.org/drawingml/2006/main">
              <a:ext uri="{FF2B5EF4-FFF2-40B4-BE49-F238E27FC236}">
                <a16:creationId xmlns:a16="http://schemas.microsoft.com/office/drawing/2014/main" id="{730AF45A-1882-4320-AFD1-DCB80D8F3B6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01 / 10</a:t>
            </a:r>
          </a:p>
        </p:txBody>
      </p:sp>
    </p:spTree>
    <p:extLst>
      <p:ext uri="{BB962C8B-B14F-4D97-AF65-F5344CB8AC3E}">
        <p14:creationId xmlns:p14="http://schemas.microsoft.com/office/powerpoint/2010/main" val="18724303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he same visible record can hide different ri">
            <a:extLst xmlns:a="http://schemas.openxmlformats.org/drawingml/2006/main">
              <a:ext uri="{FF2B5EF4-FFF2-40B4-BE49-F238E27FC236}">
                <a16:creationId xmlns:a16="http://schemas.microsoft.com/office/drawing/2014/main" id="{ADCEB51E-A0DC-4943-A45F-87064C6D96C4}"/>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same visible record can hide different risks</a:t>
            </a:r>
          </a:p>
        </p:txBody>
      </p:sp>
      <p:sp>
        <p:nvSpPr>
          <p:cNvPr id="2" name="Observed accuracy alone cannot distinguish th">
            <a:extLst xmlns:a="http://schemas.openxmlformats.org/drawingml/2006/main">
              <a:ext uri="{FF2B5EF4-FFF2-40B4-BE49-F238E27FC236}">
                <a16:creationId xmlns:a16="http://schemas.microsoft.com/office/drawing/2014/main" id="{42B90506-56D9-462A-92E4-054AF6AC7267}"/>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Observed accuracy alone cannot distinguish these two completions.</a:t>
            </a:r>
          </a:p>
        </p:txBody>
      </p:sp>
      <p:graphicFrame>
        <p:nvGraphicFramePr>
          <p:cNvPr id="8" name=""/>
          <p:cNvGraphicFramePr/>
          <p:nvPr/>
        </p:nvGraphicFramePr>
        <p:xfrm>
          <a:off xmlns:a="http://schemas.openxmlformats.org/drawingml/2006/main" x="666750" y="2514600"/>
          <a:ext xmlns:a="http://schemas.openxmlformats.org/drawingml/2006/main" cx="10858500" cy="3054858"/>
        </p:xfrm>
        <a:graphic xmlns:a="http://schemas.openxmlformats.org/drawingml/2006/main">
          <a:graphicData uri="http://schemas.openxmlformats.org/drawingml/2006/table">
            <a:tbl>
              <a:tblPr firstRow="1" bandRow="0"/>
              <a:tblGrid>
                <a:gridCol w="4166029"/>
                <a:gridCol w="3346235"/>
                <a:gridCol w="3346235"/>
              </a:tblGrid>
              <a:tr h="483108">
                <a:tc>
                  <a:txBody>
                    <a:bodyPr/>
                    <a:lstStyle/>
                    <a:p>
                      <a:r>
                        <a:rPr sz="1800" b="1">
                          <a:solidFill>
                            <a:srgbClr val="FFFFFF"/>
                          </a:solidFill>
                          <a:latin typeface="Noto Sans"/>
                          <a:ea typeface="Noto Sans"/>
                          <a:cs typeface="Noto Sans"/>
                        </a:rPr>
                        <a:t>Illustrative cohort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10%-error completion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20%-error completion</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Total predictions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1,000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Visible correct labels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500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500</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Pending labels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500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500</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Errors hidden among pending</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100</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200</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Completed cohort error fraction</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20%</a:t>
                      </a:r>
                    </a:p>
                  </a:txBody>
                  <a:tcPr marL="133350" marR="133350" marT="85725" marB="85725" anchor="ctr">
                    <a:solidFill>
                      <a:srgbClr val="FFFFFF"/>
                    </a:solidFill>
                  </a:tcPr>
                </a:tc>
              </a:tr>
            </a:tbl>
          </a:graphicData>
        </a:graphic>
      </p:graphicFrame>
      <p:sp>
        <p:nvSpPr>
          <p:cNvPr id="4" name="How many labels make an audit informative?">
            <a:extLst xmlns:a="http://schemas.openxmlformats.org/drawingml/2006/main">
              <a:ext uri="{FF2B5EF4-FFF2-40B4-BE49-F238E27FC236}">
                <a16:creationId xmlns:a16="http://schemas.microsoft.com/office/drawing/2014/main" id="{C0115FBE-470E-44ED-A383-E2ED7ECBCA46}"/>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5" name="02 / 10">
            <a:extLst xmlns:a="http://schemas.openxmlformats.org/drawingml/2006/main">
              <a:ext uri="{FF2B5EF4-FFF2-40B4-BE49-F238E27FC236}">
                <a16:creationId xmlns:a16="http://schemas.microsoft.com/office/drawing/2014/main" id="{95BBF98D-AFA8-4FE7-8603-7BB4E2727CD1}"/>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02 / 10</a:t>
            </a:r>
          </a:p>
        </p:txBody>
      </p:sp>
    </p:spTree>
    <p:extLst>
      <p:ext uri="{BB962C8B-B14F-4D97-AF65-F5344CB8AC3E}">
        <p14:creationId xmlns:p14="http://schemas.microsoft.com/office/powerpoint/2010/main" val="6840796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audit protocol">
            <a:extLst xmlns:a="http://schemas.openxmlformats.org/drawingml/2006/main">
              <a:ext uri="{FF2B5EF4-FFF2-40B4-BE49-F238E27FC236}">
                <a16:creationId xmlns:a16="http://schemas.microsoft.com/office/drawing/2014/main" id="{3A67A00D-FC70-49B7-9B24-DB6EA4374734}"/>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The audit protocol</a:t>
            </a:r>
          </a:p>
        </p:txBody>
      </p:sp>
      <p:sp>
        <p:nvSpPr>
          <p:cNvPr id="2" name="Outcome-dependent missingness is allowed; a c">
            <a:extLst xmlns:a="http://schemas.openxmlformats.org/drawingml/2006/main">
              <a:ext uri="{FF2B5EF4-FFF2-40B4-BE49-F238E27FC236}">
                <a16:creationId xmlns:a16="http://schemas.microsoft.com/office/drawing/2014/main" id="{1F52D7B5-A87B-46E8-AE34-A166A2F4ADA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Outcome-dependent missingness is allowed; a committed protocol creates a usable intervention.</a:t>
            </a:r>
          </a:p>
        </p:txBody>
      </p:sp>
      <p:sp>
        <p:nvSpPr>
          <p:cNvPr id="3" name="1 · Commit the ledger">
            <a:extLst xmlns:a="http://schemas.openxmlformats.org/drawingml/2006/main">
              <a:ext uri="{FF2B5EF4-FFF2-40B4-BE49-F238E27FC236}">
                <a16:creationId xmlns:a16="http://schemas.microsoft.com/office/drawing/2014/main" id="{88EC61BE-B24F-4AF5-9827-9E5BE9E23FB4}"/>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1 · Commit the ledger</a:t>
            </a:r>
          </a:p>
        </p:txBody>
      </p:sp>
      <p:sp>
        <p:nvSpPr>
          <p:cNvPr id="4" name="Freeze the predictor and cohort. The withhold">
            <a:extLst xmlns:a="http://schemas.openxmlformats.org/drawingml/2006/main">
              <a:ext uri="{FF2B5EF4-FFF2-40B4-BE49-F238E27FC236}">
                <a16:creationId xmlns:a16="http://schemas.microsoft.com/office/drawing/2014/main" id="{DFE45D03-1EC2-4C21-8142-2806117AB837}"/>
              </a:ext>
            </a:extLst>
          </p:cNvPr>
          <p:cNvSpPr>
            <a:spLocks xmlns:a="http://schemas.openxmlformats.org/drawingml/2006/main" noGrp="1"/>
          </p:cNvSpPr>
          <p:nvPr/>
        </p:nvSpPr>
        <p:spPr>
          <a:xfrm xmlns:a="http://schemas.openxmlformats.org/drawingml/2006/main">
            <a:off x="666750" y="3276600"/>
            <a:ext cx="3289300" cy="1886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Freeze the predictor and cohort. The withholding mechanism publishes a truthful partial record and cannot alter it after queries begin.</a:t>
            </a:r>
          </a:p>
        </p:txBody>
      </p:sp>
      <p:sp>
        <p:nvSpPr>
          <p:cNvPr id="5" name="2 · Audit pending cases">
            <a:extLst xmlns:a="http://schemas.openxmlformats.org/drawingml/2006/main">
              <a:ext uri="{FF2B5EF4-FFF2-40B4-BE49-F238E27FC236}">
                <a16:creationId xmlns:a16="http://schemas.microsoft.com/office/drawing/2014/main" id="{AD15E535-90F5-4F58-803B-F98AFFE73A78}"/>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2 · Audit pending cases</a:t>
            </a:r>
          </a:p>
        </p:txBody>
      </p:sp>
      <p:sp>
        <p:nvSpPr>
          <p:cNvPr id="6" name="Use private randomness to query at most k dis">
            <a:extLst xmlns:a="http://schemas.openxmlformats.org/drawingml/2006/main">
              <a:ext uri="{FF2B5EF4-FFF2-40B4-BE49-F238E27FC236}">
                <a16:creationId xmlns:a16="http://schemas.microsoft.com/office/drawing/2014/main" id="{0FB50FC3-A910-4547-B46F-E266ABB9014C}"/>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Use private randomness to query at most k distinct unresolved cases. Outcomes must already exist and be accessible.</a:t>
            </a:r>
          </a:p>
        </p:txBody>
      </p:sp>
      <p:sp>
        <p:nvSpPr>
          <p:cNvPr id="7" name="3 · Test a risk claim">
            <a:extLst xmlns:a="http://schemas.openxmlformats.org/drawingml/2006/main">
              <a:ext uri="{FF2B5EF4-FFF2-40B4-BE49-F238E27FC236}">
                <a16:creationId xmlns:a16="http://schemas.microsoft.com/office/drawing/2014/main" id="{1F47ADFC-866F-4E6B-BB93-29C16A731DBD}"/>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3 · Test a risk claim</a:t>
            </a:r>
          </a:p>
        </p:txBody>
      </p:sp>
      <p:sp>
        <p:nvSpPr>
          <p:cNvPr id="8" name="Control false alarms at δ for one deadline. P">
            <a:extLst xmlns:a="http://schemas.openxmlformats.org/drawingml/2006/main">
              <a:ext uri="{FF2B5EF4-FFF2-40B4-BE49-F238E27FC236}">
                <a16:creationId xmlns:a16="http://schemas.microsoft.com/office/drawing/2014/main" id="{C5F1FB46-BF02-4F17-97C2-CEB5FDEAFFA9}"/>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Control false alarms at δ for one deadline. Power is the probability of detecting the planned higher-risk alternative.</a:t>
            </a:r>
          </a:p>
        </p:txBody>
      </p:sp>
      <p:sp>
        <p:nvSpPr>
          <p:cNvPr id="9" name="How many labels make an audit informative?">
            <a:extLst xmlns:a="http://schemas.openxmlformats.org/drawingml/2006/main">
              <a:ext uri="{FF2B5EF4-FFF2-40B4-BE49-F238E27FC236}">
                <a16:creationId xmlns:a16="http://schemas.microsoft.com/office/drawing/2014/main" id="{7C924D8F-8799-4E88-A0F5-1E76AFECC951}"/>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10" name="03 / 10">
            <a:extLst xmlns:a="http://schemas.openxmlformats.org/drawingml/2006/main">
              <a:ext uri="{FF2B5EF4-FFF2-40B4-BE49-F238E27FC236}">
                <a16:creationId xmlns:a16="http://schemas.microsoft.com/office/drawing/2014/main" id="{D4EBA041-5A45-4F6A-BCBC-D1BF38AB283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03 / 10</a:t>
            </a:r>
          </a:p>
        </p:txBody>
      </p:sp>
    </p:spTree>
    <p:extLst>
      <p:ext uri="{BB962C8B-B14F-4D97-AF65-F5344CB8AC3E}">
        <p14:creationId xmlns:p14="http://schemas.microsoft.com/office/powerpoint/2010/main" val="12142896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issingness relative to the risk gap sets the">
            <a:extLst xmlns:a="http://schemas.openxmlformats.org/drawingml/2006/main">
              <a:ext uri="{FF2B5EF4-FFF2-40B4-BE49-F238E27FC236}">
                <a16:creationId xmlns:a16="http://schemas.microsoft.com/office/drawing/2014/main" id="{992FDC8D-89E8-41F9-84B1-335416F07271}"/>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Missingness relative to the risk gap sets the frontier</a:t>
            </a:r>
          </a:p>
        </p:txBody>
      </p:sp>
      <p:sp>
        <p:nvSpPr>
          <p:cNvPr id="2" name="Risk gap ε = p − a; missing fraction β = b / ">
            <a:extLst xmlns:a="http://schemas.openxmlformats.org/drawingml/2006/main">
              <a:ext uri="{FF2B5EF4-FFF2-40B4-BE49-F238E27FC236}">
                <a16:creationId xmlns:a16="http://schemas.microsoft.com/office/drawing/2014/main" id="{44FFE9A0-A489-4F4E-A455-954E513DCB2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Risk gap ε = p − a; missing fraction β = b / n, with 0 &lt; β &lt; 1.</a:t>
            </a:r>
          </a:p>
        </p:txBody>
      </p:sp>
      <p:graphicFrame>
        <p:nvGraphicFramePr>
          <p:cNvPr id="9" name=""/>
          <p:cNvGraphicFramePr/>
          <p:nvPr/>
        </p:nvGraphicFramePr>
        <p:xfrm>
          <a:off xmlns:a="http://schemas.openxmlformats.org/drawingml/2006/main" x="666750" y="2514600"/>
          <a:ext xmlns:a="http://schemas.openxmlformats.org/drawingml/2006/main" cx="10858500" cy="2810256"/>
        </p:xfrm>
        <a:graphic xmlns:a="http://schemas.openxmlformats.org/drawingml/2006/main">
          <a:graphicData uri="http://schemas.openxmlformats.org/drawingml/2006/table">
            <a:tbl>
              <a:tblPr firstRow="1" bandRow="0"/>
              <a:tblGrid>
                <a:gridCol w="2832652"/>
                <a:gridCol w="3441632"/>
                <a:gridCol w="4584215"/>
              </a:tblGrid>
              <a:tr h="483108">
                <a:tc>
                  <a:txBody>
                    <a:bodyPr/>
                    <a:lstStyle/>
                    <a:p>
                      <a:r>
                        <a:rPr sz="1800" b="1">
                          <a:solidFill>
                            <a:srgbClr val="FFFFFF"/>
                          </a:solidFill>
                          <a:latin typeface="Noto Sans"/>
                          <a:ea typeface="Noto Sans"/>
                          <a:cs typeface="Noto Sans"/>
                        </a:rPr>
                        <a:t>Truthful audit regime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Fixed k ≥ 1 as n grows</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Interpretation</a:t>
                      </a:r>
                    </a:p>
                  </a:txBody>
                  <a:tcPr marL="133350" marR="133350" marT="85725" marB="85725" anchor="ctr">
                    <a:solidFill>
                      <a:srgbClr val="102A43"/>
                    </a:solidFill>
                  </a:tcPr>
                </a:tc>
              </a:tr>
              <a:tr h="775716">
                <a:tc>
                  <a:txBody>
                    <a:bodyPr/>
                    <a:lstStyle/>
                    <a:p>
                      <a:r>
                        <a:rPr sz="1800" b="0">
                          <a:solidFill>
                            <a:srgbClr val="354F62"/>
                          </a:solidFill>
                          <a:latin typeface="Noto Sans"/>
                          <a:ea typeface="Noto Sans"/>
                          <a:cs typeface="Noto Sans"/>
                        </a:rPr>
                        <a:t>0 &lt; β &lt; ε</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Power → 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The hidden pool cannot absorb the excess risk.</a:t>
                      </a:r>
                    </a:p>
                  </a:txBody>
                  <a:tcPr marL="133350" marR="133350" marT="85725" marB="85725" anchor="ctr">
                    <a:solidFill>
                      <a:srgbClr val="FFFFFF"/>
                    </a:solidFill>
                  </a:tcPr>
                </a:tc>
              </a:tr>
              <a:tr h="775716">
                <a:tc>
                  <a:txBody>
                    <a:bodyPr/>
                    <a:lstStyle/>
                    <a:p>
                      <a:r>
                        <a:rPr sz="1800" b="0">
                          <a:solidFill>
                            <a:srgbClr val="354F62"/>
                          </a:solidFill>
                          <a:latin typeface="Noto Sans"/>
                          <a:ea typeface="Noto Sans"/>
                          <a:cs typeface="Noto Sans"/>
                        </a:rPr>
                        <a:t>β = ε</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Power → 1</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One query can resolve a critical ambiguity.</a:t>
                      </a:r>
                    </a:p>
                  </a:txBody>
                  <a:tcPr marL="133350" marR="133350" marT="85725" marB="85725" anchor="ctr">
                    <a:solidFill>
                      <a:srgbClr val="F1F6F8"/>
                    </a:solidFill>
                  </a:tcPr>
                </a:tc>
              </a:tr>
              <a:tr h="775716">
                <a:tc>
                  <a:txBody>
                    <a:bodyPr/>
                    <a:lstStyle/>
                    <a:p>
                      <a:r>
                        <a:rPr sz="1800" b="0">
                          <a:solidFill>
                            <a:srgbClr val="354F62"/>
                          </a:solidFill>
                          <a:latin typeface="Noto Sans"/>
                          <a:ea typeface="Noto Sans"/>
                          <a:cs typeface="Noto Sans"/>
                        </a:rPr>
                        <a:t>β &gt; ε</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Exact binomial testing frontier</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Extra visible records need not remove hidden ambiguity.</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64F54D7-505A-4903-94E3-A2CAF732CB5A}"/>
              </a:ext>
            </a:extLst>
          </p:cNvPr>
          <p:cNvSpPr>
            <a:spLocks xmlns:a="http://schemas.openxmlformats.org/drawingml/2006/main" noGrp="1"/>
          </p:cNvSpPr>
          <p:nvPr/>
        </p:nvSpPr>
        <p:spPr>
          <a:xfrm xmlns:a="http://schemas.openxmlformats.org/drawingml/2006/main">
            <a:off x="666750" y="5496306"/>
            <a:ext cx="10858500" cy="9044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The critical no-query comparison also needs a √n-scale condition.</a:t>
            </a:r>
          </a:p>
        </p:txBody>
      </p:sp>
      <p:sp>
        <p:nvSpPr>
          <p:cNvPr id="5" name="How many labels make an audit informative?">
            <a:extLst xmlns:a="http://schemas.openxmlformats.org/drawingml/2006/main">
              <a:ext uri="{FF2B5EF4-FFF2-40B4-BE49-F238E27FC236}">
                <a16:creationId xmlns:a16="http://schemas.microsoft.com/office/drawing/2014/main" id="{661D7C26-4B98-45E2-9ABE-5DDCECEAC921}"/>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6" name="04 / 10">
            <a:extLst xmlns:a="http://schemas.openxmlformats.org/drawingml/2006/main">
              <a:ext uri="{FF2B5EF4-FFF2-40B4-BE49-F238E27FC236}">
                <a16:creationId xmlns:a16="http://schemas.microsoft.com/office/drawing/2014/main" id="{786F8E70-B584-4887-898C-66A249D4F20E}"/>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04 / 10</a:t>
            </a:r>
          </a:p>
        </p:txBody>
      </p:sp>
    </p:spTree>
    <p:extLst>
      <p:ext uri="{BB962C8B-B14F-4D97-AF65-F5344CB8AC3E}">
        <p14:creationId xmlns:p14="http://schemas.microsoft.com/office/powerpoint/2010/main" val="49852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finite design needs exactly 57 queries">
            <a:extLst xmlns:a="http://schemas.openxmlformats.org/drawingml/2006/main">
              <a:ext uri="{FF2B5EF4-FFF2-40B4-BE49-F238E27FC236}">
                <a16:creationId xmlns:a16="http://schemas.microsoft.com/office/drawing/2014/main" id="{E05786A4-A57E-42C0-B153-04547984F9C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finite design needs exactly 57 queries</a:t>
            </a:r>
          </a:p>
        </p:txBody>
      </p:sp>
      <p:sp>
        <p:nvSpPr>
          <p:cNvPr id="2" name="1,000 predictions · 500 pending · 10% versus ">
            <a:extLst xmlns:a="http://schemas.openxmlformats.org/drawingml/2006/main">
              <a:ext uri="{FF2B5EF4-FFF2-40B4-BE49-F238E27FC236}">
                <a16:creationId xmlns:a16="http://schemas.microsoft.com/office/drawing/2014/main" id="{A8CFE97F-B4A2-4B0F-A067-EBB032102B74}"/>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1,000 predictions · 500 pending · 10% versus 20% risk · at most 5% false alarms</a:t>
            </a:r>
          </a:p>
        </p:txBody>
      </p:sp>
      <p:graphicFrame>
        <p:nvGraphicFramePr>
          <p:cNvPr id="9" name=""/>
          <p:cNvGraphicFramePr/>
          <p:nvPr/>
        </p:nvGraphicFramePr>
        <p:xfrm>
          <a:off xmlns:a="http://schemas.openxmlformats.org/drawingml/2006/main" x="666750" y="2514600"/>
          <a:ext xmlns:a="http://schemas.openxmlformats.org/drawingml/2006/main" cx="10858500" cy="2026158"/>
        </p:xfrm>
        <a:graphic xmlns:a="http://schemas.openxmlformats.org/drawingml/2006/main">
          <a:graphicData uri="http://schemas.openxmlformats.org/drawingml/2006/table">
            <a:tbl>
              <a:tblPr firstRow="1" bandRow="0"/>
              <a:tblGrid>
                <a:gridCol w="3133556"/>
                <a:gridCol w="4684948"/>
                <a:gridCol w="3039996"/>
              </a:tblGrid>
              <a:tr h="483108">
                <a:tc>
                  <a:txBody>
                    <a:bodyPr/>
                    <a:lstStyle/>
                    <a:p>
                      <a:r>
                        <a:rPr sz="1800" b="1">
                          <a:solidFill>
                            <a:srgbClr val="FFFFFF"/>
                          </a:solidFill>
                          <a:latin typeface="Noto Sans"/>
                          <a:ea typeface="Noto Sans"/>
                          <a:cs typeface="Noto Sans"/>
                        </a:rPr>
                        <a:t>Budget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Certified statement</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95% power target</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56 queries</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Every adaptive policy: power &lt; 94.901%</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Impossible</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57 queries</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A supplied rule: power ≥ 95.243%</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Achievable</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56 queries, n → ∞</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Minimum for 95% limiting power</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Asymptotic only</a:t>
                      </a:r>
                    </a:p>
                  </a:txBody>
                  <a:tcPr marL="133350" marR="133350" marT="85725" marB="85725"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1FCDF59-B8C8-4DDA-B21A-E0E7190A4E94}"/>
              </a:ext>
            </a:extLst>
          </p:cNvPr>
          <p:cNvSpPr>
            <a:spLocks xmlns:a="http://schemas.openxmlformats.org/drawingml/2006/main" noGrp="1"/>
          </p:cNvSpPr>
          <p:nvPr/>
        </p:nvSpPr>
        <p:spPr>
          <a:xfrm xmlns:a="http://schemas.openxmlformats.org/drawingml/2006/main">
            <a:off x="666750" y="4712208"/>
            <a:ext cx="10858500" cy="1688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Finite conclusion assumes truthful labels and count-tail risk bounds.</a:t>
            </a:r>
          </a:p>
        </p:txBody>
      </p:sp>
      <p:sp>
        <p:nvSpPr>
          <p:cNvPr id="5" name="How many labels make an audit informative?">
            <a:extLst xmlns:a="http://schemas.openxmlformats.org/drawingml/2006/main">
              <a:ext uri="{FF2B5EF4-FFF2-40B4-BE49-F238E27FC236}">
                <a16:creationId xmlns:a16="http://schemas.microsoft.com/office/drawing/2014/main" id="{401C470A-0E40-491F-AF94-D7531843094C}"/>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6" name="05 / 10">
            <a:extLst xmlns:a="http://schemas.openxmlformats.org/drawingml/2006/main">
              <a:ext uri="{FF2B5EF4-FFF2-40B4-BE49-F238E27FC236}">
                <a16:creationId xmlns:a16="http://schemas.microsoft.com/office/drawing/2014/main" id="{D1EBE79A-267E-4E01-9975-DECB15024992}"/>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05 / 10</a:t>
            </a:r>
          </a:p>
        </p:txBody>
      </p:sp>
    </p:spTree>
    <p:extLst>
      <p:ext uri="{BB962C8B-B14F-4D97-AF65-F5344CB8AC3E}">
        <p14:creationId xmlns:p14="http://schemas.microsoft.com/office/powerpoint/2010/main" val="2939022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Knowing label quality can save hundreds of qu">
            <a:extLst xmlns:a="http://schemas.openxmlformats.org/drawingml/2006/main">
              <a:ext uri="{FF2B5EF4-FFF2-40B4-BE49-F238E27FC236}">
                <a16:creationId xmlns:a16="http://schemas.microsoft.com/office/drawing/2014/main" id="{9DFEA013-ED0A-42CD-B839-4EA2F16E5B41}"/>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Knowing label quality can save hundreds of queries</a:t>
            </a:r>
          </a:p>
        </p:txBody>
      </p:sp>
      <p:sp>
        <p:nvSpPr>
          <p:cNvPr id="2" name="Numerically inverted budgets for 95% limiting">
            <a:extLst xmlns:a="http://schemas.openxmlformats.org/drawingml/2006/main">
              <a:ext uri="{FF2B5EF4-FFF2-40B4-BE49-F238E27FC236}">
                <a16:creationId xmlns:a16="http://schemas.microsoft.com/office/drawing/2014/main" id="{ADA180D2-F890-4B96-ACA3-C492E7504FC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Numerically inverted budgets for 95% limiting power; these are not finite-cohort guarantees.</a:t>
            </a:r>
          </a:p>
        </p:txBody>
      </p:sp>
      <p:graphicFrame>
        <p:nvGraphicFramePr>
          <p:cNvPr id="8" name=""/>
          <p:cNvGraphicFramePr/>
          <p:nvPr/>
        </p:nvGraphicFramePr>
        <p:xfrm>
          <a:off xmlns:a="http://schemas.openxmlformats.org/drawingml/2006/main" x="666750" y="2514600"/>
          <a:ext xmlns:a="http://schemas.openxmlformats.org/drawingml/2006/main" cx="10858500" cy="3316224"/>
        </p:xfrm>
        <a:graphic xmlns:a="http://schemas.openxmlformats.org/drawingml/2006/main">
          <a:graphicData uri="http://schemas.openxmlformats.org/drawingml/2006/table">
            <a:tbl>
              <a:tblPr firstRow="1" bandRow="0"/>
              <a:tblGrid>
                <a:gridCol w="3339776"/>
                <a:gridCol w="3114357"/>
                <a:gridCol w="4404366"/>
              </a:tblGrid>
              <a:tr h="483108">
                <a:tc>
                  <a:txBody>
                    <a:bodyPr/>
                    <a:lstStyle/>
                    <a:p>
                      <a:r>
                        <a:rPr sz="1800" b="1">
                          <a:solidFill>
                            <a:srgbClr val="FFFFFF"/>
                          </a:solidFill>
                          <a:latin typeface="Noto Sans"/>
                          <a:ea typeface="Noto Sans"/>
                          <a:cs typeface="Noto Sans"/>
                        </a:rPr>
                        <a:t>Symmetric error level e</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Known common channel</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Only conditional bounds</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56</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56</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5%</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72</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117</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10%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94</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367</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15%</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127</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5,981</a:t>
                      </a:r>
                    </a:p>
                  </a:txBody>
                  <a:tcPr marL="133350" marR="133350" marT="85725" marB="85725" anchor="ctr">
                    <a:solidFill>
                      <a:srgbClr val="F1F6F8"/>
                    </a:solidFill>
                  </a:tcPr>
                </a:tc>
              </a:tr>
              <a:tr h="775716">
                <a:tc>
                  <a:txBody>
                    <a:bodyPr/>
                    <a:lstStyle/>
                    <a:p>
                      <a:r>
                        <a:rPr sz="1800" b="0">
                          <a:solidFill>
                            <a:srgbClr val="354F62"/>
                          </a:solidFill>
                          <a:latin typeface="Noto Sans"/>
                          <a:ea typeface="Noto Sans"/>
                          <a:cs typeface="Noto Sans"/>
                        </a:rPr>
                        <a:t>20%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176</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No fixed budget escapes the blind region</a:t>
                      </a:r>
                    </a:p>
                  </a:txBody>
                  <a:tcPr marL="133350" marR="133350" marT="85725" marB="85725" anchor="ctr">
                    <a:solidFill>
                      <a:srgbClr val="FFFFFF"/>
                    </a:solidFill>
                  </a:tcPr>
                </a:tc>
              </a:tr>
            </a:tbl>
          </a:graphicData>
        </a:graphic>
      </p:graphicFrame>
      <p:sp>
        <p:nvSpPr>
          <p:cNvPr id="4" name="How many labels make an audit informative?">
            <a:extLst xmlns:a="http://schemas.openxmlformats.org/drawingml/2006/main">
              <a:ext uri="{FF2B5EF4-FFF2-40B4-BE49-F238E27FC236}">
                <a16:creationId xmlns:a16="http://schemas.microsoft.com/office/drawing/2014/main" id="{EC3E417A-4B3A-4B08-A220-B82606669338}"/>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5" name="06 / 10">
            <a:extLst xmlns:a="http://schemas.openxmlformats.org/drawingml/2006/main">
              <a:ext uri="{FF2B5EF4-FFF2-40B4-BE49-F238E27FC236}">
                <a16:creationId xmlns:a16="http://schemas.microsoft.com/office/drawing/2014/main" id="{45F526C9-37EB-4788-A663-7DDCB6574F3A}"/>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06 / 10</a:t>
            </a:r>
          </a:p>
        </p:txBody>
      </p:sp>
    </p:spTree>
    <p:extLst>
      <p:ext uri="{BB962C8B-B14F-4D97-AF65-F5344CB8AC3E}">
        <p14:creationId xmlns:p14="http://schemas.microsoft.com/office/powerpoint/2010/main" val="15066697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 risk average is not a risk guarantee">
            <a:extLst xmlns:a="http://schemas.openxmlformats.org/drawingml/2006/main">
              <a:ext uri="{FF2B5EF4-FFF2-40B4-BE49-F238E27FC236}">
                <a16:creationId xmlns:a16="http://schemas.microsoft.com/office/drawing/2014/main" id="{1D33B4E3-5E47-4720-B13C-F97ABC731A8A}"/>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 risk average is not a risk guarantee</a:t>
            </a:r>
          </a:p>
        </p:txBody>
      </p:sp>
      <p:sp>
        <p:nvSpPr>
          <p:cNvPr id="2" name="Different assumptions change what the same ob">
            <a:extLst xmlns:a="http://schemas.openxmlformats.org/drawingml/2006/main">
              <a:ext uri="{FF2B5EF4-FFF2-40B4-BE49-F238E27FC236}">
                <a16:creationId xmlns:a16="http://schemas.microsoft.com/office/drawing/2014/main" id="{9E4D3147-2F3A-4335-B846-1F03E17C96AE}"/>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Different assumptions change what the same observations can establish.</a:t>
            </a:r>
          </a:p>
        </p:txBody>
      </p:sp>
      <p:sp>
        <p:nvSpPr>
          <p:cNvPr id="3" name="Count-tail bounds">
            <a:extLst xmlns:a="http://schemas.openxmlformats.org/drawingml/2006/main">
              <a:ext uri="{FF2B5EF4-FFF2-40B4-BE49-F238E27FC236}">
                <a16:creationId xmlns:a16="http://schemas.microsoft.com/office/drawing/2014/main" id="{F5087D11-73A6-44D5-A617-061222544BB7}"/>
              </a:ext>
            </a:extLst>
          </p:cNvPr>
          <p:cNvSpPr>
            <a:spLocks xmlns:a="http://schemas.openxmlformats.org/drawingml/2006/main" noGrp="1"/>
          </p:cNvSpPr>
          <p:nvPr/>
        </p:nvSpPr>
        <p:spPr>
          <a:xfrm xmlns:a="http://schemas.openxmlformats.org/drawingml/2006/main">
            <a:off x="6667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Count-tail bounds</a:t>
            </a:r>
          </a:p>
        </p:txBody>
      </p:sp>
      <p:sp>
        <p:nvSpPr>
          <p:cNvPr id="4" name="Control tails of the total error count. They ">
            <a:extLst xmlns:a="http://schemas.openxmlformats.org/drawingml/2006/main">
              <a:ext uri="{FF2B5EF4-FFF2-40B4-BE49-F238E27FC236}">
                <a16:creationId xmlns:a16="http://schemas.microsoft.com/office/drawing/2014/main" id="{1B776E8B-730E-48F3-AC99-CB7F8E6299DF}"/>
              </a:ext>
            </a:extLst>
          </p:cNvPr>
          <p:cNvSpPr>
            <a:spLocks xmlns:a="http://schemas.openxmlformats.org/drawingml/2006/main" noGrp="1"/>
          </p:cNvSpPr>
          <p:nvPr/>
        </p:nvSpPr>
        <p:spPr>
          <a:xfrm xmlns:a="http://schemas.openxmlformats.org/drawingml/2006/main">
            <a:off x="6667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Control tails of the total error count. They support the truthful 57-query finite certificate and can preserve native information with noise.</a:t>
            </a:r>
          </a:p>
        </p:txBody>
      </p:sp>
      <p:sp>
        <p:nvSpPr>
          <p:cNvPr id="5" name="Predictable-risk budgets">
            <a:extLst xmlns:a="http://schemas.openxmlformats.org/drawingml/2006/main">
              <a:ext uri="{FF2B5EF4-FFF2-40B4-BE49-F238E27FC236}">
                <a16:creationId xmlns:a16="http://schemas.microsoft.com/office/drawing/2014/main" id="{4E080652-961B-4C26-A578-655DC59D6F1B}"/>
              </a:ext>
            </a:extLst>
          </p:cNvPr>
          <p:cNvSpPr>
            <a:spLocks xmlns:a="http://schemas.openxmlformats.org/drawingml/2006/main" noGrp="1"/>
          </p:cNvSpPr>
          <p:nvPr/>
        </p:nvSpPr>
        <p:spPr>
          <a:xfrm xmlns:a="http://schemas.openxmlformats.org/drawingml/2006/main">
            <a:off x="44513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Predictable-risk budgets</a:t>
            </a:r>
          </a:p>
        </p:txBody>
      </p:sp>
      <p:sp>
        <p:nvSpPr>
          <p:cNvPr id="6" name="Bound cumulative conditional risk. They share">
            <a:extLst xmlns:a="http://schemas.openxmlformats.org/drawingml/2006/main">
              <a:ext uri="{FF2B5EF4-FFF2-40B4-BE49-F238E27FC236}">
                <a16:creationId xmlns:a16="http://schemas.microsoft.com/office/drawing/2014/main" id="{AA207E73-57A6-4293-B1F7-4F942B116EB7}"/>
              </a:ext>
            </a:extLst>
          </p:cNvPr>
          <p:cNvSpPr>
            <a:spLocks xmlns:a="http://schemas.openxmlformats.org/drawingml/2006/main" noGrp="1"/>
          </p:cNvSpPr>
          <p:nvPr/>
        </p:nvSpPr>
        <p:spPr>
          <a:xfrm xmlns:a="http://schemas.openxmlformats.org/drawingml/2006/main">
            <a:off x="44513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Bound cumulative conditional risk. They share the truthful asymptotic frontier but do not inherit the 57-query certificate.</a:t>
            </a:r>
          </a:p>
        </p:txBody>
      </p:sp>
      <p:sp>
        <p:nvSpPr>
          <p:cNvPr id="7" name="Mean risk only">
            <a:extLst xmlns:a="http://schemas.openxmlformats.org/drawingml/2006/main">
              <a:ext uri="{FF2B5EF4-FFF2-40B4-BE49-F238E27FC236}">
                <a16:creationId xmlns:a16="http://schemas.microsoft.com/office/drawing/2014/main" id="{BEDB087B-4979-4231-8FF7-E7F71A897BED}"/>
              </a:ext>
            </a:extLst>
          </p:cNvPr>
          <p:cNvSpPr>
            <a:spLocks xmlns:a="http://schemas.openxmlformats.org/drawingml/2006/main" noGrp="1"/>
          </p:cNvSpPr>
          <p:nvPr/>
        </p:nvSpPr>
        <p:spPr>
          <a:xfrm xmlns:a="http://schemas.openxmlformats.org/drawingml/2006/main">
            <a:off x="8235950" y="2514600"/>
            <a:ext cx="3289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006F8A"/>
                </a:solidFill>
                <a:latin typeface="Noto Sans"/>
                <a:ea typeface="Noto Sans"/>
                <a:cs typeface="Noto Sans"/>
              </a:defRPr>
            </a:pPr>
            <a:r>
              <a:rPr sz="2100" b="1">
                <a:solidFill>
                  <a:srgbClr val="006F8A"/>
                </a:solidFill>
                <a:latin typeface="Noto Sans"/>
                <a:ea typeface="Noto Sans"/>
                <a:cs typeface="Noto Sans"/>
              </a:rPr>
              <a:t>Mean risk only</a:t>
            </a:r>
          </a:p>
        </p:txBody>
      </p:sp>
      <p:sp>
        <p:nvSpPr>
          <p:cNvPr id="8" name="At the 10% versus 20% design, power is capped">
            <a:extLst xmlns:a="http://schemas.openxmlformats.org/drawingml/2006/main">
              <a:ext uri="{FF2B5EF4-FFF2-40B4-BE49-F238E27FC236}">
                <a16:creationId xmlns:a16="http://schemas.microsoft.com/office/drawing/2014/main" id="{A50BF414-9EB6-4727-9240-DDFB5D98AE21}"/>
              </a:ext>
            </a:extLst>
          </p:cNvPr>
          <p:cNvSpPr>
            <a:spLocks xmlns:a="http://schemas.openxmlformats.org/drawingml/2006/main" noGrp="1"/>
          </p:cNvSpPr>
          <p:nvPr/>
        </p:nvSpPr>
        <p:spPr>
          <a:xfrm xmlns:a="http://schemas.openxmlformats.org/drawingml/2006/main">
            <a:off x="8235950" y="3276600"/>
            <a:ext cx="3289300" cy="158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354F62"/>
                </a:solidFill>
                <a:latin typeface="Noto Sans"/>
                <a:ea typeface="Noto Sans"/>
                <a:cs typeface="Noto Sans"/>
              </a:defRPr>
            </a:pPr>
            <a:r>
              <a:rPr sz="1800" b="0">
                <a:solidFill>
                  <a:srgbClr val="354F62"/>
                </a:solidFill>
                <a:latin typeface="Noto Sans"/>
                <a:ea typeface="Noto Sans"/>
                <a:cs typeface="Noto Sans"/>
              </a:rPr>
              <a:t>At the 10% versus 20% design, power is capped at 10%, even with complete labels. More labels cannot repair this assumption gap.</a:t>
            </a:r>
          </a:p>
        </p:txBody>
      </p:sp>
      <p:sp>
        <p:nvSpPr>
          <p:cNvPr id="9" name="How many labels make an audit informative?">
            <a:extLst xmlns:a="http://schemas.openxmlformats.org/drawingml/2006/main">
              <a:ext uri="{FF2B5EF4-FFF2-40B4-BE49-F238E27FC236}">
                <a16:creationId xmlns:a16="http://schemas.microsoft.com/office/drawing/2014/main" id="{DB9EF829-829E-4837-95B1-2D62F3340BFD}"/>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10" name="07 / 10">
            <a:extLst xmlns:a="http://schemas.openxmlformats.org/drawingml/2006/main">
              <a:ext uri="{FF2B5EF4-FFF2-40B4-BE49-F238E27FC236}">
                <a16:creationId xmlns:a16="http://schemas.microsoft.com/office/drawing/2014/main" id="{98010EAD-3DE1-48FA-A1DB-DB14998F8CD1}"/>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07 / 10</a:t>
            </a:r>
          </a:p>
        </p:txBody>
      </p:sp>
    </p:spTree>
    <p:extLst>
      <p:ext uri="{BB962C8B-B14F-4D97-AF65-F5344CB8AC3E}">
        <p14:creationId xmlns:p14="http://schemas.microsoft.com/office/powerpoint/2010/main" val="124855709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queries cannot replace a larger cohort">
            <a:extLst xmlns:a="http://schemas.openxmlformats.org/drawingml/2006/main">
              <a:ext uri="{FF2B5EF4-FFF2-40B4-BE49-F238E27FC236}">
                <a16:creationId xmlns:a16="http://schemas.microsoft.com/office/drawing/2014/main" id="{593AAE1B-2659-4DE6-9385-2E1269E3677F}"/>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More queries cannot replace a larger cohort</a:t>
            </a:r>
          </a:p>
        </p:txBody>
      </p:sp>
      <p:sp>
        <p:nvSpPr>
          <p:cNvPr id="2" name="A guarantee at 20% risk does not imply sensit">
            <a:extLst xmlns:a="http://schemas.openxmlformats.org/drawingml/2006/main">
              <a:ext uri="{FF2B5EF4-FFF2-40B4-BE49-F238E27FC236}">
                <a16:creationId xmlns:a16="http://schemas.microsoft.com/office/drawing/2014/main" id="{56484EDB-AC25-4A01-B6CA-5E1B3FC699D8}"/>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A guarantee at 20% risk does not imply sensitivity to a 12% risk.</a:t>
            </a:r>
          </a:p>
        </p:txBody>
      </p:sp>
      <p:graphicFrame>
        <p:nvGraphicFramePr>
          <p:cNvPr id="9" name=""/>
          <p:cNvGraphicFramePr/>
          <p:nvPr/>
        </p:nvGraphicFramePr>
        <p:xfrm>
          <a:off xmlns:a="http://schemas.openxmlformats.org/drawingml/2006/main" x="666750" y="2514600"/>
          <a:ext xmlns:a="http://schemas.openxmlformats.org/drawingml/2006/main" cx="10858500" cy="2540508"/>
        </p:xfrm>
        <a:graphic xmlns:a="http://schemas.openxmlformats.org/drawingml/2006/main">
          <a:graphicData uri="http://schemas.openxmlformats.org/drawingml/2006/table">
            <a:tbl>
              <a:tblPr firstRow="1" bandRow="0"/>
              <a:tblGrid>
                <a:gridCol w="4018452"/>
                <a:gridCol w="2886941"/>
                <a:gridCol w="3953107"/>
              </a:tblGrid>
              <a:tr h="483108">
                <a:tc>
                  <a:txBody>
                    <a:bodyPr/>
                    <a:lstStyle/>
                    <a:p>
                      <a:r>
                        <a:rPr sz="1800" b="1">
                          <a:solidFill>
                            <a:srgbClr val="FFFFFF"/>
                          </a:solidFill>
                          <a:latin typeface="Noto Sans"/>
                          <a:ea typeface="Noto Sans"/>
                          <a:cs typeface="Noto Sans"/>
                        </a:rPr>
                        <a:t>Design / information</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Alternative risk</a:t>
                      </a:r>
                    </a:p>
                  </a:txBody>
                  <a:tcPr marL="133350" marR="133350" marT="85725" marB="85725" anchor="ctr">
                    <a:solidFill>
                      <a:srgbClr val="102A43"/>
                    </a:solidFill>
                  </a:tcPr>
                </a:tc>
                <a:tc>
                  <a:txBody>
                    <a:bodyPr/>
                    <a:lstStyle/>
                    <a:p>
                      <a:r>
                        <a:rPr sz="1800" b="1">
                          <a:solidFill>
                            <a:srgbClr val="FFFFFF"/>
                          </a:solidFill>
                          <a:latin typeface="Noto Sans"/>
                          <a:ea typeface="Noto Sans"/>
                          <a:cs typeface="Noto Sans"/>
                        </a:rPr>
                        <a:t>Power</a:t>
                      </a:r>
                    </a:p>
                  </a:txBody>
                  <a:tcPr marL="133350" marR="133350" marT="85725" marB="85725" anchor="ctr">
                    <a:solidFill>
                      <a:srgbClr val="102A43"/>
                    </a:solidFill>
                  </a:tcPr>
                </a:tc>
              </a:tr>
              <a:tr h="514350">
                <a:tc>
                  <a:txBody>
                    <a:bodyPr/>
                    <a:lstStyle/>
                    <a:p>
                      <a:r>
                        <a:rPr sz="1800" b="0">
                          <a:solidFill>
                            <a:srgbClr val="354F62"/>
                          </a:solidFill>
                          <a:latin typeface="Noto Sans"/>
                          <a:ea typeface="Noto Sans"/>
                          <a:cs typeface="Noto Sans"/>
                        </a:rPr>
                        <a:t>Frozen 57-query rule; n = 1,000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20%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95.24%</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Same frozen 57-query rule</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12%</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1.15%</a:t>
                      </a:r>
                    </a:p>
                  </a:txBody>
                  <a:tcPr marL="133350" marR="133350" marT="85725" marB="85725" anchor="ctr">
                    <a:solidFill>
                      <a:srgbClr val="F1F6F8"/>
                    </a:solidFill>
                  </a:tcPr>
                </a:tc>
              </a:tr>
              <a:tr h="514350">
                <a:tc>
                  <a:txBody>
                    <a:bodyPr/>
                    <a:lstStyle/>
                    <a:p>
                      <a:r>
                        <a:rPr sz="1800" b="0">
                          <a:solidFill>
                            <a:srgbClr val="354F62"/>
                          </a:solidFill>
                          <a:latin typeface="Noto Sans"/>
                          <a:ea typeface="Noto Sans"/>
                          <a:cs typeface="Noto Sans"/>
                        </a:rPr>
                        <a:t>Complete labels; n = 1,000</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12%</a:t>
                      </a:r>
                    </a:p>
                  </a:txBody>
                  <a:tcPr marL="133350" marR="133350" marT="85725" marB="85725" anchor="ctr">
                    <a:solidFill>
                      <a:srgbClr val="FFFFFF"/>
                    </a:solidFill>
                  </a:tcPr>
                </a:tc>
                <a:tc>
                  <a:txBody>
                    <a:bodyPr/>
                    <a:lstStyle/>
                    <a:p>
                      <a:r>
                        <a:rPr sz="1800" b="0">
                          <a:solidFill>
                            <a:srgbClr val="354F62"/>
                          </a:solidFill>
                          <a:latin typeface="Noto Sans"/>
                          <a:ea typeface="Noto Sans"/>
                          <a:cs typeface="Noto Sans"/>
                        </a:rPr>
                        <a:t>65.32% optimal</a:t>
                      </a:r>
                    </a:p>
                  </a:txBody>
                  <a:tcPr marL="133350" marR="133350" marT="85725" marB="85725" anchor="ctr">
                    <a:solidFill>
                      <a:srgbClr val="FFFFFF"/>
                    </a:solidFill>
                  </a:tcPr>
                </a:tc>
              </a:tr>
              <a:tr h="514350">
                <a:tc>
                  <a:txBody>
                    <a:bodyPr/>
                    <a:lstStyle/>
                    <a:p>
                      <a:r>
                        <a:rPr sz="1800" b="0">
                          <a:solidFill>
                            <a:srgbClr val="354F62"/>
                          </a:solidFill>
                          <a:latin typeface="Noto Sans"/>
                          <a:ea typeface="Noto Sans"/>
                          <a:cs typeface="Noto Sans"/>
                        </a:rPr>
                        <a:t>Complete labels; n = 2,645</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12%</a:t>
                      </a:r>
                    </a:p>
                  </a:txBody>
                  <a:tcPr marL="133350" marR="133350" marT="85725" marB="85725" anchor="ctr">
                    <a:solidFill>
                      <a:srgbClr val="F1F6F8"/>
                    </a:solidFill>
                  </a:tcPr>
                </a:tc>
                <a:tc>
                  <a:txBody>
                    <a:bodyPr/>
                    <a:lstStyle/>
                    <a:p>
                      <a:r>
                        <a:rPr sz="1800" b="0">
                          <a:solidFill>
                            <a:srgbClr val="354F62"/>
                          </a:solidFill>
                          <a:latin typeface="Noto Sans"/>
                          <a:ea typeface="Noto Sans"/>
                          <a:cs typeface="Noto Sans"/>
                        </a:rPr>
                        <a:t>First cohort size reaching 95%</a:t>
                      </a:r>
                    </a:p>
                  </a:txBody>
                  <a:tcPr marL="133350" marR="133350" marT="85725" marB="85725" anchor="ctr">
                    <a:solidFill>
                      <a:srgbClr val="F1F6F8"/>
                    </a:solidFill>
                  </a:tcPr>
                </a:tc>
              </a:tr>
            </a:tbl>
          </a:graphicData>
        </a:graphic>
      </p:graphicFrame>
      <p:sp>
        <p:nvSpPr>
          <p:cNvPr id="4" name="">
            <a:extLst xmlns:a="http://schemas.openxmlformats.org/drawingml/2006/main">
              <a:ext uri="{FF2B5EF4-FFF2-40B4-BE49-F238E27FC236}">
                <a16:creationId xmlns:a16="http://schemas.microsoft.com/office/drawing/2014/main" id="{7187EC25-6DC7-45D2-8599-E3F716438911}"/>
              </a:ext>
            </a:extLst>
          </p:cNvPr>
          <p:cNvSpPr>
            <a:spLocks xmlns:a="http://schemas.openxmlformats.org/drawingml/2006/main" noGrp="1"/>
          </p:cNvSpPr>
          <p:nvPr/>
        </p:nvSpPr>
        <p:spPr>
          <a:xfrm xmlns:a="http://schemas.openxmlformats.org/drawingml/2006/main">
            <a:off x="666750" y="5226558"/>
            <a:ext cx="10858500" cy="11742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600"/>
              </a:spcAft>
              <a:buChar char="•"/>
              <a:defRPr sz="1725" b="0">
                <a:solidFill>
                  <a:srgbClr val="354F62"/>
                </a:solidFill>
                <a:latin typeface="Noto Sans"/>
                <a:ea typeface="Noto Sans"/>
                <a:cs typeface="Noto Sans"/>
              </a:defRPr>
            </a:pPr>
            <a:r>
              <a:rPr sz="1725" b="0">
                <a:solidFill>
                  <a:srgbClr val="354F62"/>
                </a:solidFill>
                <a:latin typeface="Noto Sans"/>
                <a:ea typeface="Noto Sans"/>
                <a:cs typeface="Noto Sans"/>
              </a:rPr>
              <a:t>A private mixture improves 12%-risk power to 8.66%, while retaining at least 95.017% at 20% risk.</a:t>
            </a:r>
          </a:p>
        </p:txBody>
      </p:sp>
      <p:sp>
        <p:nvSpPr>
          <p:cNvPr id="5" name="How many labels make an audit informative?">
            <a:extLst xmlns:a="http://schemas.openxmlformats.org/drawingml/2006/main">
              <a:ext uri="{FF2B5EF4-FFF2-40B4-BE49-F238E27FC236}">
                <a16:creationId xmlns:a16="http://schemas.microsoft.com/office/drawing/2014/main" id="{D59D04D7-96B6-43F7-84E3-EC8C714002AC}"/>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6" name="08 / 10">
            <a:extLst xmlns:a="http://schemas.openxmlformats.org/drawingml/2006/main">
              <a:ext uri="{FF2B5EF4-FFF2-40B4-BE49-F238E27FC236}">
                <a16:creationId xmlns:a16="http://schemas.microsoft.com/office/drawing/2014/main" id="{3E2579B0-DCAA-456B-BF18-E7D655ECEE77}"/>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08 / 10</a:t>
            </a:r>
          </a:p>
        </p:txBody>
      </p:sp>
    </p:spTree>
    <p:extLst>
      <p:ext uri="{BB962C8B-B14F-4D97-AF65-F5344CB8AC3E}">
        <p14:creationId xmlns:p14="http://schemas.microsoft.com/office/powerpoint/2010/main" val="2685322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n audit with explicit guarantees">
            <a:extLst xmlns:a="http://schemas.openxmlformats.org/drawingml/2006/main">
              <a:ext uri="{FF2B5EF4-FFF2-40B4-BE49-F238E27FC236}">
                <a16:creationId xmlns:a16="http://schemas.microsoft.com/office/drawing/2014/main" id="{D7755CDD-B856-4E4A-8612-3D1BDC7FBED5}"/>
              </a:ext>
            </a:extLst>
          </p:cNvPr>
          <p:cNvSpPr>
            <a:spLocks xmlns:a="http://schemas.openxmlformats.org/drawingml/2006/main" noGrp="1"/>
          </p:cNvSpPr>
          <p:nvPr/>
        </p:nvSpPr>
        <p:spPr>
          <a:xfrm xmlns:a="http://schemas.openxmlformats.org/drawingml/2006/main">
            <a:off x="666750" y="419100"/>
            <a:ext cx="10858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02A43"/>
                </a:solidFill>
                <a:latin typeface="Noto Sans"/>
                <a:ea typeface="Noto Sans"/>
                <a:cs typeface="Noto Sans"/>
              </a:defRPr>
            </a:pPr>
            <a:r>
              <a:rPr sz="3300" b="1">
                <a:solidFill>
                  <a:srgbClr val="102A43"/>
                </a:solidFill>
                <a:latin typeface="Noto Sans"/>
                <a:ea typeface="Noto Sans"/>
                <a:cs typeface="Noto Sans"/>
              </a:rPr>
              <a:t>An audit with explicit guarantees</a:t>
            </a:r>
          </a:p>
        </p:txBody>
      </p:sp>
      <p:sp>
        <p:nvSpPr>
          <p:cNvPr id="2" name="Specify the claim and information assumptions">
            <a:extLst xmlns:a="http://schemas.openxmlformats.org/drawingml/2006/main">
              <a:ext uri="{FF2B5EF4-FFF2-40B4-BE49-F238E27FC236}">
                <a16:creationId xmlns:a16="http://schemas.microsoft.com/office/drawing/2014/main" id="{3E2F4548-207E-4B01-B78B-833F6234E4C0}"/>
              </a:ext>
            </a:extLst>
          </p:cNvPr>
          <p:cNvSpPr>
            <a:spLocks xmlns:a="http://schemas.openxmlformats.org/drawingml/2006/main" noGrp="1"/>
          </p:cNvSpPr>
          <p:nvPr/>
        </p:nvSpPr>
        <p:spPr>
          <a:xfrm xmlns:a="http://schemas.openxmlformats.org/drawingml/2006/main">
            <a:off x="666750" y="16764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006F8A"/>
                </a:solidFill>
                <a:latin typeface="Noto Sans"/>
                <a:ea typeface="Noto Sans"/>
                <a:cs typeface="Noto Sans"/>
              </a:defRPr>
            </a:pPr>
            <a:r>
              <a:rPr sz="2175" b="0">
                <a:solidFill>
                  <a:srgbClr val="006F8A"/>
                </a:solidFill>
                <a:latin typeface="Noto Sans"/>
                <a:ea typeface="Noto Sans"/>
                <a:cs typeface="Noto Sans"/>
              </a:rPr>
              <a:t>Specify the claim and information assumptions before choosing the budget.</a:t>
            </a:r>
          </a:p>
        </p:txBody>
      </p:sp>
      <p:sp>
        <p:nvSpPr>
          <p:cNvPr id="3" name="">
            <a:extLst xmlns:a="http://schemas.openxmlformats.org/drawingml/2006/main">
              <a:ext uri="{FF2B5EF4-FFF2-40B4-BE49-F238E27FC236}">
                <a16:creationId xmlns:a16="http://schemas.microsoft.com/office/drawing/2014/main" id="{1A79653F-BDC0-4E41-A22C-796C622C9C7F}"/>
              </a:ext>
            </a:extLst>
          </p:cNvPr>
          <p:cNvSpPr>
            <a:spLocks xmlns:a="http://schemas.openxmlformats.org/drawingml/2006/main" noGrp="1"/>
          </p:cNvSpPr>
          <p:nvPr/>
        </p:nvSpPr>
        <p:spPr>
          <a:xfrm xmlns:a="http://schemas.openxmlformats.org/drawingml/2006/main">
            <a:off x="666750" y="2514600"/>
            <a:ext cx="10668000" cy="3438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Fix acceptable risk, planning alternative, power target, and false-alarm level.</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Justify the risk class, pending-count bound, and conditional label reliability.</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Use a matching finite certificate; treat asymptotic numbers as planning benchmarks.</a:t>
            </a:r>
          </a:p>
          <a:p xmlns:a="http://schemas.openxmlformats.org/drawingml/2006/main">
            <a:pPr marL="241300" indent="-127000">
              <a:spcAft>
                <a:spcPts val="1400"/>
              </a:spcAft>
              <a:buChar char="•"/>
              <a:defRPr sz="2250" b="0">
                <a:solidFill>
                  <a:srgbClr val="354F62"/>
                </a:solidFill>
                <a:latin typeface="Noto Sans"/>
                <a:ea typeface="Noto Sans"/>
                <a:cs typeface="Noto Sans"/>
              </a:defRPr>
            </a:pPr>
            <a:r>
              <a:rPr sz="2250" b="0">
                <a:solidFill>
                  <a:srgbClr val="354F62"/>
                </a:solidFill>
                <a:latin typeface="Noto Sans"/>
                <a:ea typeface="Noto Sans"/>
                <a:cs typeface="Noto Sans"/>
              </a:rPr>
              <a:t>Check off-design power. Nonrejection does not certify acceptable risk.</a:t>
            </a:r>
          </a:p>
        </p:txBody>
      </p:sp>
      <p:sp>
        <p:nvSpPr>
          <p:cNvPr id="4" name="How many labels make an audit informative?">
            <a:extLst xmlns:a="http://schemas.openxmlformats.org/drawingml/2006/main">
              <a:ext uri="{FF2B5EF4-FFF2-40B4-BE49-F238E27FC236}">
                <a16:creationId xmlns:a16="http://schemas.microsoft.com/office/drawing/2014/main" id="{364DA823-5776-4457-A6B9-B63C5DC78317}"/>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607D8B"/>
                </a:solidFill>
                <a:latin typeface="Noto Sans"/>
                <a:ea typeface="Noto Sans"/>
                <a:cs typeface="Noto Sans"/>
              </a:defRPr>
            </a:pPr>
            <a:r>
              <a:rPr sz="1200" b="0">
                <a:solidFill>
                  <a:srgbClr val="607D8B"/>
                </a:solidFill>
                <a:latin typeface="Noto Sans"/>
                <a:ea typeface="Noto Sans"/>
                <a:cs typeface="Noto Sans"/>
              </a:rPr>
              <a:t>How many labels make an audit informative?</a:t>
            </a:r>
          </a:p>
        </p:txBody>
      </p:sp>
      <p:sp>
        <p:nvSpPr>
          <p:cNvPr id="5" name="09 / 10">
            <a:extLst xmlns:a="http://schemas.openxmlformats.org/drawingml/2006/main">
              <a:ext uri="{FF2B5EF4-FFF2-40B4-BE49-F238E27FC236}">
                <a16:creationId xmlns:a16="http://schemas.microsoft.com/office/drawing/2014/main" id="{152BC239-2A76-4247-995A-033A23311210}"/>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607D8B"/>
                </a:solidFill>
                <a:latin typeface="Noto Sans"/>
                <a:ea typeface="Noto Sans"/>
                <a:cs typeface="Noto Sans"/>
              </a:defRPr>
            </a:pPr>
            <a:r>
              <a:rPr sz="1200" b="0">
                <a:solidFill>
                  <a:srgbClr val="607D8B"/>
                </a:solidFill>
                <a:latin typeface="Noto Sans"/>
                <a:ea typeface="Noto Sans"/>
                <a:cs typeface="Noto Sans"/>
              </a:rPr>
              <a:t>09 / 10</a:t>
            </a:r>
          </a:p>
        </p:txBody>
      </p:sp>
    </p:spTree>
    <p:extLst>
      <p:ext uri="{BB962C8B-B14F-4D97-AF65-F5344CB8AC3E}">
        <p14:creationId xmlns:p14="http://schemas.microsoft.com/office/powerpoint/2010/main" val="51482290"/>
      </p:ext>
    </p:extLst>
  </p:cSld>
</p:sld>
</file>

<file path=ppt/slides/slide1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Three resources determine what an audit can p">
            <a:extLst xmlns:a="http://schemas.openxmlformats.org/drawingml/2006/main">
              <a:ext uri="{FF2B5EF4-FFF2-40B4-BE49-F238E27FC236}">
                <a16:creationId xmlns:a16="http://schemas.microsoft.com/office/drawing/2014/main" id="{090AAEF0-692F-427F-B951-B6FC45CFFA52}"/>
              </a:ext>
            </a:extLst>
          </p:cNvPr>
          <p:cNvSpPr>
            <a:spLocks xmlns:a="http://schemas.openxmlformats.org/drawingml/2006/main" noGrp="1"/>
          </p:cNvSpPr>
          <p:nvPr/>
        </p:nvSpPr>
        <p:spPr>
          <a:xfrm xmlns:a="http://schemas.openxmlformats.org/drawingml/2006/main">
            <a:off x="666750" y="4762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FFFFFF"/>
                </a:solidFill>
                <a:latin typeface="Noto Sans"/>
                <a:ea typeface="Noto Sans"/>
                <a:cs typeface="Noto Sans"/>
              </a:defRPr>
            </a:pPr>
            <a:r>
              <a:rPr sz="3300" b="1">
                <a:solidFill>
                  <a:srgbClr val="FFFFFF"/>
                </a:solidFill>
                <a:latin typeface="Noto Sans"/>
                <a:ea typeface="Noto Sans"/>
                <a:cs typeface="Noto Sans"/>
              </a:rPr>
              <a:t>Three resources determine what an audit can prove</a:t>
            </a:r>
          </a:p>
        </p:txBody>
      </p:sp>
      <p:sp>
        <p:nvSpPr>
          <p:cNvPr id="2" name="Count labels, but also count what is known ab">
            <a:extLst xmlns:a="http://schemas.openxmlformats.org/drawingml/2006/main">
              <a:ext uri="{FF2B5EF4-FFF2-40B4-BE49-F238E27FC236}">
                <a16:creationId xmlns:a16="http://schemas.microsoft.com/office/drawing/2014/main" id="{E4A072B1-2EBB-4BAA-8BA7-8AB8E3E3E6C4}"/>
              </a:ext>
            </a:extLst>
          </p:cNvPr>
          <p:cNvSpPr>
            <a:spLocks xmlns:a="http://schemas.openxmlformats.org/drawingml/2006/main" noGrp="1"/>
          </p:cNvSpPr>
          <p:nvPr/>
        </p:nvSpPr>
        <p:spPr>
          <a:xfrm xmlns:a="http://schemas.openxmlformats.org/drawingml/2006/main">
            <a:off x="666750" y="1762125"/>
            <a:ext cx="10620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150" b="1">
                <a:solidFill>
                  <a:srgbClr val="B8E2DF"/>
                </a:solidFill>
                <a:latin typeface="Noto Sans"/>
                <a:ea typeface="Noto Sans"/>
                <a:cs typeface="Noto Sans"/>
              </a:defRPr>
            </a:pPr>
            <a:r>
              <a:rPr sz="3150" b="1">
                <a:solidFill>
                  <a:srgbClr val="B8E2DF"/>
                </a:solidFill>
                <a:latin typeface="Noto Sans"/>
                <a:ea typeface="Noto Sans"/>
                <a:cs typeface="Noto Sans"/>
              </a:rPr>
              <a:t>Count labels, but also count what is known about them.</a:t>
            </a:r>
          </a:p>
        </p:txBody>
      </p:sp>
      <p:sp>
        <p:nvSpPr>
          <p:cNvPr id="3" name="">
            <a:extLst xmlns:a="http://schemas.openxmlformats.org/drawingml/2006/main">
              <a:ext uri="{FF2B5EF4-FFF2-40B4-BE49-F238E27FC236}">
                <a16:creationId xmlns:a16="http://schemas.microsoft.com/office/drawing/2014/main" id="{8FCDB19F-6D94-4A3B-BE96-26037EF61C63}"/>
              </a:ext>
            </a:extLst>
          </p:cNvPr>
          <p:cNvSpPr>
            <a:spLocks xmlns:a="http://schemas.openxmlformats.org/drawingml/2006/main" noGrp="1"/>
          </p:cNvSpPr>
          <p:nvPr/>
        </p:nvSpPr>
        <p:spPr>
          <a:xfrm xmlns:a="http://schemas.openxmlformats.org/drawingml/2006/main">
            <a:off x="666750" y="3838575"/>
            <a:ext cx="106680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Query count controls how much hidden information can be acquired.</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Reliability knowledge controls whether returned labels distinguish risk hypotheses.</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Cohort size controls whether the planned risk gap is statistically detectable.</a:t>
            </a:r>
          </a:p>
          <a:p xmlns:a="http://schemas.openxmlformats.org/drawingml/2006/main">
            <a:pPr marL="241300" indent="-127000">
              <a:spcAft>
                <a:spcPts val="1400"/>
              </a:spcAft>
              <a:buChar char="•"/>
              <a:defRPr sz="2025" b="0">
                <a:solidFill>
                  <a:srgbClr val="FFFFFF"/>
                </a:solidFill>
                <a:latin typeface="Noto Sans"/>
                <a:ea typeface="Noto Sans"/>
                <a:cs typeface="Noto Sans"/>
              </a:defRPr>
            </a:pPr>
            <a:r>
              <a:rPr sz="2025" b="0">
                <a:solidFill>
                  <a:srgbClr val="FFFFFF"/>
                </a:solidFill>
                <a:latin typeface="Noto Sans"/>
                <a:ea typeface="Noto Sans"/>
                <a:cs typeface="Noto Sans"/>
              </a:rPr>
              <a:t>All guarantees depend on a declared risk class and committed audit protocol.</a:t>
            </a:r>
          </a:p>
        </p:txBody>
      </p:sp>
      <p:sp>
        <p:nvSpPr>
          <p:cNvPr id="4" name="Source: github.com/ChorokLeeDev/selective-lab">
            <a:extLst xmlns:a="http://schemas.openxmlformats.org/drawingml/2006/main">
              <a:ext uri="{FF2B5EF4-FFF2-40B4-BE49-F238E27FC236}">
                <a16:creationId xmlns:a16="http://schemas.microsoft.com/office/drawing/2014/main" id="{88D602CF-0685-4873-928B-FF82E52B0AF6}"/>
              </a:ext>
            </a:extLst>
          </p:cNvPr>
          <p:cNvSpPr>
            <a:spLocks xmlns:a="http://schemas.openxmlformats.org/drawingml/2006/main" noGrp="1"/>
          </p:cNvSpPr>
          <p:nvPr/>
        </p:nvSpPr>
        <p:spPr>
          <a:xfrm xmlns:a="http://schemas.openxmlformats.org/drawingml/2006/main">
            <a:off x="666750" y="60198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8CCD8"/>
                </a:solidFill>
                <a:latin typeface="Noto Sans"/>
                <a:ea typeface="Noto Sans"/>
                <a:cs typeface="Noto Sans"/>
              </a:defRPr>
            </a:pPr>
            <a:r>
              <a:rPr sz="1350" b="0">
                <a:solidFill>
                  <a:srgbClr val="B8CCD8"/>
                </a:solidFill>
                <a:latin typeface="Noto Sans"/>
                <a:ea typeface="Noto Sans"/>
                <a:cs typeface="Noto Sans"/>
              </a:rPr>
              <a:t>Source: github.com/ChorokLeeDev/selective-labels-minimax-iclr2027</a:t>
            </a:r>
          </a:p>
        </p:txBody>
      </p:sp>
      <p:sp>
        <p:nvSpPr>
          <p:cNvPr id="5" name="How many labels make an audit informative?">
            <a:extLst xmlns:a="http://schemas.openxmlformats.org/drawingml/2006/main">
              <a:ext uri="{FF2B5EF4-FFF2-40B4-BE49-F238E27FC236}">
                <a16:creationId xmlns:a16="http://schemas.microsoft.com/office/drawing/2014/main" id="{97EDECE1-8708-4B69-8D6B-49C73365BC84}"/>
              </a:ext>
            </a:extLst>
          </p:cNvPr>
          <p:cNvSpPr>
            <a:spLocks xmlns:a="http://schemas.openxmlformats.org/drawingml/2006/main" noGrp="1"/>
          </p:cNvSpPr>
          <p:nvPr/>
        </p:nvSpPr>
        <p:spPr>
          <a:xfrm xmlns:a="http://schemas.openxmlformats.org/drawingml/2006/main">
            <a:off x="666750" y="6438900"/>
            <a:ext cx="10239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00" b="0">
                <a:solidFill>
                  <a:srgbClr val="B8CCD8"/>
                </a:solidFill>
                <a:latin typeface="Noto Sans"/>
                <a:ea typeface="Noto Sans"/>
                <a:cs typeface="Noto Sans"/>
              </a:defRPr>
            </a:pPr>
            <a:r>
              <a:rPr sz="1200" b="0">
                <a:solidFill>
                  <a:srgbClr val="B8CCD8"/>
                </a:solidFill>
                <a:latin typeface="Noto Sans"/>
                <a:ea typeface="Noto Sans"/>
                <a:cs typeface="Noto Sans"/>
              </a:rPr>
              <a:t>How many labels make an audit informative?</a:t>
            </a:r>
          </a:p>
        </p:txBody>
      </p:sp>
      <p:sp>
        <p:nvSpPr>
          <p:cNvPr id="6" name="10 / 10">
            <a:extLst xmlns:a="http://schemas.openxmlformats.org/drawingml/2006/main">
              <a:ext uri="{FF2B5EF4-FFF2-40B4-BE49-F238E27FC236}">
                <a16:creationId xmlns:a16="http://schemas.microsoft.com/office/drawing/2014/main" id="{C596DAAD-6A94-4D89-A843-22F2EF65C106}"/>
              </a:ext>
            </a:extLst>
          </p:cNvPr>
          <p:cNvSpPr>
            <a:spLocks xmlns:a="http://schemas.openxmlformats.org/drawingml/2006/main" noGrp="1"/>
          </p:cNvSpPr>
          <p:nvPr/>
        </p:nvSpPr>
        <p:spPr>
          <a:xfrm xmlns:a="http://schemas.openxmlformats.org/drawingml/2006/main">
            <a:off x="10953750" y="64198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200" b="0">
                <a:solidFill>
                  <a:srgbClr val="B8CCD8"/>
                </a:solidFill>
                <a:latin typeface="Noto Sans"/>
                <a:ea typeface="Noto Sans"/>
                <a:cs typeface="Noto Sans"/>
              </a:defRPr>
            </a:pPr>
            <a:r>
              <a:rPr sz="1200" b="0">
                <a:solidFill>
                  <a:srgbClr val="B8CCD8"/>
                </a:solidFill>
                <a:latin typeface="Noto Sans"/>
                <a:ea typeface="Noto Sans"/>
                <a:cs typeface="Noto Sans"/>
              </a:rPr>
              <a:t>10 / 10</a:t>
            </a:r>
          </a:p>
        </p:txBody>
      </p:sp>
    </p:spTree>
    <p:extLst>
      <p:ext uri="{BB962C8B-B14F-4D97-AF65-F5344CB8AC3E}">
        <p14:creationId xmlns:p14="http://schemas.microsoft.com/office/powerpoint/2010/main" val="10681951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2026-09-29T06:03:37.4020000Z</dcterms:created>
  <dcterms:modified xsi:type="dcterms:W3CDTF">2026-09-29T06:03:37.4020000Z</dcterms:modified>
</coreProperties>
</file>