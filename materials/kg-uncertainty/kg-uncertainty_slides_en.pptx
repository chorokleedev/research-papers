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f253104ff04ac3" /><Relationship Type="http://schemas.openxmlformats.org/officeDocument/2006/relationships/extended-properties" Target="/docProps/app.xml" Id="Rc0c7f3a136144ae4" /><Relationship Type="http://schemas.openxmlformats.org/officeDocument/2006/relationships/officeDocument" Target="/ppt/presentation.xml" Id="R05aaa99813ce4f3b" /></Relationships>
</file>

<file path=ppt/presentation.xml><?xml version="1.0" encoding="utf-8"?>
<p:presentation xmlns:p="http://schemas.openxmlformats.org/presentationml/2006/main">
  <p:sldMasterIdLst>
    <p:sldMasterId xmlns:r="http://schemas.openxmlformats.org/officeDocument/2006/relationships" id="2147483648" r:id="Rf72eb8faa3c149cf"/>
  </p:sldMasterIdLst>
  <p:notesMasterIdLst>
    <p:notesMasterId xmlns:r="http://schemas.openxmlformats.org/officeDocument/2006/relationships" r:id="Rf07b0f03f0da4cb9"/>
  </p:notesMasterIdLst>
  <p:sldIdLst>
    <p:sldId xmlns:r="http://schemas.openxmlformats.org/officeDocument/2006/relationships" id="256" r:id="Rb1a209970f9145f4"/>
    <p:sldId xmlns:r="http://schemas.openxmlformats.org/officeDocument/2006/relationships" id="257" r:id="R1bc82687d6334e67"/>
    <p:sldId xmlns:r="http://schemas.openxmlformats.org/officeDocument/2006/relationships" id="258" r:id="Rea1dea0d947843e4"/>
    <p:sldId xmlns:r="http://schemas.openxmlformats.org/officeDocument/2006/relationships" id="259" r:id="R0d29f1077a7a4f7e"/>
    <p:sldId xmlns:r="http://schemas.openxmlformats.org/officeDocument/2006/relationships" id="260" r:id="R098d0ba8aa044992"/>
    <p:sldId xmlns:r="http://schemas.openxmlformats.org/officeDocument/2006/relationships" id="261" r:id="R8fa89b3c842446db"/>
    <p:sldId xmlns:r="http://schemas.openxmlformats.org/officeDocument/2006/relationships" id="262" r:id="R9e6dfef1fefe4ddb"/>
    <p:sldId xmlns:r="http://schemas.openxmlformats.org/officeDocument/2006/relationships" id="263" r:id="Re63e9845e0234f6f"/>
    <p:sldId xmlns:r="http://schemas.openxmlformats.org/officeDocument/2006/relationships" id="264" r:id="R32a822795da24d1e"/>
    <p:sldId xmlns:r="http://schemas.openxmlformats.org/officeDocument/2006/relationships" id="265" r:id="R8cd8637c501b43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488cc842754755" /><Relationship Type="http://schemas.openxmlformats.org/officeDocument/2006/relationships/slideMaster" Target="/ppt/slideMasters/slideMaster1.xml" Id="Rf72eb8faa3c149cf" /><Relationship Type="http://schemas.openxmlformats.org/officeDocument/2006/relationships/notesMaster" Target="/ppt/notesMasters/notesMaster1.xml" Id="Rf07b0f03f0da4cb9" /><Relationship Type="http://schemas.openxmlformats.org/officeDocument/2006/relationships/presProps" Target="/ppt/presProps.xml" Id="R573b5ab878ad4088" /><Relationship Type="http://schemas.openxmlformats.org/officeDocument/2006/relationships/tableStyles" Target="/ppt/tableStyles.xml" Id="R7c230dcb19804924" /><Relationship Type="http://schemas.openxmlformats.org/officeDocument/2006/relationships/slide" Target="/ppt/slides/slide1.xml" Id="Rb1a209970f9145f4" /><Relationship Type="http://schemas.openxmlformats.org/officeDocument/2006/relationships/slide" Target="/ppt/slides/slide2.xml" Id="R1bc82687d6334e67" /><Relationship Type="http://schemas.openxmlformats.org/officeDocument/2006/relationships/slide" Target="/ppt/slides/slide3.xml" Id="Rea1dea0d947843e4" /><Relationship Type="http://schemas.openxmlformats.org/officeDocument/2006/relationships/slide" Target="/ppt/slides/slide4.xml" Id="R0d29f1077a7a4f7e" /><Relationship Type="http://schemas.openxmlformats.org/officeDocument/2006/relationships/slide" Target="/ppt/slides/slide5.xml" Id="R098d0ba8aa044992" /><Relationship Type="http://schemas.openxmlformats.org/officeDocument/2006/relationships/slide" Target="/ppt/slides/slide6.xml" Id="R8fa89b3c842446db" /><Relationship Type="http://schemas.openxmlformats.org/officeDocument/2006/relationships/slide" Target="/ppt/slides/slide7.xml" Id="R9e6dfef1fefe4ddb" /><Relationship Type="http://schemas.openxmlformats.org/officeDocument/2006/relationships/slide" Target="/ppt/slides/slide8.xml" Id="Re63e9845e0234f6f" /><Relationship Type="http://schemas.openxmlformats.org/officeDocument/2006/relationships/slide" Target="/ppt/slides/slide9.xml" Id="R32a822795da24d1e" /><Relationship Type="http://schemas.openxmlformats.org/officeDocument/2006/relationships/slide" Target="/ppt/slides/slide10.xml" Id="R8cd8637c501b43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231a90c6614f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3e50796c7d49a2" /><Relationship Type="http://schemas.openxmlformats.org/officeDocument/2006/relationships/notesMaster" Target="/ppt/notesMasters/notesMaster1.xml" Id="R7d5c883e755549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f0603fc610479f" /><Relationship Type="http://schemas.openxmlformats.org/officeDocument/2006/relationships/notesMaster" Target="/ppt/notesMasters/notesMaster1.xml" Id="R065ffcb7a3d345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f22c3baf324d13" /><Relationship Type="http://schemas.openxmlformats.org/officeDocument/2006/relationships/notesMaster" Target="/ppt/notesMasters/notesMaster1.xml" Id="R6bcef0f7f5924f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358065f35546c2" /><Relationship Type="http://schemas.openxmlformats.org/officeDocument/2006/relationships/notesMaster" Target="/ppt/notesMasters/notesMaster1.xml" Id="R6ce0c75044214b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c2c73ee88c44bc" /><Relationship Type="http://schemas.openxmlformats.org/officeDocument/2006/relationships/notesMaster" Target="/ppt/notesMasters/notesMaster1.xml" Id="Ra181de00fbe446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9183e0ceaf4722" /><Relationship Type="http://schemas.openxmlformats.org/officeDocument/2006/relationships/notesMaster" Target="/ppt/notesMasters/notesMaster1.xml" Id="Rbef8c2f14f9e46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ef653951bd4b23" /><Relationship Type="http://schemas.openxmlformats.org/officeDocument/2006/relationships/notesMaster" Target="/ppt/notesMasters/notesMaster1.xml" Id="Rbb37bb5b1bfb49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f9cf06f2574a15" /><Relationship Type="http://schemas.openxmlformats.org/officeDocument/2006/relationships/notesMaster" Target="/ppt/notesMasters/notesMaster1.xml" Id="R24685981145546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5d34eddac04547" /><Relationship Type="http://schemas.openxmlformats.org/officeDocument/2006/relationships/notesMaster" Target="/ppt/notesMasters/notesMaster1.xml" Id="Rc8f61141993348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9c6cf33fa24f2d" /><Relationship Type="http://schemas.openxmlformats.org/officeDocument/2006/relationships/notesMaster" Target="/ppt/notesMasters/notesMaster1.xml" Id="Re29a98bc193145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knowledge graph stores facts as a head entity, relation, and tail entity. A completion model answers a query such as a known head and relation with the tail missing. Once a model chooses an answer, an error-ranking system tries to identify which predictions deserve review or abstention. Training-role support is a natural clue: has this entity appeared in this relation's head or tail role before? This paper tests whether that clue has a stable meaning. The answer is nuanced. Learned continuous counts can improve error ranking, including beyond explicit ensemble disagreement. But a fixed penalty for missing support can reverse its ranking direction after the predictor changes. The study therefore centers the predictor, comparator, error definition, and acceptance policy as part of the result, rather than interpreting support as a universal uncertainty quantity.</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https://github.com/ChorokLeeDev/kg-uncertainty-revision/blob/208f21270f44cb5fe1e26a8b0e0b9dbab88f4a18/manuscript.tex — Abstract; §Introduction</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outcome is specific. Freeze a predictor and a candidate policy. For a query consisting of head h and relation r, the model selects a predicted tail. The recorded held-out answers form a target set for that query. The binary error equals one if the selected tail is absent from that set. This is a recovery metric, not a complete factual-truth label: knowledge graphs omit true facts, so an answer can be true but unrecorded. Each grouped query receives equal weight. Endpoint features must be computed at the model's predicted tail, not a hidden correct tail. The paper gives an exact example showing how using the hidden answer could leak information, without claiming that it occurred in another method. Paired score comparisons must keep the predictor, candidates, targets, and queries fixed.</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https://github.com/ChorokLeeDev/kg-uncertainty-revision/blob/208f21270f44cb5fe1e26a8b0e0b9dbab88f4a18/manuscript.tex — §Prediction-error ranking and its information contract</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role distinction matters because the same entity can be well represented as a head for a relation and unseen as its tail. The study records both directional counts from the original training graph. It also forms binary indicators that equal one whenever a count is zero. The raw missing-role score averages those two indicators, giving three possible values: zero, one half, or one. This score assumes that both kinds of missing support should increase estimated error. Learned error heads can instead assign separate coefficients or nonlinear effects. A central information point is simple: when the exact count is already known, its zero indicator contains no additional information. It may still change the approximation of a regularized logistic model. That is a representation or fitting effect, not evidence of a newly discovered uncertainty component.</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https://github.com/ChorokLeeDev/kg-uncertainty-revision/blob/208f21270f44cb5fe1e26a8b0e0b9dbab88f4a18/manuscript.tex — §Training counts and role-support representations; Eq. eq:coverage</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experiments use two static graphs and custom query populations. Training-known answers are excluded from candidates, but held-out facts do not filter operational predictions. The initial models comprise three seeds for each of two architectures on each graph, yielding twelve from-scratch runs. A later stage continues training from six original ComplEx checkpoints with reciprocal relations and a different objective, optimizer, and budget. It therefore adds six warm-start stages, not six independent architecture replications. Finally, the three seeds are grouped into one fixed ensemble for each dataset and model regime. Error scorers include logistic regression and histogram gradient boosting with nested confidence, frequency, disagreement, and role-feature sets. Development partitions separate scorer fitting, selection, and where applicable checkpoint choice. These separations govern individual analyses but do not undo earlier inspection of the same graphs.</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https://github.com/ChorokLeeDev/kg-uncertainty-revision/blob/208f21270f44cb5fe1e26a8b0e0b9dbab88f4a18/empirical_results.tex — §Empirical study: Prediction task; A matched-budget asymmetric predictor check; Reciprocal training; Ensembles</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sharpest counterexample to a universal positive missing-support penalty. On the defined FB15k-237 population, original ComplEx models recover roughly ten percent of recorded targets. After a development-selected continued-training stage, mean recovery accuracy rises to 44.35 percent. Yet the raw missing-role score's error AUROC moves from 0.6893 to 0.3639, below one half in every continued-training run. Thus larger raw missing-support scores no longer rank errors in the assumed direction for these predictions. This does not prove that improving accuracy itself causes reversal. Several training choices change together, and different predicted tails alter support populations. It establishes a measured boundary: a fixed positive penalty does not retain its interpretation across these two regimes. We next ask whether learning from the directional counts can remain useful despite that raw-score failure.</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https://github.com/ChorokLeeDev/kg-uncertainty-revision/blob/208f21270f44cb5fe1e26a8b0e0b9dbab88f4a18/empirical_results.tex — §Empirical study: A more accurate predictor changes the support–error relationship</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failed raw penalty does not imply that role evidence is useless. These comparisons hold each ensemble's predictions fixed and add continuous role counts to an error head that already has confidence, endpoint and relation frequencies, and explicit disagreement measures. The table shows four of the six fixed ensemble tasks, with negative differences indicating lower area under the risk-coverage curve. Logistic and histogram-gradient-boosting heads both benefit on AURC and Brier across all twelve ensemble/head comparisons. These are descriptive results, not twelve independent graph replications. The size of the increment varies substantially by regime. AURC summarizes selective error over a range of answer fractions, whereas Brier evaluates error-probability scoring. Better aggregate values do not ensure lower risk at every operating point. Indeed, the manuscript reports unfavorable risk85 and binary-feature comparisons alongside these positive findings.</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https://github.com/ChorokLeeDev/kg-uncertainty-revision/blob/208f21270f44cb5fe1e26a8b0e0b9dbab88f4a18/empirical_results.tex — §Empirical study: Does role evidence remain useful beyond explicit ensemble disagreement?; Table tab:ensemble-role</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 fixed predictor made only a small number of correct predictions. If we insist on answering eighty-five percent of queries, even a perfect error ranker must retain many mistakes. The hindsight floor computes that minimum possible error after all labels are known. It is useful for interpreting a high absolute risk and the limited space for improvement; it cannot be used operationally. Continuous-count logistic models reach this floor in all twelve original runs. Therefore that particular endpoint cannot support an additional binary-feature advantage over the stronger count comparator. The exact saturation disappears for the continued-training checkpoints, showing that it was regime-specific. Across other losses and answer fractions, feature additions can help or hurt. The lesson is to report the intended operating point and full comparison context, rather than using one favorable risk reduction as evidence of general superiority.</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https://github.com/ChorokLeeDev/kg-uncertainty-revision/blob/208f21270f44cb5fe1e26a8b0e0b9dbab88f4a18/empirical_results.tex — §Empirical study: Measured gains; Role representation; Strong comparator controls in the improved regime</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sensitivity analysis changes the candidate policy, so it must not be described as the same prediction with a better abstention score. Each original DistMult checkpoint is rerun while only training-supported tails are allowed for the relation, still respecting the training-known mask. Error features and scorers are refit for the changed predictions. On FB15k-237, mean observed-target accuracy improves markedly. On WN18RR, it falls. The restriction removes every recorded answer for more than a quarter of WN18RR queries. Those queries remain in the evaluation denominator, making the cost visible rather than dropping difficult cases. The result illustrates the open-world problem: a true held-out fact may use an entity in a role never observed during training. A favorable result on one graph therefore cannot justify a universal support-based filtering rule.</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https://github.com/ChorokLeeDev/kg-uncertainty-revision/blob/208f21270f44cb5fe1e26a8b0e0b9dbab88f4a18/empirical_results.tex — §Empirical study: Changing the prediction policy: training-supported candidates</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batch-ranking experiment fixes how many test predictions are accepted. An operational threshold chosen earlier is different: when scores shift, its test answer rate changes. The paper fixes each DistMult score threshold on development-selection data to give eighty-five percent expected acceptance, then applies the unchanged threshold to test. On FB15k-237, binary augmentation has a lower error ratio but answers 4.55 percentage points fewer queries. On WN18RR, it answers somewhat more and has a slightly higher mean error ratio. These are policies at different achieved answer rates, so their numbers do not establish superiority at an equal service level. Because boundary ties may be randomized, the displayed error is the ratio of expected error and accepted counts, not the expected realized random ratio. No conformal or finite-sample deployment guarantee follows.</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https://github.com/ChorokLeeDev/kg-uncertainty-revision/blob/208f21270f44cb5fe1e26a8b0e0b9dbab88f4a18/empirical_results.tex — §Empirical study: Changing the acceptance policy: development-fixed thresholds</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provides both a caution and a positive contribution. The caution is that a fixed raw missing-support penalty can reverse its error ordering when the predictor regime changes. The positive result is that learned continuous directional counts can improve specified error-ranking and probability-scoring metrics beyond strong baselines, including explicit ensemble disagreement. Neither finding supplies a universal uncertainty decomposition or factual-truth probability. The experiments concern custom static recorded-target populations on two previously inspected graphs. Shared entities, repeated seeds, and warm starts limit independence, and historical headline results are preserved separately as unreproduced. The practical value lies in an inspectable evaluation contract: know what is predicted, which answers are possible, what counts as wrong, and how acceptance is decided. That makes the measured feature benefit meaningful and its limits visible.</a:t>
            </a:r>
          </a:p>
          <a:p xmlns:a="http://schemas.openxmlformats.org/drawingml/2006/main">
            <a:r>
              <a:t/>
            </a:r>
          </a:p>
          <a:p xmlns:a="http://schemas.openxmlformats.org/drawingml/2006/main">
            <a:r>
              <a:t>Sources</a:t>
            </a:r>
          </a:p>
          <a:p xmlns:a="http://schemas.openxmlformats.org/drawingml/2006/main">
            <a:r>
              <a:t>https://github.com/ChorokLeeDev/kg-uncertainty-revision/blob/208f21270f44cb5fe1e26a8b0e0b9dbab88f4a18/manuscript.tex — §Limitations and conclusion; §Empirical study: Reproducibility and remaining scope</a:t>
            </a:r>
          </a:p>
          <a:p xmlns:a="http://schemas.openxmlformats.org/drawingml/2006/main">
            <a:r>
              <a:t>Revision draft 9 · 26 September 2026; empirical_results.tex read with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4b208cd30247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2ec368512c440c" /><Relationship Type="http://schemas.openxmlformats.org/officeDocument/2006/relationships/slideLayout" Target="/ppt/slideLayouts/slideLayout1.xml" Id="R9cd41b48fd204d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d41b48fd204d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76658128b2413e" /><Relationship Type="http://schemas.openxmlformats.org/officeDocument/2006/relationships/notesSlide" Target="/ppt/notesSlides/notesSlide1.xml" Id="Ra7237e6e225d4c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d80c2b35444a4a" /><Relationship Type="http://schemas.openxmlformats.org/officeDocument/2006/relationships/notesSlide" Target="/ppt/notesSlides/notesSlide2.xml" Id="R4e7e4f1b52bf49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6d87ef04f142cc" /><Relationship Type="http://schemas.openxmlformats.org/officeDocument/2006/relationships/notesSlide" Target="/ppt/notesSlides/notesSlide3.xml" Id="R3b336b446f1340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6daef3b9d44e3a" /><Relationship Type="http://schemas.openxmlformats.org/officeDocument/2006/relationships/notesSlide" Target="/ppt/notesSlides/notesSlide4.xml" Id="R699fe58b0a2845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8a651531b341a7" /><Relationship Type="http://schemas.openxmlformats.org/officeDocument/2006/relationships/notesSlide" Target="/ppt/notesSlides/notesSlide5.xml" Id="R0de5a22d6f7548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f2349ee548477d" /><Relationship Type="http://schemas.openxmlformats.org/officeDocument/2006/relationships/notesSlide" Target="/ppt/notesSlides/notesSlide6.xml" Id="R0b3fa442d0874a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8825b36d7c4b20" /><Relationship Type="http://schemas.openxmlformats.org/officeDocument/2006/relationships/notesSlide" Target="/ppt/notesSlides/notesSlide7.xml" Id="Re4be379eba0a47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76d079217f41c5" /><Relationship Type="http://schemas.openxmlformats.org/officeDocument/2006/relationships/notesSlide" Target="/ppt/notesSlides/notesSlide8.xml" Id="R929a2e9360aa43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12df0fad3a49cb" /><Relationship Type="http://schemas.openxmlformats.org/officeDocument/2006/relationships/notesSlide" Target="/ppt/notesSlides/notesSlide9.xml" Id="R180fb3bed2aa43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c48a90df104a15" /><Relationship Type="http://schemas.openxmlformats.org/officeDocument/2006/relationships/notesSlide" Target="/ppt/notesSlides/notesSlide10.xml" Id="R505694e9bd76482c"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KNOWLEDGE GRAPHS AND ERROR DIAGNOSIS">
            <a:extLst xmlns:a="http://schemas.openxmlformats.org/drawingml/2006/main">
              <a:ext uri="{FF2B5EF4-FFF2-40B4-BE49-F238E27FC236}">
                <a16:creationId xmlns:a16="http://schemas.microsoft.com/office/drawing/2014/main" id="{6CDA6DB3-750A-49D0-8EF2-4C05C20B3D60}"/>
              </a:ext>
            </a:extLst>
          </p:cNvPr>
          <p:cNvSpPr>
            <a:spLocks xmlns:a="http://schemas.openxmlformats.org/drawingml/2006/main" noGrp="1"/>
          </p:cNvSpPr>
          <p:nvPr/>
        </p:nvSpPr>
        <p:spPr>
          <a:xfrm xmlns:a="http://schemas.openxmlformats.org/drawingml/2006/main">
            <a:off x="666750" y="6477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9DCFD0"/>
                </a:solidFill>
                <a:latin typeface="Noto Sans"/>
                <a:ea typeface="Noto Sans"/>
                <a:cs typeface="Noto Sans"/>
              </a:defRPr>
            </a:pPr>
            <a:r>
              <a:rPr sz="1500" b="1">
                <a:solidFill>
                  <a:srgbClr val="9DCFD0"/>
                </a:solidFill>
                <a:latin typeface="Noto Sans"/>
                <a:ea typeface="Noto Sans"/>
                <a:cs typeface="Noto Sans"/>
              </a:rPr>
              <a:t>KNOWLEDGE GRAPHS AND ERROR DIAGNOSIS</a:t>
            </a:r>
          </a:p>
        </p:txBody>
      </p:sp>
      <p:sp>
        <p:nvSpPr>
          <p:cNvPr id="2" name="Role Support in Knowledge-Graph Error Ranking">
            <a:extLst xmlns:a="http://schemas.openxmlformats.org/drawingml/2006/main">
              <a:ext uri="{FF2B5EF4-FFF2-40B4-BE49-F238E27FC236}">
                <a16:creationId xmlns:a16="http://schemas.microsoft.com/office/drawing/2014/main" id="{54AB4F23-8F7F-496D-AE6D-8F3E490ECF50}"/>
              </a:ext>
            </a:extLst>
          </p:cNvPr>
          <p:cNvSpPr>
            <a:spLocks xmlns:a="http://schemas.openxmlformats.org/drawingml/2006/main" noGrp="1"/>
          </p:cNvSpPr>
          <p:nvPr/>
        </p:nvSpPr>
        <p:spPr>
          <a:xfrm xmlns:a="http://schemas.openxmlformats.org/drawingml/2006/main">
            <a:off x="666750" y="1571625"/>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Noto Sans"/>
                <a:ea typeface="Noto Sans"/>
                <a:cs typeface="Noto Sans"/>
              </a:defRPr>
            </a:pPr>
            <a:r>
              <a:rPr sz="4350" b="1">
                <a:solidFill>
                  <a:srgbClr val="FFFFFF"/>
                </a:solidFill>
                <a:latin typeface="Noto Sans"/>
                <a:ea typeface="Noto Sans"/>
                <a:cs typeface="Noto Sans"/>
              </a:rPr>
              <a:t>Role Support in Knowledge-Graph Error Ranking: Predictor Regimes and Evaluation Policies</a:t>
            </a:r>
          </a:p>
        </p:txBody>
      </p:sp>
      <p:sp>
        <p:nvSpPr>
          <p:cNvPr id="3" name="Chorok Lee">
            <a:extLst xmlns:a="http://schemas.openxmlformats.org/drawingml/2006/main">
              <a:ext uri="{FF2B5EF4-FFF2-40B4-BE49-F238E27FC236}">
                <a16:creationId xmlns:a16="http://schemas.microsoft.com/office/drawing/2014/main" id="{7CAC2313-BD72-4FA9-A83E-7B32C757E4D4}"/>
              </a:ext>
            </a:extLst>
          </p:cNvPr>
          <p:cNvSpPr>
            <a:spLocks xmlns:a="http://schemas.openxmlformats.org/drawingml/2006/main" noGrp="1"/>
          </p:cNvSpPr>
          <p:nvPr/>
        </p:nvSpPr>
        <p:spPr>
          <a:xfrm xmlns:a="http://schemas.openxmlformats.org/drawingml/2006/main">
            <a:off x="666750" y="5572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FFFFFF"/>
                </a:solidFill>
                <a:latin typeface="Noto Sans"/>
                <a:ea typeface="Noto Sans"/>
                <a:cs typeface="Noto Sans"/>
              </a:defRPr>
            </a:pPr>
            <a:r>
              <a:rPr sz="2025" b="1">
                <a:solidFill>
                  <a:srgbClr val="FFFFFF"/>
                </a:solidFill>
                <a:latin typeface="Noto Sans"/>
                <a:ea typeface="Noto Sans"/>
                <a:cs typeface="Noto Sans"/>
              </a:rPr>
              <a:t>Chorok Lee</a:t>
            </a:r>
          </a:p>
        </p:txBody>
      </p:sp>
      <p:sp>
        <p:nvSpPr>
          <p:cNvPr id="4" name="KAIST">
            <a:extLst xmlns:a="http://schemas.openxmlformats.org/drawingml/2006/main">
              <a:ext uri="{FF2B5EF4-FFF2-40B4-BE49-F238E27FC236}">
                <a16:creationId xmlns:a16="http://schemas.microsoft.com/office/drawing/2014/main" id="{7376F559-7C2B-4F7E-9273-260C442BBB21}"/>
              </a:ext>
            </a:extLst>
          </p:cNvPr>
          <p:cNvSpPr>
            <a:spLocks xmlns:a="http://schemas.openxmlformats.org/drawingml/2006/main" noGrp="1"/>
          </p:cNvSpPr>
          <p:nvPr/>
        </p:nvSpPr>
        <p:spPr>
          <a:xfrm xmlns:a="http://schemas.openxmlformats.org/drawingml/2006/main">
            <a:off x="666750" y="59626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C0D2DC"/>
                </a:solidFill>
                <a:latin typeface="Noto Sans"/>
                <a:ea typeface="Noto Sans"/>
                <a:cs typeface="Noto Sans"/>
              </a:defRPr>
            </a:pPr>
            <a:r>
              <a:rPr sz="1725" b="0">
                <a:solidFill>
                  <a:srgbClr val="C0D2DC"/>
                </a:solidFill>
                <a:latin typeface="Noto Sans"/>
                <a:ea typeface="Noto Sans"/>
                <a:cs typeface="Noto Sans"/>
              </a:rPr>
              <a:t>KAIST</a:t>
            </a:r>
          </a:p>
        </p:txBody>
      </p:sp>
      <p:sp>
        <p:nvSpPr>
          <p:cNvPr id="5" name="Role support and KG error ranking">
            <a:extLst xmlns:a="http://schemas.openxmlformats.org/drawingml/2006/main">
              <a:ext uri="{FF2B5EF4-FFF2-40B4-BE49-F238E27FC236}">
                <a16:creationId xmlns:a16="http://schemas.microsoft.com/office/drawing/2014/main" id="{21C3475A-B2F8-4480-93B8-713A599867E3}"/>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Role support and KG error ranking</a:t>
            </a:r>
          </a:p>
        </p:txBody>
      </p:sp>
      <p:sp>
        <p:nvSpPr>
          <p:cNvPr id="6" name="01 / 10">
            <a:extLst xmlns:a="http://schemas.openxmlformats.org/drawingml/2006/main">
              <a:ext uri="{FF2B5EF4-FFF2-40B4-BE49-F238E27FC236}">
                <a16:creationId xmlns:a16="http://schemas.microsoft.com/office/drawing/2014/main" id="{C9654CDD-91A3-4F9B-B981-EFE36F3D904E}"/>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01 / 10</a:t>
            </a:r>
          </a:p>
        </p:txBody>
      </p:sp>
    </p:spTree>
    <p:extLst>
      <p:ext uri="{BB962C8B-B14F-4D97-AF65-F5344CB8AC3E}">
        <p14:creationId xmlns:p14="http://schemas.microsoft.com/office/powerpoint/2010/main" val="11856114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irst define what counts as an error">
            <a:extLst xmlns:a="http://schemas.openxmlformats.org/drawingml/2006/main">
              <a:ext uri="{FF2B5EF4-FFF2-40B4-BE49-F238E27FC236}">
                <a16:creationId xmlns:a16="http://schemas.microsoft.com/office/drawing/2014/main" id="{A8F1EAF9-41B4-475E-B864-E260F7309DAD}"/>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First define what counts as an error</a:t>
            </a:r>
          </a:p>
        </p:txBody>
      </p:sp>
      <p:sp>
        <p:nvSpPr>
          <p:cNvPr id="2" name="The study scores recovery of recorded held-ou">
            <a:extLst xmlns:a="http://schemas.openxmlformats.org/drawingml/2006/main">
              <a:ext uri="{FF2B5EF4-FFF2-40B4-BE49-F238E27FC236}">
                <a16:creationId xmlns:a16="http://schemas.microsoft.com/office/drawing/2014/main" id="{15D03DBF-3BC7-417D-94DE-353C0EDFCFB5}"/>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152A3"/>
                </a:solidFill>
                <a:latin typeface="Noto Sans"/>
                <a:ea typeface="Noto Sans"/>
                <a:cs typeface="Noto Sans"/>
              </a:defRPr>
            </a:pPr>
            <a:r>
              <a:rPr sz="2175" b="0">
                <a:solidFill>
                  <a:srgbClr val="7152A3"/>
                </a:solidFill>
                <a:latin typeface="Noto Sans"/>
                <a:ea typeface="Noto Sans"/>
                <a:cs typeface="Noto Sans"/>
              </a:rPr>
              <a:t>The study scores recovery of recorded held-out answers.</a:t>
            </a:r>
          </a:p>
        </p:txBody>
      </p:sp>
      <p:sp>
        <p:nvSpPr>
          <p:cNvPr id="3" name="Error = 1 if predicted tail is absent from re">
            <a:extLst xmlns:a="http://schemas.openxmlformats.org/drawingml/2006/main">
              <a:ext uri="{FF2B5EF4-FFF2-40B4-BE49-F238E27FC236}">
                <a16:creationId xmlns:a16="http://schemas.microsoft.com/office/drawing/2014/main" id="{BDECED83-A5B3-4AD0-A7BC-FCF432D1B1D0}"/>
              </a:ext>
            </a:extLst>
          </p:cNvPr>
          <p:cNvSpPr>
            <a:spLocks xmlns:a="http://schemas.openxmlformats.org/drawingml/2006/main" noGrp="1"/>
          </p:cNvSpPr>
          <p:nvPr/>
        </p:nvSpPr>
        <p:spPr>
          <a:xfrm xmlns:a="http://schemas.openxmlformats.org/drawingml/2006/main">
            <a:off x="666750" y="26098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7152A3"/>
                </a:solidFill>
                <a:latin typeface="Noto Sans"/>
                <a:ea typeface="Noto Sans"/>
                <a:cs typeface="Noto Sans"/>
              </a:defRPr>
            </a:pPr>
            <a:r>
              <a:rPr sz="3225" b="1">
                <a:solidFill>
                  <a:srgbClr val="7152A3"/>
                </a:solidFill>
                <a:latin typeface="Noto Sans"/>
                <a:ea typeface="Noto Sans"/>
                <a:cs typeface="Noto Sans"/>
              </a:rPr>
              <a:t>Error = 1 if predicted tail is absent from recorded targets</a:t>
            </a:r>
          </a:p>
        </p:txBody>
      </p:sp>
      <p:sp>
        <p:nvSpPr>
          <p:cNvPr id="4" name="">
            <a:extLst xmlns:a="http://schemas.openxmlformats.org/drawingml/2006/main">
              <a:ext uri="{FF2B5EF4-FFF2-40B4-BE49-F238E27FC236}">
                <a16:creationId xmlns:a16="http://schemas.microsoft.com/office/drawing/2014/main" id="{6417A9EE-AF58-491B-A4FE-610FCADC713D}"/>
              </a:ext>
            </a:extLst>
          </p:cNvPr>
          <p:cNvSpPr>
            <a:spLocks xmlns:a="http://schemas.openxmlformats.org/drawingml/2006/main" noGrp="1"/>
          </p:cNvSpPr>
          <p:nvPr/>
        </p:nvSpPr>
        <p:spPr>
          <a:xfrm xmlns:a="http://schemas.openxmlformats.org/drawingml/2006/main">
            <a:off x="666750" y="4181475"/>
            <a:ext cx="10858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T is the set of recorded held-out answers for one query.</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An unrecorded true answer can still count as an observed-target error.</a:t>
            </a:r>
          </a:p>
          <a:p xmlns:a="http://schemas.openxmlformats.org/drawingml/2006/main">
            <a:pPr marL="241300" indent="-127000">
              <a:spcAft>
                <a:spcPts val="1400"/>
              </a:spcAft>
              <a:buChar char="•"/>
              <a:defRPr sz="2025" b="0">
                <a:solidFill>
                  <a:srgbClr val="354F62"/>
                </a:solidFill>
                <a:latin typeface="Noto Sans"/>
                <a:ea typeface="Noto Sans"/>
                <a:cs typeface="Noto Sans"/>
              </a:defRPr>
            </a:pPr>
            <a:r>
              <a:rPr sz="2025" b="0">
                <a:solidFill>
                  <a:srgbClr val="354F62"/>
                </a:solidFill>
                <a:latin typeface="Noto Sans"/>
                <a:ea typeface="Noto Sans"/>
                <a:cs typeface="Noto Sans"/>
              </a:rPr>
              <a:t>Features use the predicted tail; hidden answers cannot enter the decision.</a:t>
            </a:r>
          </a:p>
        </p:txBody>
      </p:sp>
      <p:sp>
        <p:nvSpPr>
          <p:cNvPr id="5" name="Role support and KG error ranking">
            <a:extLst xmlns:a="http://schemas.openxmlformats.org/drawingml/2006/main">
              <a:ext uri="{FF2B5EF4-FFF2-40B4-BE49-F238E27FC236}">
                <a16:creationId xmlns:a16="http://schemas.microsoft.com/office/drawing/2014/main" id="{94248AD1-5458-43F1-85A2-2544CE85C409}"/>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Role support and KG error ranking</a:t>
            </a:r>
          </a:p>
        </p:txBody>
      </p:sp>
      <p:sp>
        <p:nvSpPr>
          <p:cNvPr id="6" name="02 / 10">
            <a:extLst xmlns:a="http://schemas.openxmlformats.org/drawingml/2006/main">
              <a:ext uri="{FF2B5EF4-FFF2-40B4-BE49-F238E27FC236}">
                <a16:creationId xmlns:a16="http://schemas.microsoft.com/office/drawing/2014/main" id="{C9EB347D-4BCE-4E6B-8922-592FE707A78F}"/>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02 / 10</a:t>
            </a:r>
          </a:p>
        </p:txBody>
      </p:sp>
    </p:spTree>
    <p:extLst>
      <p:ext uri="{BB962C8B-B14F-4D97-AF65-F5344CB8AC3E}">
        <p14:creationId xmlns:p14="http://schemas.microsoft.com/office/powerpoint/2010/main" val="12744170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unts and missing-role bits are different re">
            <a:extLst xmlns:a="http://schemas.openxmlformats.org/drawingml/2006/main">
              <a:ext uri="{FF2B5EF4-FFF2-40B4-BE49-F238E27FC236}">
                <a16:creationId xmlns:a16="http://schemas.microsoft.com/office/drawing/2014/main" id="{D7385BB9-2D15-4674-B49B-97583A471D37}"/>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Counts and missing-role bits are different representations</a:t>
            </a:r>
          </a:p>
        </p:txBody>
      </p:sp>
      <p:sp>
        <p:nvSpPr>
          <p:cNvPr id="2" name="A zero-count indicator is determined by its c">
            <a:extLst xmlns:a="http://schemas.openxmlformats.org/drawingml/2006/main">
              <a:ext uri="{FF2B5EF4-FFF2-40B4-BE49-F238E27FC236}">
                <a16:creationId xmlns:a16="http://schemas.microsoft.com/office/drawing/2014/main" id="{164A2A8F-6543-4EC2-9482-87445645AA0E}"/>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152A3"/>
                </a:solidFill>
                <a:latin typeface="Noto Sans"/>
                <a:ea typeface="Noto Sans"/>
                <a:cs typeface="Noto Sans"/>
              </a:defRPr>
            </a:pPr>
            <a:r>
              <a:rPr sz="2175" b="0">
                <a:solidFill>
                  <a:srgbClr val="7152A3"/>
                </a:solidFill>
                <a:latin typeface="Noto Sans"/>
                <a:ea typeface="Noto Sans"/>
                <a:cs typeface="Noto Sans"/>
              </a:rPr>
              <a:t>A zero-count indicator is determined by its count; it adds no new information.</a:t>
            </a:r>
          </a:p>
        </p:txBody>
      </p:sp>
      <p:sp>
        <p:nvSpPr>
          <p:cNvPr id="3" name="Head-role count">
            <a:extLst xmlns:a="http://schemas.openxmlformats.org/drawingml/2006/main">
              <a:ext uri="{FF2B5EF4-FFF2-40B4-BE49-F238E27FC236}">
                <a16:creationId xmlns:a16="http://schemas.microsoft.com/office/drawing/2014/main" id="{F347AF58-A1B8-4CB6-879A-FD2FFC0BA33A}"/>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152A3"/>
                </a:solidFill>
                <a:latin typeface="Noto Sans"/>
                <a:ea typeface="Noto Sans"/>
                <a:cs typeface="Noto Sans"/>
              </a:defRPr>
            </a:pPr>
            <a:r>
              <a:rPr sz="2100" b="1">
                <a:solidFill>
                  <a:srgbClr val="7152A3"/>
                </a:solidFill>
                <a:latin typeface="Noto Sans"/>
                <a:ea typeface="Noto Sans"/>
                <a:cs typeface="Noto Sans"/>
              </a:rPr>
              <a:t>Head-role count</a:t>
            </a:r>
          </a:p>
        </p:txBody>
      </p:sp>
      <p:sp>
        <p:nvSpPr>
          <p:cNvPr id="4" name="nH(h,r) counts training triples where h appea">
            <a:extLst xmlns:a="http://schemas.openxmlformats.org/drawingml/2006/main">
              <a:ext uri="{FF2B5EF4-FFF2-40B4-BE49-F238E27FC236}">
                <a16:creationId xmlns:a16="http://schemas.microsoft.com/office/drawing/2014/main" id="{DEF86209-49F5-45AC-8AFA-B9617685DCCD}"/>
              </a:ext>
            </a:extLst>
          </p:cNvPr>
          <p:cNvSpPr>
            <a:spLocks xmlns:a="http://schemas.openxmlformats.org/drawingml/2006/main" noGrp="1"/>
          </p:cNvSpPr>
          <p:nvPr/>
        </p:nvSpPr>
        <p:spPr>
          <a:xfrm xmlns:a="http://schemas.openxmlformats.org/drawingml/2006/main">
            <a:off x="666750" y="3276600"/>
            <a:ext cx="3289300" cy="981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nH(h,r) counts training triples where h appears as the head of relation r.</a:t>
            </a:r>
          </a:p>
        </p:txBody>
      </p:sp>
      <p:sp>
        <p:nvSpPr>
          <p:cNvPr id="5" name="Tail-role count">
            <a:extLst xmlns:a="http://schemas.openxmlformats.org/drawingml/2006/main">
              <a:ext uri="{FF2B5EF4-FFF2-40B4-BE49-F238E27FC236}">
                <a16:creationId xmlns:a16="http://schemas.microsoft.com/office/drawing/2014/main" id="{AD5CF08D-5D2B-43CF-B1E2-2E75FFD1A46B}"/>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152A3"/>
                </a:solidFill>
                <a:latin typeface="Noto Sans"/>
                <a:ea typeface="Noto Sans"/>
                <a:cs typeface="Noto Sans"/>
              </a:defRPr>
            </a:pPr>
            <a:r>
              <a:rPr sz="2100" b="1">
                <a:solidFill>
                  <a:srgbClr val="7152A3"/>
                </a:solidFill>
                <a:latin typeface="Noto Sans"/>
                <a:ea typeface="Noto Sans"/>
                <a:cs typeface="Noto Sans"/>
              </a:rPr>
              <a:t>Tail-role count</a:t>
            </a:r>
          </a:p>
        </p:txBody>
      </p:sp>
      <p:sp>
        <p:nvSpPr>
          <p:cNvPr id="6" name="nT(t̂,r) counts training triples where the pr">
            <a:extLst xmlns:a="http://schemas.openxmlformats.org/drawingml/2006/main">
              <a:ext uri="{FF2B5EF4-FFF2-40B4-BE49-F238E27FC236}">
                <a16:creationId xmlns:a16="http://schemas.microsoft.com/office/drawing/2014/main" id="{5B526871-FFFE-410B-960B-3C39F61FA0A2}"/>
              </a:ext>
            </a:extLst>
          </p:cNvPr>
          <p:cNvSpPr>
            <a:spLocks xmlns:a="http://schemas.openxmlformats.org/drawingml/2006/main" noGrp="1"/>
          </p:cNvSpPr>
          <p:nvPr/>
        </p:nvSpPr>
        <p:spPr>
          <a:xfrm xmlns:a="http://schemas.openxmlformats.org/drawingml/2006/main">
            <a:off x="44513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nT(t̂,r) counts training triples where the predicted tail appears in the tail role of relation r.</a:t>
            </a:r>
          </a:p>
        </p:txBody>
      </p:sp>
      <p:sp>
        <p:nvSpPr>
          <p:cNvPr id="7" name="Missing-role bits">
            <a:extLst xmlns:a="http://schemas.openxmlformats.org/drawingml/2006/main">
              <a:ext uri="{FF2B5EF4-FFF2-40B4-BE49-F238E27FC236}">
                <a16:creationId xmlns:a16="http://schemas.microsoft.com/office/drawing/2014/main" id="{741E10D8-F821-4BCE-B7A1-3464D4B5361E}"/>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152A3"/>
                </a:solidFill>
                <a:latin typeface="Noto Sans"/>
                <a:ea typeface="Noto Sans"/>
                <a:cs typeface="Noto Sans"/>
              </a:defRPr>
            </a:pPr>
            <a:r>
              <a:rPr sz="2100" b="1">
                <a:solidFill>
                  <a:srgbClr val="7152A3"/>
                </a:solidFill>
                <a:latin typeface="Noto Sans"/>
                <a:ea typeface="Noto Sans"/>
                <a:cs typeface="Noto Sans"/>
              </a:rPr>
              <a:t>Missing-role bits</a:t>
            </a:r>
          </a:p>
        </p:txBody>
      </p:sp>
      <p:sp>
        <p:nvSpPr>
          <p:cNvPr id="8" name="bH = 1[nH = 0] and bT = 1[nT = 0]. An explici">
            <a:extLst xmlns:a="http://schemas.openxmlformats.org/drawingml/2006/main">
              <a:ext uri="{FF2B5EF4-FFF2-40B4-BE49-F238E27FC236}">
                <a16:creationId xmlns:a16="http://schemas.microsoft.com/office/drawing/2014/main" id="{C2AFE194-F766-4FCA-B9CC-44A66FC49C50}"/>
              </a:ext>
            </a:extLst>
          </p:cNvPr>
          <p:cNvSpPr>
            <a:spLocks xmlns:a="http://schemas.openxmlformats.org/drawingml/2006/main" noGrp="1"/>
          </p:cNvSpPr>
          <p:nvPr/>
        </p:nvSpPr>
        <p:spPr>
          <a:xfrm xmlns:a="http://schemas.openxmlformats.org/drawingml/2006/main">
            <a:off x="82359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bH = 1[nH = 0] and bT = 1[nT = 0]. An explicit bit can change a fitted model without adding conditional information.</a:t>
            </a:r>
          </a:p>
        </p:txBody>
      </p:sp>
      <p:sp>
        <p:nvSpPr>
          <p:cNvPr id="9" name="">
            <a:extLst xmlns:a="http://schemas.openxmlformats.org/drawingml/2006/main">
              <a:ext uri="{FF2B5EF4-FFF2-40B4-BE49-F238E27FC236}">
                <a16:creationId xmlns:a16="http://schemas.microsoft.com/office/drawing/2014/main" id="{61287897-1DED-4842-B20A-67EB672BCCB9}"/>
              </a:ext>
            </a:extLst>
          </p:cNvPr>
          <p:cNvSpPr>
            <a:spLocks xmlns:a="http://schemas.openxmlformats.org/drawingml/2006/main" noGrp="1"/>
          </p:cNvSpPr>
          <p:nvPr/>
        </p:nvSpPr>
        <p:spPr>
          <a:xfrm xmlns:a="http://schemas.openxmlformats.org/drawingml/2006/main">
            <a:off x="666750" y="523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raw score U = (bH + bT) / 2 penalizes both missing roles equally.</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An incomplete graph cannot establish falsehood from training absence.</a:t>
            </a:r>
          </a:p>
        </p:txBody>
      </p:sp>
      <p:sp>
        <p:nvSpPr>
          <p:cNvPr id="10" name="Role support and KG error ranking">
            <a:extLst xmlns:a="http://schemas.openxmlformats.org/drawingml/2006/main">
              <a:ext uri="{FF2B5EF4-FFF2-40B4-BE49-F238E27FC236}">
                <a16:creationId xmlns:a16="http://schemas.microsoft.com/office/drawing/2014/main" id="{2979CB0D-BFB3-43CF-9C99-91C7BA584727}"/>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Role support and KG error ranking</a:t>
            </a:r>
          </a:p>
        </p:txBody>
      </p:sp>
      <p:sp>
        <p:nvSpPr>
          <p:cNvPr id="11" name="03 / 10">
            <a:extLst xmlns:a="http://schemas.openxmlformats.org/drawingml/2006/main">
              <a:ext uri="{FF2B5EF4-FFF2-40B4-BE49-F238E27FC236}">
                <a16:creationId xmlns:a16="http://schemas.microsoft.com/office/drawing/2014/main" id="{6489A331-D1E0-4C40-B0D6-B4BFE4727A2F}"/>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03 / 10</a:t>
            </a:r>
          </a:p>
        </p:txBody>
      </p:sp>
    </p:spTree>
    <p:extLst>
      <p:ext uri="{BB962C8B-B14F-4D97-AF65-F5344CB8AC3E}">
        <p14:creationId xmlns:p14="http://schemas.microsoft.com/office/powerpoint/2010/main" val="20617292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 audit across predictors and scorers">
            <a:extLst xmlns:a="http://schemas.openxmlformats.org/drawingml/2006/main">
              <a:ext uri="{FF2B5EF4-FFF2-40B4-BE49-F238E27FC236}">
                <a16:creationId xmlns:a16="http://schemas.microsoft.com/office/drawing/2014/main" id="{3FB6F4BC-85D9-4BEC-81ED-120554DBA179}"/>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An audit across predictors and scorers</a:t>
            </a:r>
          </a:p>
        </p:txBody>
      </p:sp>
      <p:sp>
        <p:nvSpPr>
          <p:cNvPr id="2" name="Every score comparison conditions on a define">
            <a:extLst xmlns:a="http://schemas.openxmlformats.org/drawingml/2006/main">
              <a:ext uri="{FF2B5EF4-FFF2-40B4-BE49-F238E27FC236}">
                <a16:creationId xmlns:a16="http://schemas.microsoft.com/office/drawing/2014/main" id="{81C41344-D99C-4FB2-AE82-474CB1F9A593}"/>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152A3"/>
                </a:solidFill>
                <a:latin typeface="Noto Sans"/>
                <a:ea typeface="Noto Sans"/>
                <a:cs typeface="Noto Sans"/>
              </a:defRPr>
            </a:pPr>
            <a:r>
              <a:rPr sz="2175" b="0">
                <a:solidFill>
                  <a:srgbClr val="7152A3"/>
                </a:solidFill>
                <a:latin typeface="Noto Sans"/>
                <a:ea typeface="Noto Sans"/>
                <a:cs typeface="Noto Sans"/>
              </a:rPr>
              <a:t>Every score comparison conditions on a defined prediction population.</a:t>
            </a:r>
          </a:p>
        </p:txBody>
      </p:sp>
      <p:graphicFrame>
        <p:nvGraphicFramePr>
          <p:cNvPr id="9" name=""/>
          <p:cNvGraphicFramePr/>
          <p:nvPr/>
        </p:nvGraphicFramePr>
        <p:xfrm>
          <a:off xmlns:a="http://schemas.openxmlformats.org/drawingml/2006/main" x="666750" y="2514600"/>
          <a:ext xmlns:a="http://schemas.openxmlformats.org/drawingml/2006/main" cx="10858500" cy="2540508"/>
        </p:xfrm>
        <a:graphic xmlns:a="http://schemas.openxmlformats.org/drawingml/2006/main">
          <a:graphicData uri="http://schemas.openxmlformats.org/drawingml/2006/table">
            <a:tbl>
              <a:tblPr firstRow="1" bandRow="0"/>
              <a:tblGrid>
                <a:gridCol w="5069137"/>
                <a:gridCol w="5789363"/>
              </a:tblGrid>
              <a:tr h="483108">
                <a:tc>
                  <a:txBody>
                    <a:bodyPr/>
                    <a:lstStyle/>
                    <a:p>
                      <a:r>
                        <a:rPr sz="1800" b="1">
                          <a:solidFill>
                            <a:srgbClr val="FFFFFF"/>
                          </a:solidFill>
                          <a:latin typeface="Noto Sans"/>
                          <a:ea typeface="Noto Sans"/>
                          <a:cs typeface="Noto Sans"/>
                        </a:rPr>
                        <a:t>Component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Executed scope</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Static graphs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FB15k-237; WN18RR</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From-scratch predictors</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12 DistMult / ComplEx runs</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Continued training</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6 warm-start ComplEx stages</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Ensembles</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6 fixed three-member ensembles</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DF430F20-368F-42EB-A3FD-CD0EB73BF989}"/>
              </a:ext>
            </a:extLst>
          </p:cNvPr>
          <p:cNvSpPr>
            <a:spLocks xmlns:a="http://schemas.openxmlformats.org/drawingml/2006/main" noGrp="1"/>
          </p:cNvSpPr>
          <p:nvPr/>
        </p:nvSpPr>
        <p:spPr>
          <a:xfrm xmlns:a="http://schemas.openxmlformats.org/drawingml/2006/main">
            <a:off x="666750" y="5226558"/>
            <a:ext cx="10858500" cy="1174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Original test populations: 10,301 and 2,689 grouped queries.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Shared graphs, seeds, and warm starts are not independent replications.</a:t>
            </a:r>
          </a:p>
        </p:txBody>
      </p:sp>
      <p:sp>
        <p:nvSpPr>
          <p:cNvPr id="5" name="Role support and KG error ranking">
            <a:extLst xmlns:a="http://schemas.openxmlformats.org/drawingml/2006/main">
              <a:ext uri="{FF2B5EF4-FFF2-40B4-BE49-F238E27FC236}">
                <a16:creationId xmlns:a16="http://schemas.microsoft.com/office/drawing/2014/main" id="{5121EBE1-AF2A-4E08-8163-17D3C68F0D95}"/>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Role support and KG error ranking</a:t>
            </a:r>
          </a:p>
        </p:txBody>
      </p:sp>
      <p:sp>
        <p:nvSpPr>
          <p:cNvPr id="6" name="04 / 10">
            <a:extLst xmlns:a="http://schemas.openxmlformats.org/drawingml/2006/main">
              <a:ext uri="{FF2B5EF4-FFF2-40B4-BE49-F238E27FC236}">
                <a16:creationId xmlns:a16="http://schemas.microsoft.com/office/drawing/2014/main" id="{B48C296C-AF0E-40AC-AD55-F82847D6C9A3}"/>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04 / 10</a:t>
            </a:r>
          </a:p>
        </p:txBody>
      </p:sp>
    </p:spTree>
    <p:extLst>
      <p:ext uri="{BB962C8B-B14F-4D97-AF65-F5344CB8AC3E}">
        <p14:creationId xmlns:p14="http://schemas.microsoft.com/office/powerpoint/2010/main" val="5680028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raw missing-support score reverses direct">
            <a:extLst xmlns:a="http://schemas.openxmlformats.org/drawingml/2006/main">
              <a:ext uri="{FF2B5EF4-FFF2-40B4-BE49-F238E27FC236}">
                <a16:creationId xmlns:a16="http://schemas.microsoft.com/office/drawing/2014/main" id="{2E33F888-C5DC-46E8-897A-965744F3C03D}"/>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raw missing-support score reverses direction</a:t>
            </a:r>
          </a:p>
        </p:txBody>
      </p:sp>
      <p:sp>
        <p:nvSpPr>
          <p:cNvPr id="2" name="Across two FB15k-237 training regimes, higher">
            <a:extLst xmlns:a="http://schemas.openxmlformats.org/drawingml/2006/main">
              <a:ext uri="{FF2B5EF4-FFF2-40B4-BE49-F238E27FC236}">
                <a16:creationId xmlns:a16="http://schemas.microsoft.com/office/drawing/2014/main" id="{12CBEF6C-1A4D-4AF5-9E82-8AEC54FBF46B}"/>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152A3"/>
                </a:solidFill>
                <a:latin typeface="Noto Sans"/>
                <a:ea typeface="Noto Sans"/>
                <a:cs typeface="Noto Sans"/>
              </a:defRPr>
            </a:pPr>
            <a:r>
              <a:rPr sz="2175" b="0">
                <a:solidFill>
                  <a:srgbClr val="7152A3"/>
                </a:solidFill>
                <a:latin typeface="Noto Sans"/>
                <a:ea typeface="Noto Sans"/>
                <a:cs typeface="Noto Sans"/>
              </a:rPr>
              <a:t>Across two FB15k-237 training regimes, higher accuracy accompanies a reversal in raw-score ranking.</a:t>
            </a:r>
          </a:p>
        </p:txBody>
      </p:sp>
      <p:graphicFrame>
        <p:nvGraphicFramePr>
          <p:cNvPr id="9" name=""/>
          <p:cNvGraphicFramePr/>
          <p:nvPr/>
        </p:nvGraphicFramePr>
        <p:xfrm>
          <a:off xmlns:a="http://schemas.openxmlformats.org/drawingml/2006/main" x="666750" y="2514600"/>
          <a:ext xmlns:a="http://schemas.openxmlformats.org/drawingml/2006/main" cx="10858500" cy="2026158"/>
        </p:xfrm>
        <a:graphic xmlns:a="http://schemas.openxmlformats.org/drawingml/2006/main">
          <a:graphicData uri="http://schemas.openxmlformats.org/drawingml/2006/table">
            <a:tbl>
              <a:tblPr firstRow="1" bandRow="0"/>
              <a:tblGrid>
                <a:gridCol w="4000589"/>
                <a:gridCol w="2753394"/>
                <a:gridCol w="4104517"/>
              </a:tblGrid>
              <a:tr h="483108">
                <a:tc>
                  <a:txBody>
                    <a:bodyPr/>
                    <a:lstStyle/>
                    <a:p>
                      <a:r>
                        <a:rPr sz="1800" b="1">
                          <a:solidFill>
                            <a:srgbClr val="FFFFFF"/>
                          </a:solidFill>
                          <a:latin typeface="Noto Sans"/>
                          <a:ea typeface="Noto Sans"/>
                          <a:cs typeface="Noto Sans"/>
                        </a:rPr>
                        <a:t>FB15k-237 regime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Accuracy</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Missing-role AUROC</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Original ComplEx</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10.05%</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0.6893</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Continued ComplEx</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44.35%</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0.3639</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Direction reference</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0.5 = chance ranking</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87CC187-D173-46F9-83C6-B3EB70523635}"/>
              </a:ext>
            </a:extLst>
          </p:cNvPr>
          <p:cNvSpPr>
            <a:spLocks xmlns:a="http://schemas.openxmlformats.org/drawingml/2006/main" noGrp="1"/>
          </p:cNvSpPr>
          <p:nvPr/>
        </p:nvSpPr>
        <p:spPr>
          <a:xfrm xmlns:a="http://schemas.openxmlformats.org/drawingml/2006/main">
            <a:off x="666750" y="4712208"/>
            <a:ext cx="10858500" cy="1688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Higher U means more missing support; AUROC below 0.5 reverses that intended error ordering.</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Training changes occur together; accuracy is not isolated as the cause.</a:t>
            </a:r>
          </a:p>
        </p:txBody>
      </p:sp>
      <p:sp>
        <p:nvSpPr>
          <p:cNvPr id="5" name="Role support and KG error ranking">
            <a:extLst xmlns:a="http://schemas.openxmlformats.org/drawingml/2006/main">
              <a:ext uri="{FF2B5EF4-FFF2-40B4-BE49-F238E27FC236}">
                <a16:creationId xmlns:a16="http://schemas.microsoft.com/office/drawing/2014/main" id="{747E711B-1701-4AFF-B006-C06CDDBD2976}"/>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Role support and KG error ranking</a:t>
            </a:r>
          </a:p>
        </p:txBody>
      </p:sp>
      <p:sp>
        <p:nvSpPr>
          <p:cNvPr id="6" name="05 / 10">
            <a:extLst xmlns:a="http://schemas.openxmlformats.org/drawingml/2006/main">
              <a:ext uri="{FF2B5EF4-FFF2-40B4-BE49-F238E27FC236}">
                <a16:creationId xmlns:a16="http://schemas.microsoft.com/office/drawing/2014/main" id="{DBC2BA74-D8E7-4028-B1B5-4A791BDD7C85}"/>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05 / 10</a:t>
            </a:r>
          </a:p>
        </p:txBody>
      </p:sp>
    </p:spTree>
    <p:extLst>
      <p:ext uri="{BB962C8B-B14F-4D97-AF65-F5344CB8AC3E}">
        <p14:creationId xmlns:p14="http://schemas.microsoft.com/office/powerpoint/2010/main" val="14744389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arned counts can still help beyond disagree">
            <a:extLst xmlns:a="http://schemas.openxmlformats.org/drawingml/2006/main">
              <a:ext uri="{FF2B5EF4-FFF2-40B4-BE49-F238E27FC236}">
                <a16:creationId xmlns:a16="http://schemas.microsoft.com/office/drawing/2014/main" id="{CC55A25F-2D6F-4674-9B09-666535F874BF}"/>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Learned counts can still help beyond disagreement</a:t>
            </a:r>
          </a:p>
        </p:txBody>
      </p:sp>
      <p:sp>
        <p:nvSpPr>
          <p:cNvPr id="2" name="Selected fixed-ensemble comparisons: adding c">
            <a:extLst xmlns:a="http://schemas.openxmlformats.org/drawingml/2006/main">
              <a:ext uri="{FF2B5EF4-FFF2-40B4-BE49-F238E27FC236}">
                <a16:creationId xmlns:a16="http://schemas.microsoft.com/office/drawing/2014/main" id="{2B6AB782-D5BC-44E7-B08F-8C65D03A75A8}"/>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152A3"/>
                </a:solidFill>
                <a:latin typeface="Noto Sans"/>
                <a:ea typeface="Noto Sans"/>
                <a:cs typeface="Noto Sans"/>
              </a:defRPr>
            </a:pPr>
            <a:r>
              <a:rPr sz="2175" b="0">
                <a:solidFill>
                  <a:srgbClr val="7152A3"/>
                </a:solidFill>
                <a:latin typeface="Noto Sans"/>
                <a:ea typeface="Noto Sans"/>
                <a:cs typeface="Noto Sans"/>
              </a:rPr>
              <a:t>Selected fixed-ensemble comparisons: adding continuous role counts reduces AURC.</a:t>
            </a:r>
          </a:p>
        </p:txBody>
      </p:sp>
      <p:graphicFrame>
        <p:nvGraphicFramePr>
          <p:cNvPr id="9" name=""/>
          <p:cNvGraphicFramePr/>
          <p:nvPr/>
        </p:nvGraphicFramePr>
        <p:xfrm>
          <a:off xmlns:a="http://schemas.openxmlformats.org/drawingml/2006/main" x="666750" y="2514600"/>
          <a:ext xmlns:a="http://schemas.openxmlformats.org/drawingml/2006/main" cx="10858500" cy="2540508"/>
        </p:xfrm>
        <a:graphic xmlns:a="http://schemas.openxmlformats.org/drawingml/2006/main">
          <a:graphicData uri="http://schemas.openxmlformats.org/drawingml/2006/table">
            <a:tbl>
              <a:tblPr firstRow="1" bandRow="0"/>
              <a:tblGrid>
                <a:gridCol w="4702059"/>
                <a:gridCol w="3078220"/>
                <a:gridCol w="3078220"/>
              </a:tblGrid>
              <a:tr h="483108">
                <a:tc>
                  <a:txBody>
                    <a:bodyPr/>
                    <a:lstStyle/>
                    <a:p>
                      <a:r>
                        <a:rPr sz="1800" b="1">
                          <a:solidFill>
                            <a:srgbClr val="FFFFFF"/>
                          </a:solidFill>
                          <a:latin typeface="Noto Sans"/>
                          <a:ea typeface="Noto Sans"/>
                          <a:cs typeface="Noto Sans"/>
                        </a:rPr>
                        <a:t>Ensemble / dataset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LR ΔAURC</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HGB ΔAURC</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DistMult / FB15k-237</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−0.071931</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−0.032414</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ComplEx / FB15k-237</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−0.070314</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−0.035930</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Continued / FB15k-237</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−0.008947</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−0.004599</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Continued / WN18RR</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−0.000438</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−0.000932</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E1E6D7C4-A4DF-458D-9F1E-FFF74767D433}"/>
              </a:ext>
            </a:extLst>
          </p:cNvPr>
          <p:cNvSpPr>
            <a:spLocks xmlns:a="http://schemas.openxmlformats.org/drawingml/2006/main" noGrp="1"/>
          </p:cNvSpPr>
          <p:nvPr/>
        </p:nvSpPr>
        <p:spPr>
          <a:xfrm xmlns:a="http://schemas.openxmlformats.org/drawingml/2006/main">
            <a:off x="666750" y="5226558"/>
            <a:ext cx="10858500" cy="1174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LR = logistic regression; HGB = histogram gradient boosting. Comparator includes confidence, frequencies, and disagreement.</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Counts improve AURC and Brier in all 12 ensemble/head comparisons; operating-point dominance does not follow.</a:t>
            </a:r>
          </a:p>
        </p:txBody>
      </p:sp>
      <p:sp>
        <p:nvSpPr>
          <p:cNvPr id="5" name="Role support and KG error ranking">
            <a:extLst xmlns:a="http://schemas.openxmlformats.org/drawingml/2006/main">
              <a:ext uri="{FF2B5EF4-FFF2-40B4-BE49-F238E27FC236}">
                <a16:creationId xmlns:a16="http://schemas.microsoft.com/office/drawing/2014/main" id="{4ECF343B-D242-45E9-AF4E-B1D41CE3A370}"/>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Role support and KG error ranking</a:t>
            </a:r>
          </a:p>
        </p:txBody>
      </p:sp>
      <p:sp>
        <p:nvSpPr>
          <p:cNvPr id="6" name="06 / 10">
            <a:extLst xmlns:a="http://schemas.openxmlformats.org/drawingml/2006/main">
              <a:ext uri="{FF2B5EF4-FFF2-40B4-BE49-F238E27FC236}">
                <a16:creationId xmlns:a16="http://schemas.microsoft.com/office/drawing/2014/main" id="{873FACD4-7D2A-4012-BF92-025BDC0C4E63}"/>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06 / 10</a:t>
            </a:r>
          </a:p>
        </p:txBody>
      </p:sp>
    </p:spTree>
    <p:extLst>
      <p:ext uri="{BB962C8B-B14F-4D97-AF65-F5344CB8AC3E}">
        <p14:creationId xmlns:p14="http://schemas.microsoft.com/office/powerpoint/2010/main" val="222579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igh-coverage results can run out of headroom">
            <a:extLst xmlns:a="http://schemas.openxmlformats.org/drawingml/2006/main">
              <a:ext uri="{FF2B5EF4-FFF2-40B4-BE49-F238E27FC236}">
                <a16:creationId xmlns:a16="http://schemas.microsoft.com/office/drawing/2014/main" id="{A2DD7C1F-05D9-4139-B553-62B8ADC9A89F}"/>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High-coverage results can run out of headroom</a:t>
            </a:r>
          </a:p>
        </p:txBody>
      </p:sp>
      <p:sp>
        <p:nvSpPr>
          <p:cNvPr id="2" name="The best possible risk depends on how many co">
            <a:extLst xmlns:a="http://schemas.openxmlformats.org/drawingml/2006/main">
              <a:ext uri="{FF2B5EF4-FFF2-40B4-BE49-F238E27FC236}">
                <a16:creationId xmlns:a16="http://schemas.microsoft.com/office/drawing/2014/main" id="{397A6523-EF79-47FE-AC0B-E22BFB690A83}"/>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152A3"/>
                </a:solidFill>
                <a:latin typeface="Noto Sans"/>
                <a:ea typeface="Noto Sans"/>
                <a:cs typeface="Noto Sans"/>
              </a:defRPr>
            </a:pPr>
            <a:r>
              <a:rPr sz="2175" b="0">
                <a:solidFill>
                  <a:srgbClr val="7152A3"/>
                </a:solidFill>
                <a:latin typeface="Noto Sans"/>
                <a:ea typeface="Noto Sans"/>
                <a:cs typeface="Noto Sans"/>
              </a:rPr>
              <a:t>The best possible risk depends on how many correct predictions the fixed model already made.</a:t>
            </a:r>
          </a:p>
        </p:txBody>
      </p:sp>
      <p:sp>
        <p:nvSpPr>
          <p:cNvPr id="3" name="Hindsight floor">
            <a:extLst xmlns:a="http://schemas.openxmlformats.org/drawingml/2006/main">
              <a:ext uri="{FF2B5EF4-FFF2-40B4-BE49-F238E27FC236}">
                <a16:creationId xmlns:a16="http://schemas.microsoft.com/office/drawing/2014/main" id="{25B04541-B153-4FC6-B59D-FA509FE34A78}"/>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152A3"/>
                </a:solidFill>
                <a:latin typeface="Noto Sans"/>
                <a:ea typeface="Noto Sans"/>
                <a:cs typeface="Noto Sans"/>
              </a:defRPr>
            </a:pPr>
            <a:r>
              <a:rPr sz="2100" b="1">
                <a:solidFill>
                  <a:srgbClr val="7152A3"/>
                </a:solidFill>
                <a:latin typeface="Noto Sans"/>
                <a:ea typeface="Noto Sans"/>
                <a:cs typeface="Noto Sans"/>
              </a:rPr>
              <a:t>Hindsight floor</a:t>
            </a:r>
          </a:p>
        </p:txBody>
      </p:sp>
      <p:sp>
        <p:nvSpPr>
          <p:cNvPr id="4" name="If c predictions are correct and k answers ar">
            <a:extLst xmlns:a="http://schemas.openxmlformats.org/drawingml/2006/main">
              <a:ext uri="{FF2B5EF4-FFF2-40B4-BE49-F238E27FC236}">
                <a16:creationId xmlns:a16="http://schemas.microsoft.com/office/drawing/2014/main" id="{36BDBF02-A862-41DD-AD2E-F783D303B330}"/>
              </a:ext>
            </a:extLst>
          </p:cNvPr>
          <p:cNvSpPr>
            <a:spLocks xmlns:a="http://schemas.openxmlformats.org/drawingml/2006/main" noGrp="1"/>
          </p:cNvSpPr>
          <p:nvPr/>
        </p:nvSpPr>
        <p:spPr>
          <a:xfrm xmlns:a="http://schemas.openxmlformats.org/drawingml/2006/main">
            <a:off x="6667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If c predictions are correct and k answers are retained, minimum possible error is max(0, 1 − c/k). It uses correctness after the fact.</a:t>
            </a:r>
          </a:p>
        </p:txBody>
      </p:sp>
      <p:sp>
        <p:nvSpPr>
          <p:cNvPr id="5" name="Original runs">
            <a:extLst xmlns:a="http://schemas.openxmlformats.org/drawingml/2006/main">
              <a:ext uri="{FF2B5EF4-FFF2-40B4-BE49-F238E27FC236}">
                <a16:creationId xmlns:a16="http://schemas.microsoft.com/office/drawing/2014/main" id="{67E38243-0BF7-4BC9-8EFE-4946E4F046F2}"/>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152A3"/>
                </a:solidFill>
                <a:latin typeface="Noto Sans"/>
                <a:ea typeface="Noto Sans"/>
                <a:cs typeface="Noto Sans"/>
              </a:defRPr>
            </a:pPr>
            <a:r>
              <a:rPr sz="2100" b="1">
                <a:solidFill>
                  <a:srgbClr val="7152A3"/>
                </a:solidFill>
                <a:latin typeface="Noto Sans"/>
                <a:ea typeface="Noto Sans"/>
                <a:cs typeface="Noto Sans"/>
              </a:rPr>
              <a:t>Original runs</a:t>
            </a:r>
          </a:p>
        </p:txBody>
      </p:sp>
      <p:sp>
        <p:nvSpPr>
          <p:cNvPr id="6" name="Counts logistic regression reaches the 85%-an">
            <a:extLst xmlns:a="http://schemas.openxmlformats.org/drawingml/2006/main">
              <a:ext uri="{FF2B5EF4-FFF2-40B4-BE49-F238E27FC236}">
                <a16:creationId xmlns:a16="http://schemas.microsoft.com/office/drawing/2014/main" id="{5D4C99DF-23D4-44D0-89B6-93E9CAC389B9}"/>
              </a:ext>
            </a:extLst>
          </p:cNvPr>
          <p:cNvSpPr>
            <a:spLocks xmlns:a="http://schemas.openxmlformats.org/drawingml/2006/main" noGrp="1"/>
          </p:cNvSpPr>
          <p:nvPr/>
        </p:nvSpPr>
        <p:spPr>
          <a:xfrm xmlns:a="http://schemas.openxmlformats.org/drawingml/2006/main">
            <a:off x="4451350" y="3276600"/>
            <a:ext cx="3289300" cy="1283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Counts logistic regression reaches the 85%-answer-rate floor in all 12 original predictor runs.</a:t>
            </a:r>
          </a:p>
        </p:txBody>
      </p:sp>
      <p:sp>
        <p:nvSpPr>
          <p:cNvPr id="7" name="Continued runs">
            <a:extLst xmlns:a="http://schemas.openxmlformats.org/drawingml/2006/main">
              <a:ext uri="{FF2B5EF4-FFF2-40B4-BE49-F238E27FC236}">
                <a16:creationId xmlns:a16="http://schemas.microsoft.com/office/drawing/2014/main" id="{98E9EF3F-38DF-4558-A6D5-F1BB5210FD56}"/>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7152A3"/>
                </a:solidFill>
                <a:latin typeface="Noto Sans"/>
                <a:ea typeface="Noto Sans"/>
                <a:cs typeface="Noto Sans"/>
              </a:defRPr>
            </a:pPr>
            <a:r>
              <a:rPr sz="2100" b="1">
                <a:solidFill>
                  <a:srgbClr val="7152A3"/>
                </a:solidFill>
                <a:latin typeface="Noto Sans"/>
                <a:ea typeface="Noto Sans"/>
                <a:cs typeface="Noto Sans"/>
              </a:rPr>
              <a:t>Continued runs</a:t>
            </a:r>
          </a:p>
        </p:txBody>
      </p:sp>
      <p:sp>
        <p:nvSpPr>
          <p:cNvPr id="8" name="It reaches the floor in none of the 6 continu">
            <a:extLst xmlns:a="http://schemas.openxmlformats.org/drawingml/2006/main">
              <a:ext uri="{FF2B5EF4-FFF2-40B4-BE49-F238E27FC236}">
                <a16:creationId xmlns:a16="http://schemas.microsoft.com/office/drawing/2014/main" id="{5DD0686D-18B0-45E0-AE65-3DDB56EBF04D}"/>
              </a:ext>
            </a:extLst>
          </p:cNvPr>
          <p:cNvSpPr>
            <a:spLocks xmlns:a="http://schemas.openxmlformats.org/drawingml/2006/main" noGrp="1"/>
          </p:cNvSpPr>
          <p:nvPr/>
        </p:nvSpPr>
        <p:spPr>
          <a:xfrm xmlns:a="http://schemas.openxmlformats.org/drawingml/2006/main">
            <a:off x="82359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It reaches the floor in none of the 6 continued-training runs, although remaining high-coverage headroom is small.</a:t>
            </a:r>
          </a:p>
        </p:txBody>
      </p:sp>
      <p:sp>
        <p:nvSpPr>
          <p:cNvPr id="9" name="">
            <a:extLst xmlns:a="http://schemas.openxmlformats.org/drawingml/2006/main">
              <a:ext uri="{FF2B5EF4-FFF2-40B4-BE49-F238E27FC236}">
                <a16:creationId xmlns:a16="http://schemas.microsoft.com/office/drawing/2014/main" id="{3F92963B-CDAD-447B-A632-EC535BB12968}"/>
              </a:ext>
            </a:extLst>
          </p:cNvPr>
          <p:cNvSpPr>
            <a:spLocks xmlns:a="http://schemas.openxmlformats.org/drawingml/2006/main" noGrp="1"/>
          </p:cNvSpPr>
          <p:nvPr/>
        </p:nvSpPr>
        <p:spPr>
          <a:xfrm xmlns:a="http://schemas.openxmlformats.org/drawingml/2006/main">
            <a:off x="666750" y="523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 hindsight floor explains an endpoint; it is not a deployable selector.</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Binary additions can help one metric and worsen another.</a:t>
            </a:r>
          </a:p>
        </p:txBody>
      </p:sp>
      <p:sp>
        <p:nvSpPr>
          <p:cNvPr id="10" name="Role support and KG error ranking">
            <a:extLst xmlns:a="http://schemas.openxmlformats.org/drawingml/2006/main">
              <a:ext uri="{FF2B5EF4-FFF2-40B4-BE49-F238E27FC236}">
                <a16:creationId xmlns:a16="http://schemas.microsoft.com/office/drawing/2014/main" id="{C6E19F37-D21C-48BA-9F62-A1DBE1F80F5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Role support and KG error ranking</a:t>
            </a:r>
          </a:p>
        </p:txBody>
      </p:sp>
      <p:sp>
        <p:nvSpPr>
          <p:cNvPr id="11" name="07 / 10">
            <a:extLst xmlns:a="http://schemas.openxmlformats.org/drawingml/2006/main">
              <a:ext uri="{FF2B5EF4-FFF2-40B4-BE49-F238E27FC236}">
                <a16:creationId xmlns:a16="http://schemas.microsoft.com/office/drawing/2014/main" id="{1F554BEF-9400-44D7-9DAD-2E38541CE89E}"/>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07 / 10</a:t>
            </a:r>
          </a:p>
        </p:txBody>
      </p:sp>
    </p:spTree>
    <p:extLst>
      <p:ext uri="{BB962C8B-B14F-4D97-AF65-F5344CB8AC3E}">
        <p14:creationId xmlns:p14="http://schemas.microsoft.com/office/powerpoint/2010/main" val="10324195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andidate restrictions can help one graph and">
            <a:extLst xmlns:a="http://schemas.openxmlformats.org/drawingml/2006/main">
              <a:ext uri="{FF2B5EF4-FFF2-40B4-BE49-F238E27FC236}">
                <a16:creationId xmlns:a16="http://schemas.microsoft.com/office/drawing/2014/main" id="{5624D9AA-1D8C-4D2E-B490-8D795A65B6B6}"/>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Candidate restrictions can help one graph and harm another</a:t>
            </a:r>
          </a:p>
        </p:txBody>
      </p:sp>
      <p:sp>
        <p:nvSpPr>
          <p:cNvPr id="2" name="Restricting tails to training-supported roles">
            <a:extLst xmlns:a="http://schemas.openxmlformats.org/drawingml/2006/main">
              <a:ext uri="{FF2B5EF4-FFF2-40B4-BE49-F238E27FC236}">
                <a16:creationId xmlns:a16="http://schemas.microsoft.com/office/drawing/2014/main" id="{6C75845E-4CBE-462C-BAF2-2525301FE9A1}"/>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152A3"/>
                </a:solidFill>
                <a:latin typeface="Noto Sans"/>
                <a:ea typeface="Noto Sans"/>
                <a:cs typeface="Noto Sans"/>
              </a:defRPr>
            </a:pPr>
            <a:r>
              <a:rPr sz="2175" b="0">
                <a:solidFill>
                  <a:srgbClr val="7152A3"/>
                </a:solidFill>
                <a:latin typeface="Noto Sans"/>
                <a:ea typeface="Noto Sans"/>
                <a:cs typeface="Noto Sans"/>
              </a:rPr>
              <a:t>Restricting tails to training-supported roles changes the predictor itself.</a:t>
            </a:r>
          </a:p>
        </p:txBody>
      </p:sp>
      <p:graphicFrame>
        <p:nvGraphicFramePr>
          <p:cNvPr id="9" name=""/>
          <p:cNvGraphicFramePr/>
          <p:nvPr/>
        </p:nvGraphicFramePr>
        <p:xfrm>
          <a:off xmlns:a="http://schemas.openxmlformats.org/drawingml/2006/main" x="666750" y="2514600"/>
          <a:ext xmlns:a="http://schemas.openxmlformats.org/drawingml/2006/main" cx="10858500" cy="2026158"/>
        </p:xfrm>
        <a:graphic xmlns:a="http://schemas.openxmlformats.org/drawingml/2006/main">
          <a:graphicData uri="http://schemas.openxmlformats.org/drawingml/2006/table">
            <a:tbl>
              <a:tblPr firstRow="1" bandRow="0"/>
              <a:tblGrid>
                <a:gridCol w="5136053"/>
                <a:gridCol w="2861223"/>
                <a:gridCol w="2861223"/>
              </a:tblGrid>
              <a:tr h="483108">
                <a:tc>
                  <a:txBody>
                    <a:bodyPr/>
                    <a:lstStyle/>
                    <a:p>
                      <a:r>
                        <a:rPr sz="1800" b="1">
                          <a:solidFill>
                            <a:srgbClr val="FFFFFF"/>
                          </a:solidFill>
                          <a:latin typeface="Noto Sans"/>
                          <a:ea typeface="Noto Sans"/>
                          <a:cs typeface="Noto Sans"/>
                        </a:rPr>
                        <a:t>Original DistMult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FB15k-237</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WN18RR</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Original accuracy</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10.56%</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38.16%</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Restricted accuracy</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25.79%</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28.05%</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All recorded answers excluded</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6.63%</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27.67%</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991D683-DE77-4E3E-92FD-D548592A3786}"/>
              </a:ext>
            </a:extLst>
          </p:cNvPr>
          <p:cNvSpPr>
            <a:spLocks xmlns:a="http://schemas.openxmlformats.org/drawingml/2006/main" noGrp="1"/>
          </p:cNvSpPr>
          <p:nvPr/>
        </p:nvSpPr>
        <p:spPr>
          <a:xfrm xmlns:a="http://schemas.openxmlformats.org/drawingml/2006/main">
            <a:off x="666750" y="4712208"/>
            <a:ext cx="10858500" cy="1688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All test queries stay in the denominator, including unreachable targets.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Observed role support is not a hard truth constraint.</a:t>
            </a:r>
          </a:p>
        </p:txBody>
      </p:sp>
      <p:sp>
        <p:nvSpPr>
          <p:cNvPr id="5" name="Role support and KG error ranking">
            <a:extLst xmlns:a="http://schemas.openxmlformats.org/drawingml/2006/main">
              <a:ext uri="{FF2B5EF4-FFF2-40B4-BE49-F238E27FC236}">
                <a16:creationId xmlns:a16="http://schemas.microsoft.com/office/drawing/2014/main" id="{1A3B1131-9ADF-481A-99DA-53EC47E24C83}"/>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Role support and KG error ranking</a:t>
            </a:r>
          </a:p>
        </p:txBody>
      </p:sp>
      <p:sp>
        <p:nvSpPr>
          <p:cNvPr id="6" name="08 / 10">
            <a:extLst xmlns:a="http://schemas.openxmlformats.org/drawingml/2006/main">
              <a:ext uri="{FF2B5EF4-FFF2-40B4-BE49-F238E27FC236}">
                <a16:creationId xmlns:a16="http://schemas.microsoft.com/office/drawing/2014/main" id="{C431DDF1-2BA4-43D4-AD38-8BD3E7DA4D7E}"/>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08 / 10</a:t>
            </a:r>
          </a:p>
        </p:txBody>
      </p:sp>
    </p:spTree>
    <p:extLst>
      <p:ext uri="{BB962C8B-B14F-4D97-AF65-F5344CB8AC3E}">
        <p14:creationId xmlns:p14="http://schemas.microsoft.com/office/powerpoint/2010/main" val="4587515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 fixed threshold changes the decision being ">
            <a:extLst xmlns:a="http://schemas.openxmlformats.org/drawingml/2006/main">
              <a:ext uri="{FF2B5EF4-FFF2-40B4-BE49-F238E27FC236}">
                <a16:creationId xmlns:a16="http://schemas.microsoft.com/office/drawing/2014/main" id="{DB498C4B-78E7-419A-831C-B7BA9DDC60E1}"/>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 fixed threshold changes the decision being evaluated</a:t>
            </a:r>
          </a:p>
        </p:txBody>
      </p:sp>
      <p:sp>
        <p:nvSpPr>
          <p:cNvPr id="2" name="A development rule targeting 85% answers does">
            <a:extLst xmlns:a="http://schemas.openxmlformats.org/drawingml/2006/main">
              <a:ext uri="{FF2B5EF4-FFF2-40B4-BE49-F238E27FC236}">
                <a16:creationId xmlns:a16="http://schemas.microsoft.com/office/drawing/2014/main" id="{52A18C76-DF90-472C-A9BE-F4993E677BA4}"/>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7152A3"/>
                </a:solidFill>
                <a:latin typeface="Noto Sans"/>
                <a:ea typeface="Noto Sans"/>
                <a:cs typeface="Noto Sans"/>
              </a:defRPr>
            </a:pPr>
            <a:r>
              <a:rPr sz="2175" b="0">
                <a:solidFill>
                  <a:srgbClr val="7152A3"/>
                </a:solidFill>
                <a:latin typeface="Noto Sans"/>
                <a:ea typeface="Noto Sans"/>
                <a:cs typeface="Noto Sans"/>
              </a:rPr>
              <a:t>A development rule targeting 85% answers does not necessarily answer 85% on test.</a:t>
            </a:r>
          </a:p>
        </p:txBody>
      </p:sp>
      <p:graphicFrame>
        <p:nvGraphicFramePr>
          <p:cNvPr id="9" name=""/>
          <p:cNvGraphicFramePr/>
          <p:nvPr/>
        </p:nvGraphicFramePr>
        <p:xfrm>
          <a:off xmlns:a="http://schemas.openxmlformats.org/drawingml/2006/main" x="666750" y="2514600"/>
          <a:ext xmlns:a="http://schemas.openxmlformats.org/drawingml/2006/main" cx="10858500" cy="2540508"/>
        </p:xfrm>
        <a:graphic xmlns:a="http://schemas.openxmlformats.org/drawingml/2006/main">
          <a:graphicData uri="http://schemas.openxmlformats.org/drawingml/2006/table">
            <a:tbl>
              <a:tblPr firstRow="1" bandRow="0"/>
              <a:tblGrid>
                <a:gridCol w="3829719"/>
                <a:gridCol w="3514391"/>
                <a:gridCol w="3514391"/>
              </a:tblGrid>
              <a:tr h="483108">
                <a:tc>
                  <a:txBody>
                    <a:bodyPr/>
                    <a:lstStyle/>
                    <a:p>
                      <a:r>
                        <a:rPr sz="1800" b="1">
                          <a:solidFill>
                            <a:srgbClr val="FFFFFF"/>
                          </a:solidFill>
                          <a:latin typeface="Noto Sans"/>
                          <a:ea typeface="Noto Sans"/>
                          <a:cs typeface="Noto Sans"/>
                        </a:rPr>
                        <a:t>DistMult policy</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Test answer rate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Test error ratio</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FB15k-237: base LR</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87.41%</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88.40%</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FB15k-237: + binary</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82.86%</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87.33%</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WN18RR: base LR</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82.97%</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55.18%</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WN18RR: + binary</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83.67%</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55.30%</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CFEABBEC-1B73-49AD-992B-67901B30357B}"/>
              </a:ext>
            </a:extLst>
          </p:cNvPr>
          <p:cNvSpPr>
            <a:spLocks xmlns:a="http://schemas.openxmlformats.org/drawingml/2006/main" noGrp="1"/>
          </p:cNvSpPr>
          <p:nvPr/>
        </p:nvSpPr>
        <p:spPr>
          <a:xfrm xmlns:a="http://schemas.openxmlformats.org/drawingml/2006/main">
            <a:off x="666750" y="5226558"/>
            <a:ext cx="10858500" cy="1174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Lower error may accompany fewer answers; compare achieved rates.</a:t>
            </a:r>
          </a:p>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Reported error ratio uses expected error and acceptance counts under boundary randomization.</a:t>
            </a:r>
          </a:p>
        </p:txBody>
      </p:sp>
      <p:sp>
        <p:nvSpPr>
          <p:cNvPr id="5" name="Role support and KG error ranking">
            <a:extLst xmlns:a="http://schemas.openxmlformats.org/drawingml/2006/main">
              <a:ext uri="{FF2B5EF4-FFF2-40B4-BE49-F238E27FC236}">
                <a16:creationId xmlns:a16="http://schemas.microsoft.com/office/drawing/2014/main" id="{FB5936B8-6164-4A3F-ADBE-E689FD1A6660}"/>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Role support and KG error ranking</a:t>
            </a:r>
          </a:p>
        </p:txBody>
      </p:sp>
      <p:sp>
        <p:nvSpPr>
          <p:cNvPr id="6" name="09 / 10">
            <a:extLst xmlns:a="http://schemas.openxmlformats.org/drawingml/2006/main">
              <a:ext uri="{FF2B5EF4-FFF2-40B4-BE49-F238E27FC236}">
                <a16:creationId xmlns:a16="http://schemas.microsoft.com/office/drawing/2014/main" id="{02A26035-5AA5-4D84-9A04-7237CF882FB4}"/>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09 / 10</a:t>
            </a:r>
          </a:p>
        </p:txBody>
      </p:sp>
    </p:spTree>
    <p:extLst>
      <p:ext uri="{BB962C8B-B14F-4D97-AF65-F5344CB8AC3E}">
        <p14:creationId xmlns:p14="http://schemas.microsoft.com/office/powerpoint/2010/main" val="316152423"/>
      </p:ext>
    </p:extLst>
  </p:cSld>
</p:sld>
</file>

<file path=ppt/slides/slide1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Support as a predictor-specific diagnostic">
            <a:extLst xmlns:a="http://schemas.openxmlformats.org/drawingml/2006/main">
              <a:ext uri="{FF2B5EF4-FFF2-40B4-BE49-F238E27FC236}">
                <a16:creationId xmlns:a16="http://schemas.microsoft.com/office/drawing/2014/main" id="{5AF333C7-6A84-4F73-A9D1-C75D0A31CAC2}"/>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FFFFFF"/>
                </a:solidFill>
                <a:latin typeface="Noto Sans"/>
                <a:ea typeface="Noto Sans"/>
                <a:cs typeface="Noto Sans"/>
              </a:defRPr>
            </a:pPr>
            <a:r>
              <a:rPr sz="3300" b="1">
                <a:solidFill>
                  <a:srgbClr val="FFFFFF"/>
                </a:solidFill>
                <a:latin typeface="Noto Sans"/>
                <a:ea typeface="Noto Sans"/>
                <a:cs typeface="Noto Sans"/>
              </a:rPr>
              <a:t>Support as a predictor-specific diagnostic</a:t>
            </a:r>
          </a:p>
        </p:txBody>
      </p:sp>
      <p:sp>
        <p:nvSpPr>
          <p:cNvPr id="2" name="Role support is a conditional feature to test">
            <a:extLst xmlns:a="http://schemas.openxmlformats.org/drawingml/2006/main">
              <a:ext uri="{FF2B5EF4-FFF2-40B4-BE49-F238E27FC236}">
                <a16:creationId xmlns:a16="http://schemas.microsoft.com/office/drawing/2014/main" id="{4FF2F57A-1822-4986-A8DF-906BEF72BD48}"/>
              </a:ext>
            </a:extLst>
          </p:cNvPr>
          <p:cNvSpPr>
            <a:spLocks xmlns:a="http://schemas.openxmlformats.org/drawingml/2006/main" noGrp="1"/>
          </p:cNvSpPr>
          <p:nvPr/>
        </p:nvSpPr>
        <p:spPr>
          <a:xfrm xmlns:a="http://schemas.openxmlformats.org/drawingml/2006/main">
            <a:off x="666750" y="1762125"/>
            <a:ext cx="10620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B8E2DF"/>
                </a:solidFill>
                <a:latin typeface="Noto Sans"/>
                <a:ea typeface="Noto Sans"/>
                <a:cs typeface="Noto Sans"/>
              </a:defRPr>
            </a:pPr>
            <a:r>
              <a:rPr sz="3150" b="1">
                <a:solidFill>
                  <a:srgbClr val="B8E2DF"/>
                </a:solidFill>
                <a:latin typeface="Noto Sans"/>
                <a:ea typeface="Noto Sans"/>
                <a:cs typeface="Noto Sans"/>
              </a:rPr>
              <a:t>Role support is a conditional feature to test, not an invariant uncertainty label.</a:t>
            </a:r>
          </a:p>
        </p:txBody>
      </p:sp>
      <p:sp>
        <p:nvSpPr>
          <p:cNvPr id="3" name="">
            <a:extLst xmlns:a="http://schemas.openxmlformats.org/drawingml/2006/main">
              <a:ext uri="{FF2B5EF4-FFF2-40B4-BE49-F238E27FC236}">
                <a16:creationId xmlns:a16="http://schemas.microsoft.com/office/drawing/2014/main" id="{24894F2C-222C-4D30-9D37-8600040AEAEC}"/>
              </a:ext>
            </a:extLst>
          </p:cNvPr>
          <p:cNvSpPr>
            <a:spLocks xmlns:a="http://schemas.openxmlformats.org/drawingml/2006/main" noGrp="1"/>
          </p:cNvSpPr>
          <p:nvPr/>
        </p:nvSpPr>
        <p:spPr>
          <a:xfrm xmlns:a="http://schemas.openxmlformats.org/drawingml/2006/main">
            <a:off x="666750" y="3838575"/>
            <a:ext cx="10668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Freeze the predictor, candidates, target definition, and information available at decision time.</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Compare continuous counts against confidence, frequencies, and disagreement.</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Report ranking, probability scoring, and achieved answer rates separately.</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Test new graphs and temporal transfer before making deployment claims.</a:t>
            </a:r>
          </a:p>
        </p:txBody>
      </p:sp>
      <p:sp>
        <p:nvSpPr>
          <p:cNvPr id="4" name="Source: github.com/ChorokLeeDev/kg-uncertaint">
            <a:extLst xmlns:a="http://schemas.openxmlformats.org/drawingml/2006/main">
              <a:ext uri="{FF2B5EF4-FFF2-40B4-BE49-F238E27FC236}">
                <a16:creationId xmlns:a16="http://schemas.microsoft.com/office/drawing/2014/main" id="{09F53FF5-59E7-4D76-8984-D085D13A42E3}"/>
              </a:ext>
            </a:extLst>
          </p:cNvPr>
          <p:cNvSpPr>
            <a:spLocks xmlns:a="http://schemas.openxmlformats.org/drawingml/2006/main" noGrp="1"/>
          </p:cNvSpPr>
          <p:nvPr/>
        </p:nvSpPr>
        <p:spPr>
          <a:xfrm xmlns:a="http://schemas.openxmlformats.org/drawingml/2006/main">
            <a:off x="666750" y="60198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8CCD8"/>
                </a:solidFill>
                <a:latin typeface="Noto Sans"/>
                <a:ea typeface="Noto Sans"/>
                <a:cs typeface="Noto Sans"/>
              </a:defRPr>
            </a:pPr>
            <a:r>
              <a:rPr sz="1350" b="0">
                <a:solidFill>
                  <a:srgbClr val="B8CCD8"/>
                </a:solidFill>
                <a:latin typeface="Noto Sans"/>
                <a:ea typeface="Noto Sans"/>
                <a:cs typeface="Noto Sans"/>
              </a:rPr>
              <a:t>Source: github.com/ChorokLeeDev/kg-uncertainty-revision</a:t>
            </a:r>
          </a:p>
        </p:txBody>
      </p:sp>
      <p:sp>
        <p:nvSpPr>
          <p:cNvPr id="5" name="Role support and KG error ranking">
            <a:extLst xmlns:a="http://schemas.openxmlformats.org/drawingml/2006/main">
              <a:ext uri="{FF2B5EF4-FFF2-40B4-BE49-F238E27FC236}">
                <a16:creationId xmlns:a16="http://schemas.microsoft.com/office/drawing/2014/main" id="{38332597-4985-4F8C-919F-560DD3047E6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Role support and KG error ranking</a:t>
            </a:r>
          </a:p>
        </p:txBody>
      </p:sp>
      <p:sp>
        <p:nvSpPr>
          <p:cNvPr id="6" name="10 / 10">
            <a:extLst xmlns:a="http://schemas.openxmlformats.org/drawingml/2006/main">
              <a:ext uri="{FF2B5EF4-FFF2-40B4-BE49-F238E27FC236}">
                <a16:creationId xmlns:a16="http://schemas.microsoft.com/office/drawing/2014/main" id="{D0BD5C63-BF3E-4807-8C97-52B013FF0D24}"/>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10 / 10</a:t>
            </a:r>
          </a:p>
        </p:txBody>
      </p:sp>
    </p:spTree>
    <p:extLst>
      <p:ext uri="{BB962C8B-B14F-4D97-AF65-F5344CB8AC3E}">
        <p14:creationId xmlns:p14="http://schemas.microsoft.com/office/powerpoint/2010/main" val="2962097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2026-09-29T06:04:01.5020000Z</dcterms:created>
  <dcterms:modified xsi:type="dcterms:W3CDTF">2026-09-29T06:04:01.5020000Z</dcterms:modified>
</coreProperties>
</file>