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ae9a872f37408e" /><Relationship Type="http://schemas.openxmlformats.org/officeDocument/2006/relationships/extended-properties" Target="/docProps/app.xml" Id="R526add1c55ec42c5" /><Relationship Type="http://schemas.openxmlformats.org/officeDocument/2006/relationships/officeDocument" Target="/ppt/presentation.xml" Id="R37abb24d2d274b69" /></Relationships>
</file>

<file path=ppt/presentation.xml><?xml version="1.0" encoding="utf-8"?>
<p:presentation xmlns:p="http://schemas.openxmlformats.org/presentationml/2006/main">
  <p:sldMasterIdLst>
    <p:sldMasterId xmlns:r="http://schemas.openxmlformats.org/officeDocument/2006/relationships" id="2147483648" r:id="Rab8de626bcbd48c6"/>
  </p:sldMasterIdLst>
  <p:notesMasterIdLst>
    <p:notesMasterId xmlns:r="http://schemas.openxmlformats.org/officeDocument/2006/relationships" r:id="Rdf32b20f37d14dac"/>
  </p:notesMasterIdLst>
  <p:sldIdLst>
    <p:sldId xmlns:r="http://schemas.openxmlformats.org/officeDocument/2006/relationships" id="256" r:id="Re744b4ac0b984646"/>
    <p:sldId xmlns:r="http://schemas.openxmlformats.org/officeDocument/2006/relationships" id="257" r:id="Radbcc80a962c4dcb"/>
    <p:sldId xmlns:r="http://schemas.openxmlformats.org/officeDocument/2006/relationships" id="258" r:id="Re9c74833afe24731"/>
    <p:sldId xmlns:r="http://schemas.openxmlformats.org/officeDocument/2006/relationships" id="259" r:id="R12e9ff26f248466e"/>
    <p:sldId xmlns:r="http://schemas.openxmlformats.org/officeDocument/2006/relationships" id="260" r:id="R0ae22f116d05430a"/>
    <p:sldId xmlns:r="http://schemas.openxmlformats.org/officeDocument/2006/relationships" id="261" r:id="R81dde174643e41cd"/>
    <p:sldId xmlns:r="http://schemas.openxmlformats.org/officeDocument/2006/relationships" id="262" r:id="R544fef3d0d064e1a"/>
    <p:sldId xmlns:r="http://schemas.openxmlformats.org/officeDocument/2006/relationships" id="263" r:id="R00f912716a654ab3"/>
    <p:sldId xmlns:r="http://schemas.openxmlformats.org/officeDocument/2006/relationships" id="264" r:id="R96eedad4b3354917"/>
    <p:sldId xmlns:r="http://schemas.openxmlformats.org/officeDocument/2006/relationships" id="265" r:id="R70bde41e4ab74e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0e66db7534cf8" /><Relationship Type="http://schemas.openxmlformats.org/officeDocument/2006/relationships/slideMaster" Target="/ppt/slideMasters/slideMaster1.xml" Id="Rab8de626bcbd48c6" /><Relationship Type="http://schemas.openxmlformats.org/officeDocument/2006/relationships/notesMaster" Target="/ppt/notesMasters/notesMaster1.xml" Id="Rdf32b20f37d14dac" /><Relationship Type="http://schemas.openxmlformats.org/officeDocument/2006/relationships/presProps" Target="/ppt/presProps.xml" Id="R6afb47e698cc47ea" /><Relationship Type="http://schemas.openxmlformats.org/officeDocument/2006/relationships/tableStyles" Target="/ppt/tableStyles.xml" Id="Rd36f7c1cdccd4f7d" /><Relationship Type="http://schemas.openxmlformats.org/officeDocument/2006/relationships/slide" Target="/ppt/slides/slide1.xml" Id="Re744b4ac0b984646" /><Relationship Type="http://schemas.openxmlformats.org/officeDocument/2006/relationships/slide" Target="/ppt/slides/slide2.xml" Id="Radbcc80a962c4dcb" /><Relationship Type="http://schemas.openxmlformats.org/officeDocument/2006/relationships/slide" Target="/ppt/slides/slide3.xml" Id="Re9c74833afe24731" /><Relationship Type="http://schemas.openxmlformats.org/officeDocument/2006/relationships/slide" Target="/ppt/slides/slide4.xml" Id="R12e9ff26f248466e" /><Relationship Type="http://schemas.openxmlformats.org/officeDocument/2006/relationships/slide" Target="/ppt/slides/slide5.xml" Id="R0ae22f116d05430a" /><Relationship Type="http://schemas.openxmlformats.org/officeDocument/2006/relationships/slide" Target="/ppt/slides/slide6.xml" Id="R81dde174643e41cd" /><Relationship Type="http://schemas.openxmlformats.org/officeDocument/2006/relationships/slide" Target="/ppt/slides/slide7.xml" Id="R544fef3d0d064e1a" /><Relationship Type="http://schemas.openxmlformats.org/officeDocument/2006/relationships/slide" Target="/ppt/slides/slide8.xml" Id="R00f912716a654ab3" /><Relationship Type="http://schemas.openxmlformats.org/officeDocument/2006/relationships/slide" Target="/ppt/slides/slide9.xml" Id="R96eedad4b3354917" /><Relationship Type="http://schemas.openxmlformats.org/officeDocument/2006/relationships/slide" Target="/ppt/slides/slide10.xml" Id="R70bde41e4ab74e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c06404fb544e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31b5b6c2af410a" /><Relationship Type="http://schemas.openxmlformats.org/officeDocument/2006/relationships/notesMaster" Target="/ppt/notesMasters/notesMaster1.xml" Id="Rb592ac6473324a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65d5037edb4381" /><Relationship Type="http://schemas.openxmlformats.org/officeDocument/2006/relationships/notesMaster" Target="/ppt/notesMasters/notesMaster1.xml" Id="R7e5cb64f99e942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a050808ff04405" /><Relationship Type="http://schemas.openxmlformats.org/officeDocument/2006/relationships/notesMaster" Target="/ppt/notesMasters/notesMaster1.xml" Id="R2b16cdc836904e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f5009ff4fb4034" /><Relationship Type="http://schemas.openxmlformats.org/officeDocument/2006/relationships/notesMaster" Target="/ppt/notesMasters/notesMaster1.xml" Id="R78dabdb5d77e4d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ab3e31028d4391" /><Relationship Type="http://schemas.openxmlformats.org/officeDocument/2006/relationships/notesMaster" Target="/ppt/notesMasters/notesMaster1.xml" Id="Ra9655386a20c47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f09c8b542743cb" /><Relationship Type="http://schemas.openxmlformats.org/officeDocument/2006/relationships/notesMaster" Target="/ppt/notesMasters/notesMaster1.xml" Id="R4ecd8ad52dff40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eea9dd5d944272" /><Relationship Type="http://schemas.openxmlformats.org/officeDocument/2006/relationships/notesMaster" Target="/ppt/notesMasters/notesMaster1.xml" Id="Rc2010d50338b4d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e67e1fc0b44966" /><Relationship Type="http://schemas.openxmlformats.org/officeDocument/2006/relationships/notesMaster" Target="/ppt/notesMasters/notesMaster1.xml" Id="R9476e2a73f2a44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ebef2a32f14a6a" /><Relationship Type="http://schemas.openxmlformats.org/officeDocument/2006/relationships/notesMaster" Target="/ppt/notesMasters/notesMaster1.xml" Id="R737802dcaa614d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bfe4ec60e74705" /><Relationship Type="http://schemas.openxmlformats.org/officeDocument/2006/relationships/notesMaster" Target="/ppt/notesMasters/notesMaster1.xml" Id="Re332e383b32047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asks a practical question: if a strategy performs worse than an expected decay curve, does that shortfall warn of a large loss next month? The study treats the shortfall as a candidate forecasting feature. It does not assume that the feature measures investor crowding. The central challenge is to distinguish a signal that describes an already observed loss from one that improves predictions of a future loss. A second challenge is to distinguish new information from a useful representation of existing returns. The paper combines analytical counterexamples, a US reconstruction, a fixed geographic extension, and controlled diagnostics of model design. The result is qualified: some specifications improve, others deteriorate, and simultaneous intervals leave substantial uncertainty. This is evidence about an evaluated forecasting procedure, not a validated investment strategy.</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Abstract; Introduction</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decay can refer to several different objects. Economic edge concerns an opportunity's underlying profitability. The observed rolling Sharpe ratio combines recent average returns with recent volatility. A residual then compares that statistic with a curve fitted to earlier observations. These quantities need not move together. For example, the rolling statistic can deteriorate because volatility rises even if a mean return does not fall. A stylized model in the paper motivates inverse-linear edge under restrictive conditions, but additional assumptions are needed to connect edge to Sharpe. Changing opportunities can also reproduce an edge path without changing participation. Therefore the empirical forecast test should come first: does the residual improve future loss probabilities relative to appropriate alternatives? Establishing crowding would additionally require independent participation measurements or an identification design.</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Measurement and data; What a decay residual can and cannot establish; Appendix: Corrected quantity-competition motivation</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residual is the fitted curve prediction minus the current rolling Sharpe statistic. A large positive residual means observed performance is below the curve. The curve is fitted using strictly earlier rolling statistics, but the observed statistic still includes the return at the current month t. Thus the complete feature becomes known only after that return is observed. It can be evaluated as a predictor of next month's tail event. Using the same feature to classify a crash in month t instead asks a partly contemporaneous question. The empirical primary window spans 36 months, and the event threshold is a historical tenth percentile fixed before evaluation. The curve, threshold, feature scaling, and classifier all have their own fitting histories. Keeping these clocks explicit prevents a descriptive association from being mislabeled as advance warning.</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Measurement and data; Retrospective public-data reconstruction: Data, estimands, and chronology</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an analytical null example supported by simulation, not financial data. Returns are independent Gaussian draws. A crash is a return below the distribution's tenth percentile, and the high state means the estimated Sharpe is negative. A poor current return both contributes to a crash and pulls down the rolling performance statistic, so a high-state crash association appears mechanically. At the 36-month window the exact same-month risk ratio is 1.606, even though both states have exactly the same next-month population crash probability. The simulated ratios fluctuate around the analytical values. Separately, adjacent 36-month rolling means share 35 returns, giving correlation 35/36. That formula is exact for rolling means, not estimated Sharpe ratios with a random denominator. Both examples show why smooth persistence and same-month tail association are insufficient evidence of forecastability.</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Proposition: Timing alone creates a tail association; Table: Gaussian null; A null example for overlapping windows</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 reconstruction uses eight factors and an earlier training history. The later geographic extension matches six factors and a common historical calendar across the three non-US regions. The key comparison adds one candidate feature to the same four controls: latest return, trailing mean, trailing standard deviation, and calendar age. Raw Sharpe and alternative residual constructions are important comparators because the hyperbolic residual is built from existing return information. Training uses 2000 through 2009, validation 2010 through 2014, and evaluation is split into a longer main era and a short later era. Frozen models use development data through 2014. Annual models update coefficients and scalers while retaining the preselected penalty. These are chronological research forecasts using retrospective data vintages. The regional panels are correlated and do not constitute independent replications.</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Curve estimation and prediction models; Geographic transport and conditional forecast uncertainty: Frozen external evaluation</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averages forecasts equally over 18 series: six factors in each of three regions. It reports the main era, 2015 through 2024. A larger log loss means a worse probability forecast under the primary scoring rule. Adding the hyperbolic residual worsens log loss relative to the basic controls in both fitting modes. Raw Sharpe and a constant residual have lower observed log loss than the hyperbolic residual. However, the conclusion is score-specific. Under frozen fitting, the residual slightly improves the Brier score, another proper scoring rule. Different proper scores can order imperfect forecasts differently, so the paper does not claim universal dominance. These numbers describe the realized retained forecasts; whether their conditional expected differences are resolved is a separate question, addressed by the simultaneous intervals on the next slide.</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Table: Pooled external scores, 2015–2024; Measured scores, uncertainty, and counterexamples</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study applies established confidence-sequence methods to predictable paired log-loss contrasts. The family covers regions and their pool, three model contrasts, two fitting modes, and two eras. It permits dependence across months and factors under the stated boundedness and predictability conditions. All 48 final intervals include zero, as do all retained prefixes. For the main pooled comparison the lower endpoints still allow nontrivial benefits, while the upper endpoints allow deterioration. Therefore a failure to resolve a direction is not proof that the residual lacks predictive value. The target also conditions on disclosed prior US research information and sequential external observations. This is not the information set of a historical live trader, and it does not certify release-time availability. The construction supplies conditional inferential discipline but cannot erase prior research selection or establish independent confirmation.</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An established bound with a disclosed research filtration; Table: Pooled external score contrasts and confidence-sequence endpoints</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diagnostic holds six US factors and the 2015–2024 target months fixed while crossing feature-history and threshold-reference choices. It was designed after a ranking reversal was observed, so it is explanatory and descriptive rather than a new confirmation test. Under the full threshold reference, shortening feature history turns a modest residual advantage into a loss. Under the short reference, shortening history increases the observed advantage. The outcome labels differ across threshold rows, even when total event counts barely change. A further fixed-target mechanism study separates fitting observations from the admissible curve family and shows that penalty reselection matters substantially. Holding one setup's numerical penalties fixed largely removes the pooled reversal. Reversing the decomposition order changes the allocation between history and reselection. Thus the result does not identify a unique causal contribution of older observations or a universally better history.</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Table: Post-results US setup diagnostic; Separating fitting history from the admissible curve family</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X includes every input used to create the residual: trailing returns, the curve's fitting history or fitted parameters, and time. Since the residual is a deterministic function of those inputs, it adds no conditional information once all of them are known. This does not imply that a restricted finite-sample model must perform equally well with every representation. A nonlinear summary can make patterns easier to fit, and ridge penalties depend on the chosen feature coordinates. The paper's equivalent-basis experiment isolates this regularization effect and retains both favorable and unfavorable cases. In some settings large differences between residual and component models mostly reflect poor component-model forecasts, with little improvement over controls plus raw Sharpe. The useful conclusion concerns the evaluated learning procedure. Inferring a crowding mechanism requires evidence beyond a transformed return history.</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Information content versus predictive representation; Equivalent feature bases and penalty geometry</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paper's contribution is an auditable evaluation rather than a new universal crash predictor. The analytical example establishes that a contemporaneous risk ratio can emerge without future predictability. The empirical extension shows unfavorable main-era log-loss point estimates for the tested residual, while preserving Brier-score exceptions and favorable US setups. Simultaneous conditional intervals remain wide enough to permit both gains and deterioration. Mechanism diagnostics show why history, target definition, feature coordinates, and penalty selection can alter rankings. These findings do not demonstrate that every return-decay residual fails, nor do they establish an identified crowding signal or an operational trading benefit. A stronger follow-up would document actual release-time availability, isolate evaluation from prior research, compare robustly tuned simple alternatives, and measure participation independently when testing a crowding explanation.</a:t>
            </a:r>
          </a:p>
          <a:p xmlns:a="http://schemas.openxmlformats.org/drawingml/2006/main">
            <a:r>
              <a:t/>
            </a:r>
          </a:p>
          <a:p xmlns:a="http://schemas.openxmlformats.org/drawingml/2006/main">
            <a:r>
              <a:t>Sources</a:t>
            </a:r>
          </a:p>
          <a:p xmlns:a="http://schemas.openxmlformats.org/drawingml/2006/main">
            <a:r>
              <a:t>https://github.com/ChorokLeeDev/factor-regime-revision/blob/87dced92128746b8f7c82c5ad1a659e2ff9ad929/manuscript.tex — Limitations and conclusion</a:t>
            </a:r>
          </a:p>
          <a:p xmlns:a="http://schemas.openxmlformats.org/drawingml/2006/main">
            <a:r>
              <a:t>Current revision on revision/2026-09-26-factor-validity, pinned 29 September 2026; arXiv:2512.11913.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635732d76549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35232a747f4f69" /><Relationship Type="http://schemas.openxmlformats.org/officeDocument/2006/relationships/slideLayout" Target="/ppt/slideLayouts/slideLayout1.xml" Id="R09f13602d65a4e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f13602d65a4e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2e8bb452d2462b" /><Relationship Type="http://schemas.openxmlformats.org/officeDocument/2006/relationships/notesSlide" Target="/ppt/notesSlides/notesSlide1.xml" Id="Rce3972914dd346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127c88c2d441e5" /><Relationship Type="http://schemas.openxmlformats.org/officeDocument/2006/relationships/notesSlide" Target="/ppt/notesSlides/notesSlide2.xml" Id="Rdaf8b85c83a245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009428922c4f75" /><Relationship Type="http://schemas.openxmlformats.org/officeDocument/2006/relationships/notesSlide" Target="/ppt/notesSlides/notesSlide3.xml" Id="Rc844d42226f24b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23092282c14d5d" /><Relationship Type="http://schemas.openxmlformats.org/officeDocument/2006/relationships/notesSlide" Target="/ppt/notesSlides/notesSlide4.xml" Id="R48bbb784b91946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939fce918049b1" /><Relationship Type="http://schemas.openxmlformats.org/officeDocument/2006/relationships/notesSlide" Target="/ppt/notesSlides/notesSlide5.xml" Id="R3e9e96ef41c9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6f2e822d2144de" /><Relationship Type="http://schemas.openxmlformats.org/officeDocument/2006/relationships/notesSlide" Target="/ppt/notesSlides/notesSlide6.xml" Id="R23d232c7cf504c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045f6a9c7843de" /><Relationship Type="http://schemas.openxmlformats.org/officeDocument/2006/relationships/notesSlide" Target="/ppt/notesSlides/notesSlide7.xml" Id="R0de80aed5b4344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b30125b8c64d4d" /><Relationship Type="http://schemas.openxmlformats.org/officeDocument/2006/relationships/notesSlide" Target="/ppt/notesSlides/notesSlide8.xml" Id="R2971cb70adcd4f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4a2a94b05a4ecb" /><Relationship Type="http://schemas.openxmlformats.org/officeDocument/2006/relationships/notesSlide" Target="/ppt/notesSlides/notesSlide9.xml" Id="R8cc4ff59588e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e4cebbc5794bc4" /><Relationship Type="http://schemas.openxmlformats.org/officeDocument/2006/relationships/notesSlide" Target="/ppt/notesSlides/notesSlide10.xml" Id="Reb26608f019a4eec"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FINANCIAL FORECASTING AND MODEL EVALUATION">
            <a:extLst xmlns:a="http://schemas.openxmlformats.org/drawingml/2006/main">
              <a:ext uri="{FF2B5EF4-FFF2-40B4-BE49-F238E27FC236}">
                <a16:creationId xmlns:a16="http://schemas.microsoft.com/office/drawing/2014/main" id="{99756FBA-CABA-4A13-BE3E-DAC032AC5222}"/>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FINANCIAL FORECASTING AND MODEL EVALUATION</a:t>
            </a:r>
          </a:p>
        </p:txBody>
      </p:sp>
      <p:sp>
        <p:nvSpPr>
          <p:cNvPr id="2" name="Return-Decay Residuals and Tail-Risk Forecast">
            <a:extLst xmlns:a="http://schemas.openxmlformats.org/drawingml/2006/main">
              <a:ext uri="{FF2B5EF4-FFF2-40B4-BE49-F238E27FC236}">
                <a16:creationId xmlns:a16="http://schemas.microsoft.com/office/drawing/2014/main" id="{2E29559C-AA21-4A87-A416-0921754AB4D2}"/>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Return-Decay Residuals and Tail-Risk Forecasting: Timing Artifacts, Conditional Inference, and Cross-Market Evidence</a:t>
            </a:r>
          </a:p>
        </p:txBody>
      </p:sp>
      <p:sp>
        <p:nvSpPr>
          <p:cNvPr id="3" name="Chorok Lee">
            <a:extLst xmlns:a="http://schemas.openxmlformats.org/drawingml/2006/main">
              <a:ext uri="{FF2B5EF4-FFF2-40B4-BE49-F238E27FC236}">
                <a16:creationId xmlns:a16="http://schemas.microsoft.com/office/drawing/2014/main" id="{54AE159C-0BAE-45FE-8CE6-3CC7311E3842}"/>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4" name="KAIST">
            <a:extLst xmlns:a="http://schemas.openxmlformats.org/drawingml/2006/main">
              <a:ext uri="{FF2B5EF4-FFF2-40B4-BE49-F238E27FC236}">
                <a16:creationId xmlns:a16="http://schemas.microsoft.com/office/drawing/2014/main" id="{90D68A21-8BEF-407A-AF28-4B9EBC5E1E4C}"/>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5" name="Return-decay residuals and tail risk">
            <a:extLst xmlns:a="http://schemas.openxmlformats.org/drawingml/2006/main">
              <a:ext uri="{FF2B5EF4-FFF2-40B4-BE49-F238E27FC236}">
                <a16:creationId xmlns:a16="http://schemas.microsoft.com/office/drawing/2014/main" id="{A2BDFE10-266F-4302-AB10-FBF26AE394AF}"/>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Return-decay residuals and tail risk</a:t>
            </a:r>
          </a:p>
        </p:txBody>
      </p:sp>
      <p:sp>
        <p:nvSpPr>
          <p:cNvPr id="6" name="01 / 10">
            <a:extLst xmlns:a="http://schemas.openxmlformats.org/drawingml/2006/main">
              <a:ext uri="{FF2B5EF4-FFF2-40B4-BE49-F238E27FC236}">
                <a16:creationId xmlns:a16="http://schemas.microsoft.com/office/drawing/2014/main" id="{756D7258-631F-42F9-9893-C4A3C8FD5D43}"/>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7057131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hree quantities should stay separate">
            <a:extLst xmlns:a="http://schemas.openxmlformats.org/drawingml/2006/main">
              <a:ext uri="{FF2B5EF4-FFF2-40B4-BE49-F238E27FC236}">
                <a16:creationId xmlns:a16="http://schemas.microsoft.com/office/drawing/2014/main" id="{997E4B5F-EA41-45C7-9903-31FB086527F3}"/>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Three quantities should stay separate</a:t>
            </a:r>
          </a:p>
        </p:txBody>
      </p:sp>
      <p:sp>
        <p:nvSpPr>
          <p:cNvPr id="2" name="A curve, a performance statistic, and an econ">
            <a:extLst xmlns:a="http://schemas.openxmlformats.org/drawingml/2006/main">
              <a:ext uri="{FF2B5EF4-FFF2-40B4-BE49-F238E27FC236}">
                <a16:creationId xmlns:a16="http://schemas.microsoft.com/office/drawing/2014/main" id="{CDCB01D4-C8A6-4507-BC69-F046CDE77EB7}"/>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A curve, a performance statistic, and an economic mechanism answer different questions.</a:t>
            </a:r>
          </a:p>
        </p:txBody>
      </p:sp>
      <p:sp>
        <p:nvSpPr>
          <p:cNvPr id="3" name="Economic edge">
            <a:extLst xmlns:a="http://schemas.openxmlformats.org/drawingml/2006/main">
              <a:ext uri="{FF2B5EF4-FFF2-40B4-BE49-F238E27FC236}">
                <a16:creationId xmlns:a16="http://schemas.microsoft.com/office/drawing/2014/main" id="{6A308566-186C-4409-9897-2ACBD2D6B7B6}"/>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F83"/>
                </a:solidFill>
                <a:latin typeface="Noto Sans"/>
                <a:ea typeface="Noto Sans"/>
                <a:cs typeface="Noto Sans"/>
              </a:defRPr>
            </a:pPr>
            <a:r>
              <a:rPr sz="2100" b="1">
                <a:solidFill>
                  <a:srgbClr val="007F83"/>
                </a:solidFill>
                <a:latin typeface="Noto Sans"/>
                <a:ea typeface="Noto Sans"/>
                <a:cs typeface="Noto Sans"/>
              </a:rPr>
              <a:t>Economic edge</a:t>
            </a:r>
          </a:p>
        </p:txBody>
      </p:sp>
      <p:sp>
        <p:nvSpPr>
          <p:cNvPr id="4" name="The advantage from a trading opportunity. A s">
            <a:extLst xmlns:a="http://schemas.openxmlformats.org/drawingml/2006/main">
              <a:ext uri="{FF2B5EF4-FFF2-40B4-BE49-F238E27FC236}">
                <a16:creationId xmlns:a16="http://schemas.microsoft.com/office/drawing/2014/main" id="{363E859B-81CB-4ED9-BC9F-BEAEEB01CC61}"/>
              </a:ext>
            </a:extLst>
          </p:cNvPr>
          <p:cNvSpPr>
            <a:spLocks xmlns:a="http://schemas.openxmlformats.org/drawingml/2006/main" noGrp="1"/>
          </p:cNvSpPr>
          <p:nvPr/>
        </p:nvSpPr>
        <p:spPr>
          <a:xfrm xmlns:a="http://schemas.openxmlformats.org/drawingml/2006/main">
            <a:off x="6667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advantage from a trading opportunity. A stylized competition model can motivate decline, but returns alone do not identify participation.</a:t>
            </a:r>
          </a:p>
        </p:txBody>
      </p:sp>
      <p:sp>
        <p:nvSpPr>
          <p:cNvPr id="5" name="Rolling Sharpe">
            <a:extLst xmlns:a="http://schemas.openxmlformats.org/drawingml/2006/main">
              <a:ext uri="{FF2B5EF4-FFF2-40B4-BE49-F238E27FC236}">
                <a16:creationId xmlns:a16="http://schemas.microsoft.com/office/drawing/2014/main" id="{4E50229A-0F09-45F4-B8E3-5CA739942C7E}"/>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F83"/>
                </a:solidFill>
                <a:latin typeface="Noto Sans"/>
                <a:ea typeface="Noto Sans"/>
                <a:cs typeface="Noto Sans"/>
              </a:defRPr>
            </a:pPr>
            <a:r>
              <a:rPr sz="2100" b="1">
                <a:solidFill>
                  <a:srgbClr val="007F83"/>
                </a:solidFill>
                <a:latin typeface="Noto Sans"/>
                <a:ea typeface="Noto Sans"/>
                <a:cs typeface="Noto Sans"/>
              </a:rPr>
              <a:t>Rolling Sharpe</a:t>
            </a:r>
          </a:p>
        </p:txBody>
      </p:sp>
      <p:sp>
        <p:nvSpPr>
          <p:cNvPr id="6" name="Average recent return divided by recent volat">
            <a:extLst xmlns:a="http://schemas.openxmlformats.org/drawingml/2006/main">
              <a:ext uri="{FF2B5EF4-FFF2-40B4-BE49-F238E27FC236}">
                <a16:creationId xmlns:a16="http://schemas.microsoft.com/office/drawing/2014/main" id="{612FDA60-DA0E-4DB4-8BD6-78F41471CF13}"/>
              </a:ext>
            </a:extLst>
          </p:cNvPr>
          <p:cNvSpPr>
            <a:spLocks xmlns:a="http://schemas.openxmlformats.org/drawingml/2006/main" noGrp="1"/>
          </p:cNvSpPr>
          <p:nvPr/>
        </p:nvSpPr>
        <p:spPr>
          <a:xfrm xmlns:a="http://schemas.openxmlformats.org/drawingml/2006/main">
            <a:off x="44513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Average recent return divided by recent volatility. Adjacent windows reuse nearly all their data.</a:t>
            </a:r>
          </a:p>
        </p:txBody>
      </p:sp>
      <p:sp>
        <p:nvSpPr>
          <p:cNvPr id="7" name="Decay residual">
            <a:extLst xmlns:a="http://schemas.openxmlformats.org/drawingml/2006/main">
              <a:ext uri="{FF2B5EF4-FFF2-40B4-BE49-F238E27FC236}">
                <a16:creationId xmlns:a16="http://schemas.microsoft.com/office/drawing/2014/main" id="{7A62EABF-669B-4547-971F-F176DC1D7BDA}"/>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F83"/>
                </a:solidFill>
                <a:latin typeface="Noto Sans"/>
                <a:ea typeface="Noto Sans"/>
                <a:cs typeface="Noto Sans"/>
              </a:defRPr>
            </a:pPr>
            <a:r>
              <a:rPr sz="2100" b="1">
                <a:solidFill>
                  <a:srgbClr val="007F83"/>
                </a:solidFill>
                <a:latin typeface="Noto Sans"/>
                <a:ea typeface="Noto Sans"/>
                <a:cs typeface="Noto Sans"/>
              </a:rPr>
              <a:t>Decay residual</a:t>
            </a:r>
          </a:p>
        </p:txBody>
      </p:sp>
      <p:sp>
        <p:nvSpPr>
          <p:cNvPr id="8" name="Expected rolling performance minus observed r">
            <a:extLst xmlns:a="http://schemas.openxmlformats.org/drawingml/2006/main">
              <a:ext uri="{FF2B5EF4-FFF2-40B4-BE49-F238E27FC236}">
                <a16:creationId xmlns:a16="http://schemas.microsoft.com/office/drawing/2014/main" id="{9C68F536-D573-400A-B759-A298B93060E6}"/>
              </a:ext>
            </a:extLst>
          </p:cNvPr>
          <p:cNvSpPr>
            <a:spLocks xmlns:a="http://schemas.openxmlformats.org/drawingml/2006/main" noGrp="1"/>
          </p:cNvSpPr>
          <p:nvPr/>
        </p:nvSpPr>
        <p:spPr>
          <a:xfrm xmlns:a="http://schemas.openxmlformats.org/drawingml/2006/main">
            <a:off x="82359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Expected rolling performance minus observed rolling performance. It is a constructed feature, not a direct crowding measurement.</a:t>
            </a:r>
          </a:p>
        </p:txBody>
      </p:sp>
      <p:sp>
        <p:nvSpPr>
          <p:cNvPr id="9" name="">
            <a:extLst xmlns:a="http://schemas.openxmlformats.org/drawingml/2006/main">
              <a:ext uri="{FF2B5EF4-FFF2-40B4-BE49-F238E27FC236}">
                <a16:creationId xmlns:a16="http://schemas.microsoft.com/office/drawing/2014/main" id="{E45AABEE-8CD1-4AA3-A175-6B9AF5D2A98F}"/>
              </a:ext>
            </a:extLst>
          </p:cNvPr>
          <p:cNvSpPr>
            <a:spLocks xmlns:a="http://schemas.openxmlformats.org/drawingml/2006/main" noGrp="1"/>
          </p:cNvSpPr>
          <p:nvPr/>
        </p:nvSpPr>
        <p:spPr>
          <a:xfrm xmlns:a="http://schemas.openxmlformats.org/drawingml/2006/main">
            <a:off x="666750" y="5277612"/>
            <a:ext cx="10858500" cy="961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 useful feature does not automatically establish its proposed economic explanation.</a:t>
            </a:r>
          </a:p>
        </p:txBody>
      </p:sp>
      <p:sp>
        <p:nvSpPr>
          <p:cNvPr id="10" name="Return-decay residuals and tail risk">
            <a:extLst xmlns:a="http://schemas.openxmlformats.org/drawingml/2006/main">
              <a:ext uri="{FF2B5EF4-FFF2-40B4-BE49-F238E27FC236}">
                <a16:creationId xmlns:a16="http://schemas.microsoft.com/office/drawing/2014/main" id="{F3FE83BF-E086-4884-B2CD-2A41C423E50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11" name="02 / 10">
            <a:extLst xmlns:a="http://schemas.openxmlformats.org/drawingml/2006/main">
              <a:ext uri="{FF2B5EF4-FFF2-40B4-BE49-F238E27FC236}">
                <a16:creationId xmlns:a16="http://schemas.microsoft.com/office/drawing/2014/main" id="{F387258A-5EF4-4DA4-B890-D8852004EA2A}"/>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3703241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timeline determines whether this is a for">
            <a:extLst xmlns:a="http://schemas.openxmlformats.org/drawingml/2006/main">
              <a:ext uri="{FF2B5EF4-FFF2-40B4-BE49-F238E27FC236}">
                <a16:creationId xmlns:a16="http://schemas.microsoft.com/office/drawing/2014/main" id="{33CAABF8-706A-483F-8C86-FDB046AF337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timeline determines whether this is a forecast</a:t>
            </a:r>
          </a:p>
        </p:txBody>
      </p:sp>
      <p:sp>
        <p:nvSpPr>
          <p:cNvPr id="2" name="Use month t to predict month t + 1.">
            <a:extLst xmlns:a="http://schemas.openxmlformats.org/drawingml/2006/main">
              <a:ext uri="{FF2B5EF4-FFF2-40B4-BE49-F238E27FC236}">
                <a16:creationId xmlns:a16="http://schemas.microsoft.com/office/drawing/2014/main" id="{52A98F4E-B8C2-4AF2-8100-2FCAACACE2A1}"/>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Use month t to predict month t + 1.</a:t>
            </a:r>
          </a:p>
        </p:txBody>
      </p:sp>
      <p:sp>
        <p:nvSpPr>
          <p:cNvPr id="3" name="Cₜ = curve prediction from earlier months − o">
            <a:extLst xmlns:a="http://schemas.openxmlformats.org/drawingml/2006/main">
              <a:ext uri="{FF2B5EF4-FFF2-40B4-BE49-F238E27FC236}">
                <a16:creationId xmlns:a16="http://schemas.microsoft.com/office/drawing/2014/main" id="{BE263CE1-AA99-445B-A9AD-AAB192897FC8}"/>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007F83"/>
                </a:solidFill>
                <a:latin typeface="Noto Sans"/>
                <a:ea typeface="Noto Sans"/>
                <a:cs typeface="Noto Sans"/>
              </a:defRPr>
            </a:pPr>
            <a:r>
              <a:rPr sz="3225" b="1">
                <a:solidFill>
                  <a:srgbClr val="007F83"/>
                </a:solidFill>
                <a:latin typeface="Noto Sans"/>
                <a:ea typeface="Noto Sans"/>
                <a:cs typeface="Noto Sans"/>
              </a:rPr>
              <a:t>Cₜ = curve prediction from earlier months − observed rolling Sharpe at t</a:t>
            </a:r>
          </a:p>
        </p:txBody>
      </p:sp>
      <p:sp>
        <p:nvSpPr>
          <p:cNvPr id="4" name="">
            <a:extLst xmlns:a="http://schemas.openxmlformats.org/drawingml/2006/main">
              <a:ext uri="{FF2B5EF4-FFF2-40B4-BE49-F238E27FC236}">
                <a16:creationId xmlns:a16="http://schemas.microsoft.com/office/drawing/2014/main" id="{D9A86967-DB30-490F-92FB-013B29D8A6ED}"/>
              </a:ext>
            </a:extLst>
          </p:cNvPr>
          <p:cNvSpPr>
            <a:spLocks xmlns:a="http://schemas.openxmlformats.org/drawingml/2006/main" noGrp="1"/>
          </p:cNvSpPr>
          <p:nvPr/>
        </p:nvSpPr>
        <p:spPr>
          <a:xfrm xmlns:a="http://schemas.openxmlformats.org/drawingml/2006/main">
            <a:off x="666750" y="4181475"/>
            <a:ext cx="10858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Cₜ: shortfall relative to an inverse-linear curve.</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The curve uses Sharpe observations ending before t.</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Observed Sharpe includes return t.</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The tail event is return t + 1 below a fixed historical threshold.</a:t>
            </a:r>
          </a:p>
        </p:txBody>
      </p:sp>
      <p:sp>
        <p:nvSpPr>
          <p:cNvPr id="5" name="Return-decay residuals and tail risk">
            <a:extLst xmlns:a="http://schemas.openxmlformats.org/drawingml/2006/main">
              <a:ext uri="{FF2B5EF4-FFF2-40B4-BE49-F238E27FC236}">
                <a16:creationId xmlns:a16="http://schemas.microsoft.com/office/drawing/2014/main" id="{40B5A787-D2DD-4A45-8366-144CDB05A21A}"/>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6" name="03 / 10">
            <a:extLst xmlns:a="http://schemas.openxmlformats.org/drawingml/2006/main">
              <a:ext uri="{FF2B5EF4-FFF2-40B4-BE49-F238E27FC236}">
                <a16:creationId xmlns:a16="http://schemas.microsoft.com/office/drawing/2014/main" id="{B7C2D64F-4992-4F78-B9F2-001377368FFF}"/>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1467314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trong-looking association can arise without ">
            <a:extLst xmlns:a="http://schemas.openxmlformats.org/drawingml/2006/main">
              <a:ext uri="{FF2B5EF4-FFF2-40B4-BE49-F238E27FC236}">
                <a16:creationId xmlns:a16="http://schemas.microsoft.com/office/drawing/2014/main" id="{3992C36F-2908-48B5-8AA3-04698BEBDAB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Strong-looking association can arise without predictability</a:t>
            </a:r>
          </a:p>
        </p:txBody>
      </p:sp>
      <p:sp>
        <p:nvSpPr>
          <p:cNvPr id="2" name="Simplified Gaussian iid example: zero benchma">
            <a:extLst xmlns:a="http://schemas.openxmlformats.org/drawingml/2006/main">
              <a:ext uri="{FF2B5EF4-FFF2-40B4-BE49-F238E27FC236}">
                <a16:creationId xmlns:a16="http://schemas.microsoft.com/office/drawing/2014/main" id="{20326EAB-6141-4A70-9F7C-42C969DA0FAE}"/>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Simplified Gaussian iid example: zero benchmark; high state means negative rolling Sharpe.</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2549197"/>
                <a:gridCol w="3893963"/>
                <a:gridCol w="4415339"/>
              </a:tblGrid>
              <a:tr h="483108">
                <a:tc>
                  <a:txBody>
                    <a:bodyPr/>
                    <a:lstStyle/>
                    <a:p>
                      <a:r>
                        <a:rPr sz="1800" b="1">
                          <a:solidFill>
                            <a:srgbClr val="FFFFFF"/>
                          </a:solidFill>
                          <a:latin typeface="Noto Sans"/>
                          <a:ea typeface="Noto Sans"/>
                          <a:cs typeface="Noto Sans"/>
                        </a:rPr>
                        <a:t>Window</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Same-month risk ratio</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Next-month population ratio</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12 months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2.335</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1.000</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36 months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1.606</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1.000</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60 months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1.440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1.000</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ACBC634-426D-4700-8853-58D62AF4368C}"/>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Same-month association appears without predictable future returns.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This isolates timing; it does not reproduce the fitted nonzero curve.</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For 36-month rolling means, adjacent correlation is 35/36 ≈ 0.972.</a:t>
            </a:r>
          </a:p>
        </p:txBody>
      </p:sp>
      <p:sp>
        <p:nvSpPr>
          <p:cNvPr id="5" name="Return-decay residuals and tail risk">
            <a:extLst xmlns:a="http://schemas.openxmlformats.org/drawingml/2006/main">
              <a:ext uri="{FF2B5EF4-FFF2-40B4-BE49-F238E27FC236}">
                <a16:creationId xmlns:a16="http://schemas.microsoft.com/office/drawing/2014/main" id="{E4BCD352-7705-480C-9B20-95D8101DFB7B}"/>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6" name="04 / 10">
            <a:extLst xmlns:a="http://schemas.openxmlformats.org/drawingml/2006/main">
              <a:ext uri="{FF2B5EF4-FFF2-40B4-BE49-F238E27FC236}">
                <a16:creationId xmlns:a16="http://schemas.microsoft.com/office/drawing/2014/main" id="{98FEBFBE-1BB4-4F3F-8976-84796DD364C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13896788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st the residual against matched alternative">
            <a:extLst xmlns:a="http://schemas.openxmlformats.org/drawingml/2006/main">
              <a:ext uri="{FF2B5EF4-FFF2-40B4-BE49-F238E27FC236}">
                <a16:creationId xmlns:a16="http://schemas.microsoft.com/office/drawing/2014/main" id="{CB3C4215-9FE1-4D49-8F89-EB2D2C0560C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Test the residual against matched alternatives</a:t>
            </a:r>
          </a:p>
        </p:txBody>
      </p:sp>
      <p:sp>
        <p:nvSpPr>
          <p:cNvPr id="2" name="Same outcomes and evaluation dates; different">
            <a:extLst xmlns:a="http://schemas.openxmlformats.org/drawingml/2006/main">
              <a:ext uri="{FF2B5EF4-FFF2-40B4-BE49-F238E27FC236}">
                <a16:creationId xmlns:a16="http://schemas.microsoft.com/office/drawing/2014/main" id="{2F695990-CDA1-4021-B1C4-044F3D2A2756}"/>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Same outcomes and evaluation dates; different representations of past returns.</a:t>
            </a:r>
          </a:p>
        </p:txBody>
      </p:sp>
      <p:sp>
        <p:nvSpPr>
          <p:cNvPr id="3" name="Forecast design">
            <a:extLst xmlns:a="http://schemas.openxmlformats.org/drawingml/2006/main">
              <a:ext uri="{FF2B5EF4-FFF2-40B4-BE49-F238E27FC236}">
                <a16:creationId xmlns:a16="http://schemas.microsoft.com/office/drawing/2014/main" id="{BF18F52B-5E4C-436E-AC81-04FAB8FCEB1D}"/>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F83"/>
                </a:solidFill>
                <a:latin typeface="Noto Sans"/>
                <a:ea typeface="Noto Sans"/>
                <a:cs typeface="Noto Sans"/>
              </a:defRPr>
            </a:pPr>
            <a:r>
              <a:rPr sz="2100" b="1">
                <a:solidFill>
                  <a:srgbClr val="007F83"/>
                </a:solidFill>
                <a:latin typeface="Noto Sans"/>
                <a:ea typeface="Noto Sans"/>
                <a:cs typeface="Noto Sans"/>
              </a:rPr>
              <a:t>Forecast design</a:t>
            </a:r>
          </a:p>
        </p:txBody>
      </p:sp>
      <p:sp>
        <p:nvSpPr>
          <p:cNvPr id="4" name="Separate ridge-logistic models predict each f">
            <a:extLst xmlns:a="http://schemas.openxmlformats.org/drawingml/2006/main">
              <a:ext uri="{FF2B5EF4-FFF2-40B4-BE49-F238E27FC236}">
                <a16:creationId xmlns:a16="http://schemas.microsoft.com/office/drawing/2014/main" id="{30FDD10A-9CD9-4DCC-8995-71E9B105ABE7}"/>
              </a:ext>
            </a:extLst>
          </p:cNvPr>
          <p:cNvSpPr>
            <a:spLocks xmlns:a="http://schemas.openxmlformats.org/drawingml/2006/main" noGrp="1"/>
          </p:cNvSpPr>
          <p:nvPr/>
        </p:nvSpPr>
        <p:spPr>
          <a:xfrm xmlns:a="http://schemas.openxmlformats.org/drawingml/2006/main">
            <a:off x="6667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Separate ridge-logistic models predict each factor's next-month tail event. Thresholds, scaling, and penalty selection precede evaluation.</a:t>
            </a:r>
          </a:p>
        </p:txBody>
      </p:sp>
      <p:sp>
        <p:nvSpPr>
          <p:cNvPr id="5" name="Comparison models">
            <a:extLst xmlns:a="http://schemas.openxmlformats.org/drawingml/2006/main">
              <a:ext uri="{FF2B5EF4-FFF2-40B4-BE49-F238E27FC236}">
                <a16:creationId xmlns:a16="http://schemas.microsoft.com/office/drawing/2014/main" id="{D64E9BBC-BB69-41C8-A2EE-6F793FC1E9DF}"/>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F83"/>
                </a:solidFill>
                <a:latin typeface="Noto Sans"/>
                <a:ea typeface="Noto Sans"/>
                <a:cs typeface="Noto Sans"/>
              </a:defRPr>
            </a:pPr>
            <a:r>
              <a:rPr sz="2100" b="1">
                <a:solidFill>
                  <a:srgbClr val="007F83"/>
                </a:solidFill>
                <a:latin typeface="Noto Sans"/>
                <a:ea typeface="Noto Sans"/>
                <a:cs typeface="Noto Sans"/>
              </a:rPr>
              <a:t>Comparison models</a:t>
            </a:r>
          </a:p>
        </p:txBody>
      </p:sp>
      <p:sp>
        <p:nvSpPr>
          <p:cNvPr id="6" name="Historical event rate; return and volatility ">
            <a:extLst xmlns:a="http://schemas.openxmlformats.org/drawingml/2006/main">
              <a:ext uri="{FF2B5EF4-FFF2-40B4-BE49-F238E27FC236}">
                <a16:creationId xmlns:a16="http://schemas.microsoft.com/office/drawing/2014/main" id="{E19C21E3-56C8-45FF-AB1B-0077410A1861}"/>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Historical event rate; return and volatility controls; controls plus residual; controls plus raw Sharpe; constant or linear residual alternatives.</a:t>
            </a:r>
          </a:p>
        </p:txBody>
      </p:sp>
      <p:sp>
        <p:nvSpPr>
          <p:cNvPr id="7" name="Geographic extension">
            <a:extLst xmlns:a="http://schemas.openxmlformats.org/drawingml/2006/main">
              <a:ext uri="{FF2B5EF4-FFF2-40B4-BE49-F238E27FC236}">
                <a16:creationId xmlns:a16="http://schemas.microsoft.com/office/drawing/2014/main" id="{131AAA8D-23CF-44E0-8570-486296474183}"/>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F83"/>
                </a:solidFill>
                <a:latin typeface="Noto Sans"/>
                <a:ea typeface="Noto Sans"/>
                <a:cs typeface="Noto Sans"/>
              </a:defRPr>
            </a:pPr>
            <a:r>
              <a:rPr sz="2100" b="1">
                <a:solidFill>
                  <a:srgbClr val="007F83"/>
                </a:solidFill>
                <a:latin typeface="Noto Sans"/>
                <a:ea typeface="Noto Sans"/>
                <a:cs typeface="Noto Sans"/>
              </a:rPr>
              <a:t>Geographic extension</a:t>
            </a:r>
          </a:p>
        </p:txBody>
      </p:sp>
      <p:sp>
        <p:nvSpPr>
          <p:cNvPr id="8" name="Six factors in Europe, Japan, and Asia Pacifi">
            <a:extLst xmlns:a="http://schemas.openxmlformats.org/drawingml/2006/main">
              <a:ext uri="{FF2B5EF4-FFF2-40B4-BE49-F238E27FC236}">
                <a16:creationId xmlns:a16="http://schemas.microsoft.com/office/drawing/2014/main" id="{C815D8C7-F542-498F-87CA-D2AAD41A662D}"/>
              </a:ext>
            </a:extLst>
          </p:cNvPr>
          <p:cNvSpPr>
            <a:spLocks xmlns:a="http://schemas.openxmlformats.org/drawingml/2006/main" noGrp="1"/>
          </p:cNvSpPr>
          <p:nvPr/>
        </p:nvSpPr>
        <p:spPr>
          <a:xfrm xmlns:a="http://schemas.openxmlformats.org/drawingml/2006/main">
            <a:off x="82359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Six factors in Europe, Japan, and Asia Pacific excluding Japan. Train 2000–2009, validate 2010–2014, evaluate 2015–2024 and 2025–August 2026.</a:t>
            </a:r>
          </a:p>
        </p:txBody>
      </p:sp>
      <p:sp>
        <p:nvSpPr>
          <p:cNvPr id="9" name="">
            <a:extLst xmlns:a="http://schemas.openxmlformats.org/drawingml/2006/main">
              <a:ext uri="{FF2B5EF4-FFF2-40B4-BE49-F238E27FC236}">
                <a16:creationId xmlns:a16="http://schemas.microsoft.com/office/drawing/2014/main" id="{E41E7A81-CB1E-4A11-ACE3-F942904B7761}"/>
              </a:ext>
            </a:extLst>
          </p:cNvPr>
          <p:cNvSpPr>
            <a:spLocks xmlns:a="http://schemas.openxmlformats.org/drawingml/2006/main" noGrp="1"/>
          </p:cNvSpPr>
          <p:nvPr/>
        </p:nvSpPr>
        <p:spPr>
          <a:xfrm xmlns:a="http://schemas.openxmlformats.org/drawingml/2006/main">
            <a:off x="666750" y="5277612"/>
            <a:ext cx="10858500" cy="961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Regional frozen and annual-refit protocols were fixed before their forecast outcomes were computed.</a:t>
            </a:r>
          </a:p>
        </p:txBody>
      </p:sp>
      <p:sp>
        <p:nvSpPr>
          <p:cNvPr id="10" name="Return-decay residuals and tail risk">
            <a:extLst xmlns:a="http://schemas.openxmlformats.org/drawingml/2006/main">
              <a:ext uri="{FF2B5EF4-FFF2-40B4-BE49-F238E27FC236}">
                <a16:creationId xmlns:a16="http://schemas.microsoft.com/office/drawing/2014/main" id="{FEBDC6E5-116F-497D-94CF-6CD1BF06BCC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11" name="05 / 10">
            <a:extLst xmlns:a="http://schemas.openxmlformats.org/drawingml/2006/main">
              <a:ext uri="{FF2B5EF4-FFF2-40B4-BE49-F238E27FC236}">
                <a16:creationId xmlns:a16="http://schemas.microsoft.com/office/drawing/2014/main" id="{8A022299-232D-419C-980D-0C261ED5554A}"/>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16489878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gional log loss worsens in the main era">
            <a:extLst xmlns:a="http://schemas.openxmlformats.org/drawingml/2006/main">
              <a:ext uri="{FF2B5EF4-FFF2-40B4-BE49-F238E27FC236}">
                <a16:creationId xmlns:a16="http://schemas.microsoft.com/office/drawing/2014/main" id="{04FFEB3C-2F7D-4B5D-8CFA-58F798E20FA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Regional log loss worsens in the main era</a:t>
            </a:r>
          </a:p>
        </p:txBody>
      </p:sp>
      <p:sp>
        <p:nvSpPr>
          <p:cNvPr id="2" name="2015–2024 pooled regional forecasts; lower lo">
            <a:extLst xmlns:a="http://schemas.openxmlformats.org/drawingml/2006/main">
              <a:ext uri="{FF2B5EF4-FFF2-40B4-BE49-F238E27FC236}">
                <a16:creationId xmlns:a16="http://schemas.microsoft.com/office/drawing/2014/main" id="{8748C09A-106D-468E-ADB7-A187A52A318E}"/>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2015–2024 pooled regional forecasts; lower log loss is better.</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4913780"/>
                <a:gridCol w="2836972"/>
                <a:gridCol w="3107747"/>
              </a:tblGrid>
              <a:tr h="483108">
                <a:tc>
                  <a:txBody>
                    <a:bodyPr/>
                    <a:lstStyle/>
                    <a:p>
                      <a:r>
                        <a:rPr sz="1800" b="1">
                          <a:solidFill>
                            <a:srgbClr val="FFFFFF"/>
                          </a:solidFill>
                          <a:latin typeface="Noto Sans"/>
                          <a:ea typeface="Noto Sans"/>
                          <a:cs typeface="Noto Sans"/>
                        </a:rPr>
                        <a:t>Model</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Frozen fit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Annual refit</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Controls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0.30419</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0.29941</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Controls + hyperbolic residual</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0.31123</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0.30174</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Controls + raw Sharpe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0.30228</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0.29879</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Controls + constant residual</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0.30137</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0.29826</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E187AFE2-EDBB-451A-9683-E04BEAA95961}"/>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Residual minus controls: +0.00704 frozen; +0.00233 annual.</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Frozen Brier score improves slightly: 0.08673 → 0.08608.</a:t>
            </a:r>
          </a:p>
        </p:txBody>
      </p:sp>
      <p:sp>
        <p:nvSpPr>
          <p:cNvPr id="5" name="Return-decay residuals and tail risk">
            <a:extLst xmlns:a="http://schemas.openxmlformats.org/drawingml/2006/main">
              <a:ext uri="{FF2B5EF4-FFF2-40B4-BE49-F238E27FC236}">
                <a16:creationId xmlns:a16="http://schemas.microsoft.com/office/drawing/2014/main" id="{2C9A40B1-CEED-4C38-BDEC-566B5D6F249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6" name="06 / 10">
            <a:extLst xmlns:a="http://schemas.openxmlformats.org/drawingml/2006/main">
              <a:ext uri="{FF2B5EF4-FFF2-40B4-BE49-F238E27FC236}">
                <a16:creationId xmlns:a16="http://schemas.microsoft.com/office/drawing/2014/main" id="{D0CD4261-710B-4305-8037-EF480A8D2932}"/>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14850477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uncertainty still permits useful gains">
            <a:extLst xmlns:a="http://schemas.openxmlformats.org/drawingml/2006/main">
              <a:ext uri="{FF2B5EF4-FFF2-40B4-BE49-F238E27FC236}">
                <a16:creationId xmlns:a16="http://schemas.microsoft.com/office/drawing/2014/main" id="{DFCD8853-A849-45C7-9D2F-EBA3A2C6D003}"/>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uncertainty still permits useful gains</a:t>
            </a:r>
          </a:p>
        </p:txBody>
      </p:sp>
      <p:sp>
        <p:nvSpPr>
          <p:cNvPr id="2" name="Residual-minus-controls log loss; negative va">
            <a:extLst xmlns:a="http://schemas.openxmlformats.org/drawingml/2006/main">
              <a:ext uri="{FF2B5EF4-FFF2-40B4-BE49-F238E27FC236}">
                <a16:creationId xmlns:a16="http://schemas.microsoft.com/office/drawing/2014/main" id="{41284695-D8ED-408E-8109-DB28D96A558B}"/>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Residual-minus-controls log loss; negative values favor the residual.</a:t>
            </a:r>
          </a:p>
        </p:txBody>
      </p:sp>
      <p:graphicFrame>
        <p:nvGraphicFramePr>
          <p:cNvPr id="9" name=""/>
          <p:cNvGraphicFramePr/>
          <p:nvPr/>
        </p:nvGraphicFramePr>
        <p:xfrm>
          <a:off xmlns:a="http://schemas.openxmlformats.org/drawingml/2006/main" x="666750" y="2514600"/>
          <a:ext xmlns:a="http://schemas.openxmlformats.org/drawingml/2006/main" cx="10858500" cy="1511808"/>
        </p:xfrm>
        <a:graphic xmlns:a="http://schemas.openxmlformats.org/drawingml/2006/main">
          <a:graphicData uri="http://schemas.openxmlformats.org/drawingml/2006/table">
            <a:tbl>
              <a:tblPr firstRow="1" bandRow="0"/>
              <a:tblGrid>
                <a:gridCol w="3510995"/>
                <a:gridCol w="3422094"/>
                <a:gridCol w="3925411"/>
              </a:tblGrid>
              <a:tr h="483108">
                <a:tc>
                  <a:txBody>
                    <a:bodyPr/>
                    <a:lstStyle/>
                    <a:p>
                      <a:r>
                        <a:rPr sz="1800" b="1">
                          <a:solidFill>
                            <a:srgbClr val="FFFFFF"/>
                          </a:solidFill>
                          <a:latin typeface="Noto Sans"/>
                          <a:ea typeface="Noto Sans"/>
                          <a:cs typeface="Noto Sans"/>
                        </a:rPr>
                        <a:t>2015–2024 pooled fit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Observed difference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95% simultaneous interval</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Frozen</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+0.00704</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[−0.03003, +0.06172]</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Annual</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+0.00233</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[−0.01830, +0.03229]</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B9EC9F5E-BB05-47BC-BD34-2760BBE7D544}"/>
              </a:ext>
            </a:extLst>
          </p:cNvPr>
          <p:cNvSpPr>
            <a:spLocks xmlns:a="http://schemas.openxmlformats.org/drawingml/2006/main" noGrp="1"/>
          </p:cNvSpPr>
          <p:nvPr/>
        </p:nvSpPr>
        <p:spPr>
          <a:xfrm xmlns:a="http://schemas.openxmlformats.org/drawingml/2006/main">
            <a:off x="666750" y="4197858"/>
            <a:ext cx="10858500" cy="2202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All 48 final intervals contain zero.</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target is a running conditional expected score difference.</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No directional conclusion; no established practical equivalence.</a:t>
            </a:r>
          </a:p>
        </p:txBody>
      </p:sp>
      <p:sp>
        <p:nvSpPr>
          <p:cNvPr id="5" name="Return-decay residuals and tail risk">
            <a:extLst xmlns:a="http://schemas.openxmlformats.org/drawingml/2006/main">
              <a:ext uri="{FF2B5EF4-FFF2-40B4-BE49-F238E27FC236}">
                <a16:creationId xmlns:a16="http://schemas.microsoft.com/office/drawing/2014/main" id="{3C34CAF8-9CB0-4F6E-B21E-F03AC078FA10}"/>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6" name="07 / 10">
            <a:extLst xmlns:a="http://schemas.openxmlformats.org/drawingml/2006/main">
              <a:ext uri="{FF2B5EF4-FFF2-40B4-BE49-F238E27FC236}">
                <a16:creationId xmlns:a16="http://schemas.microsoft.com/office/drawing/2014/main" id="{A4A364D4-39CB-43D5-B89A-58D6FD40115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15301109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asonable design choices can reverse the ran">
            <a:extLst xmlns:a="http://schemas.openxmlformats.org/drawingml/2006/main">
              <a:ext uri="{FF2B5EF4-FFF2-40B4-BE49-F238E27FC236}">
                <a16:creationId xmlns:a16="http://schemas.microsoft.com/office/drawing/2014/main" id="{F7DC021A-BA1F-45B9-9A95-C4C7FCE4F10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Reasonable design choices can reverse the ranking</a:t>
            </a:r>
          </a:p>
        </p:txBody>
      </p:sp>
      <p:sp>
        <p:nvSpPr>
          <p:cNvPr id="2" name="Post-results US diagnostic: the target defini">
            <a:extLst xmlns:a="http://schemas.openxmlformats.org/drawingml/2006/main">
              <a:ext uri="{FF2B5EF4-FFF2-40B4-BE49-F238E27FC236}">
                <a16:creationId xmlns:a16="http://schemas.microsoft.com/office/drawing/2014/main" id="{C51092CA-60F3-4E0D-8ACA-0D31D351081B}"/>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Post-results US diagnostic: the target definition and feature history interact.</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3881774"/>
                <a:gridCol w="2948419"/>
                <a:gridCol w="4028307"/>
              </a:tblGrid>
              <a:tr h="483108">
                <a:tc>
                  <a:txBody>
                    <a:bodyPr/>
                    <a:lstStyle/>
                    <a:p>
                      <a:r>
                        <a:rPr sz="1800" b="1">
                          <a:solidFill>
                            <a:srgbClr val="FFFFFF"/>
                          </a:solidFill>
                          <a:latin typeface="Noto Sans"/>
                          <a:ea typeface="Noto Sans"/>
                          <a:cs typeface="Noto Sans"/>
                        </a:rPr>
                        <a:t>Threshold reference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Feature history</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Residual − controls log loss</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Full historical reference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Full</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−0.00561</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Full historical reference</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Short</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+0.03999</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Short historical reference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Full</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−0.01384</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Short historical reference</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Short</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−0.04739</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6A728BCF-F593-416B-8B54-55BBC602533C}"/>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Full feature history starts July 1963; short starts December 1990.</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Threshold changes redefine events; rows across thresholds do not share identical labels.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Penalty selection also contributes; this diagnostic is descriptive.</a:t>
            </a:r>
          </a:p>
        </p:txBody>
      </p:sp>
      <p:sp>
        <p:nvSpPr>
          <p:cNvPr id="5" name="Return-decay residuals and tail risk">
            <a:extLst xmlns:a="http://schemas.openxmlformats.org/drawingml/2006/main">
              <a:ext uri="{FF2B5EF4-FFF2-40B4-BE49-F238E27FC236}">
                <a16:creationId xmlns:a16="http://schemas.microsoft.com/office/drawing/2014/main" id="{3B8C6831-260B-4568-BA2D-4939D71642AB}"/>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6" name="08 / 10">
            <a:extLst xmlns:a="http://schemas.openxmlformats.org/drawingml/2006/main">
              <a:ext uri="{FF2B5EF4-FFF2-40B4-BE49-F238E27FC236}">
                <a16:creationId xmlns:a16="http://schemas.microsoft.com/office/drawing/2014/main" id="{353C8D76-3CD6-4043-A9FA-BA76AC44C24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18096665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better representation is not new economic i">
            <a:extLst xmlns:a="http://schemas.openxmlformats.org/drawingml/2006/main">
              <a:ext uri="{FF2B5EF4-FFF2-40B4-BE49-F238E27FC236}">
                <a16:creationId xmlns:a16="http://schemas.microsoft.com/office/drawing/2014/main" id="{79438CA3-59A2-4C08-8F0B-9CCEF287235E}"/>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better representation is not new economic information</a:t>
            </a:r>
          </a:p>
        </p:txBody>
      </p:sp>
      <p:sp>
        <p:nvSpPr>
          <p:cNvPr id="2" name="A feature computed from X cannot add informat">
            <a:extLst xmlns:a="http://schemas.openxmlformats.org/drawingml/2006/main">
              <a:ext uri="{FF2B5EF4-FFF2-40B4-BE49-F238E27FC236}">
                <a16:creationId xmlns:a16="http://schemas.microsoft.com/office/drawing/2014/main" id="{22382470-6AC4-421D-9608-0D3C897E9BA0}"/>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7F83"/>
                </a:solidFill>
                <a:latin typeface="Noto Sans"/>
                <a:ea typeface="Noto Sans"/>
                <a:cs typeface="Noto Sans"/>
              </a:defRPr>
            </a:pPr>
            <a:r>
              <a:rPr sz="2175" b="0">
                <a:solidFill>
                  <a:srgbClr val="007F83"/>
                </a:solidFill>
                <a:latin typeface="Noto Sans"/>
                <a:ea typeface="Noto Sans"/>
                <a:cs typeface="Noto Sans"/>
              </a:rPr>
              <a:t>A feature computed from X cannot add information conditional on all of X.</a:t>
            </a:r>
          </a:p>
        </p:txBody>
      </p:sp>
      <p:sp>
        <p:nvSpPr>
          <p:cNvPr id="3" name="If Cₜ is computed from Xₜ, conditioning on bo">
            <a:extLst xmlns:a="http://schemas.openxmlformats.org/drawingml/2006/main">
              <a:ext uri="{FF2B5EF4-FFF2-40B4-BE49-F238E27FC236}">
                <a16:creationId xmlns:a16="http://schemas.microsoft.com/office/drawing/2014/main" id="{9B8C2AC2-7857-4F2F-B612-E6646B8FB2A6}"/>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007F83"/>
                </a:solidFill>
                <a:latin typeface="Noto Sans"/>
                <a:ea typeface="Noto Sans"/>
                <a:cs typeface="Noto Sans"/>
              </a:defRPr>
            </a:pPr>
            <a:r>
              <a:rPr sz="2625" b="1">
                <a:solidFill>
                  <a:srgbClr val="007F83"/>
                </a:solidFill>
                <a:latin typeface="Noto Sans"/>
                <a:ea typeface="Noto Sans"/>
                <a:cs typeface="Noto Sans"/>
              </a:rPr>
              <a:t>If Cₜ is computed from Xₜ, conditioning on both gives the same information as conditioning on Xₜ.</a:t>
            </a:r>
          </a:p>
        </p:txBody>
      </p:sp>
      <p:sp>
        <p:nvSpPr>
          <p:cNvPr id="4" name="">
            <a:extLst xmlns:a="http://schemas.openxmlformats.org/drawingml/2006/main">
              <a:ext uri="{FF2B5EF4-FFF2-40B4-BE49-F238E27FC236}">
                <a16:creationId xmlns:a16="http://schemas.microsoft.com/office/drawing/2014/main" id="{482D93B9-8C4B-4125-AC82-C033AFEB6436}"/>
              </a:ext>
            </a:extLst>
          </p:cNvPr>
          <p:cNvSpPr>
            <a:spLocks xmlns:a="http://schemas.openxmlformats.org/drawingml/2006/main" noGrp="1"/>
          </p:cNvSpPr>
          <p:nvPr/>
        </p:nvSpPr>
        <p:spPr>
          <a:xfrm xmlns:a="http://schemas.openxmlformats.org/drawingml/2006/main">
            <a:off x="666750" y="4181475"/>
            <a:ext cx="10858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X includes all construction inputs, fitted history, and time; a simple learner may still benefit from the feature.</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Equivalent feature bases can change ridge penalties and fitted probabilities.</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Large gains over a weak comparator can disappear against raw Sharpe.</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Independent holdings or flow evidence is needed for a crowding claim.</a:t>
            </a:r>
          </a:p>
        </p:txBody>
      </p:sp>
      <p:sp>
        <p:nvSpPr>
          <p:cNvPr id="5" name="Return-decay residuals and tail risk">
            <a:extLst xmlns:a="http://schemas.openxmlformats.org/drawingml/2006/main">
              <a:ext uri="{FF2B5EF4-FFF2-40B4-BE49-F238E27FC236}">
                <a16:creationId xmlns:a16="http://schemas.microsoft.com/office/drawing/2014/main" id="{16B207CF-0F05-4575-89A5-39ADF2BAAF0B}"/>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Return-decay residuals and tail risk</a:t>
            </a:r>
          </a:p>
        </p:txBody>
      </p:sp>
      <p:sp>
        <p:nvSpPr>
          <p:cNvPr id="6" name="09 / 10">
            <a:extLst xmlns:a="http://schemas.openxmlformats.org/drawingml/2006/main">
              <a:ext uri="{FF2B5EF4-FFF2-40B4-BE49-F238E27FC236}">
                <a16:creationId xmlns:a16="http://schemas.microsoft.com/office/drawing/2014/main" id="{115B7C42-E2BB-4F59-94B2-F1398ECF46A8}"/>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380869708"/>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Requirements for a defensible forecast claim">
            <a:extLst xmlns:a="http://schemas.openxmlformats.org/drawingml/2006/main">
              <a:ext uri="{FF2B5EF4-FFF2-40B4-BE49-F238E27FC236}">
                <a16:creationId xmlns:a16="http://schemas.microsoft.com/office/drawing/2014/main" id="{2F1289E8-0499-44D1-9290-123F0BF16411}"/>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Requirements for a defensible forecast claim</a:t>
            </a:r>
          </a:p>
        </p:txBody>
      </p:sp>
      <p:sp>
        <p:nvSpPr>
          <p:cNvPr id="2" name="Timing, benchmarks, and uncertainty determine">
            <a:extLst xmlns:a="http://schemas.openxmlformats.org/drawingml/2006/main">
              <a:ext uri="{FF2B5EF4-FFF2-40B4-BE49-F238E27FC236}">
                <a16:creationId xmlns:a16="http://schemas.microsoft.com/office/drawing/2014/main" id="{5AEC73D4-54E2-4531-A9EB-80D5EAB6C869}"/>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Timing, benchmarks, and uncertainty determine what the evidence supports.</a:t>
            </a:r>
          </a:p>
        </p:txBody>
      </p:sp>
      <p:sp>
        <p:nvSpPr>
          <p:cNvPr id="3" name="">
            <a:extLst xmlns:a="http://schemas.openxmlformats.org/drawingml/2006/main">
              <a:ext uri="{FF2B5EF4-FFF2-40B4-BE49-F238E27FC236}">
                <a16:creationId xmlns:a16="http://schemas.microsoft.com/office/drawing/2014/main" id="{DCDEAB3F-25DE-41FC-9351-FBD4EF8EA3C7}"/>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Separate current-loss description from next-month prediction.</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Compare matched representations, histories, targets, and tuning rules.</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Report scoring-rule reversals and unfavorable outcomes.</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Treat crowding and trading value as questions still requiring independent evidence.</a:t>
            </a:r>
          </a:p>
        </p:txBody>
      </p:sp>
      <p:sp>
        <p:nvSpPr>
          <p:cNvPr id="4" name="Source: github.com/ChorokLeeDev/factor-regime">
            <a:extLst xmlns:a="http://schemas.openxmlformats.org/drawingml/2006/main">
              <a:ext uri="{FF2B5EF4-FFF2-40B4-BE49-F238E27FC236}">
                <a16:creationId xmlns:a16="http://schemas.microsoft.com/office/drawing/2014/main" id="{80DA9027-A267-4DD2-AE5B-3FBA04DD9B21}"/>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github.com/ChorokLeeDev/factor-regime-revision</a:t>
            </a:r>
          </a:p>
        </p:txBody>
      </p:sp>
      <p:sp>
        <p:nvSpPr>
          <p:cNvPr id="5" name="Return-decay residuals and tail risk">
            <a:extLst xmlns:a="http://schemas.openxmlformats.org/drawingml/2006/main">
              <a:ext uri="{FF2B5EF4-FFF2-40B4-BE49-F238E27FC236}">
                <a16:creationId xmlns:a16="http://schemas.microsoft.com/office/drawing/2014/main" id="{A80ECFCC-DE77-4731-BF5C-D4BA2234BEEE}"/>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Return-decay residuals and tail risk</a:t>
            </a:r>
          </a:p>
        </p:txBody>
      </p:sp>
      <p:sp>
        <p:nvSpPr>
          <p:cNvPr id="6" name="10 / 10">
            <a:extLst xmlns:a="http://schemas.openxmlformats.org/drawingml/2006/main">
              <a:ext uri="{FF2B5EF4-FFF2-40B4-BE49-F238E27FC236}">
                <a16:creationId xmlns:a16="http://schemas.microsoft.com/office/drawing/2014/main" id="{4745BA80-A89E-4A2B-8423-3040D210BCF1}"/>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17404337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2026-09-29T06:03:24.6510000Z</dcterms:created>
  <dcterms:modified xsi:type="dcterms:W3CDTF">2026-09-29T06:03:24.6510000Z</dcterms:modified>
</coreProperties>
</file>