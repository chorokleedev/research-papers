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e69180d056f4a1c" /><Relationship Type="http://schemas.openxmlformats.org/officeDocument/2006/relationships/extended-properties" Target="/docProps/app.xml" Id="R943470b7afb54f01" /><Relationship Type="http://schemas.openxmlformats.org/officeDocument/2006/relationships/officeDocument" Target="/ppt/presentation.xml" Id="R0356e69386414ba7" /></Relationships>
</file>

<file path=ppt/presentation.xml><?xml version="1.0" encoding="utf-8"?>
<p:presentation xmlns:p="http://schemas.openxmlformats.org/presentationml/2006/main">
  <p:sldMasterIdLst>
    <p:sldMasterId xmlns:r="http://schemas.openxmlformats.org/officeDocument/2006/relationships" id="2147483648" r:id="Rf2b32a9781f04df1"/>
  </p:sldMasterIdLst>
  <p:notesMasterIdLst>
    <p:notesMasterId xmlns:r="http://schemas.openxmlformats.org/officeDocument/2006/relationships" r:id="Ra00acb6f79cc4468"/>
  </p:notesMasterIdLst>
  <p:sldIdLst>
    <p:sldId xmlns:r="http://schemas.openxmlformats.org/officeDocument/2006/relationships" id="256" r:id="R2a59ee430191489f"/>
    <p:sldId xmlns:r="http://schemas.openxmlformats.org/officeDocument/2006/relationships" id="257" r:id="R149f352ed3214f09"/>
    <p:sldId xmlns:r="http://schemas.openxmlformats.org/officeDocument/2006/relationships" id="258" r:id="R068318cb75064e61"/>
    <p:sldId xmlns:r="http://schemas.openxmlformats.org/officeDocument/2006/relationships" id="259" r:id="R1a29e47f7fc742f5"/>
    <p:sldId xmlns:r="http://schemas.openxmlformats.org/officeDocument/2006/relationships" id="260" r:id="Ra55cab11e661411d"/>
    <p:sldId xmlns:r="http://schemas.openxmlformats.org/officeDocument/2006/relationships" id="261" r:id="R4c15e787816b4335"/>
    <p:sldId xmlns:r="http://schemas.openxmlformats.org/officeDocument/2006/relationships" id="262" r:id="Rd52292adf8854f11"/>
    <p:sldId xmlns:r="http://schemas.openxmlformats.org/officeDocument/2006/relationships" id="263" r:id="R053208776b284024"/>
    <p:sldId xmlns:r="http://schemas.openxmlformats.org/officeDocument/2006/relationships" id="264" r:id="R0814d85223b14e05"/>
    <p:sldId xmlns:r="http://schemas.openxmlformats.org/officeDocument/2006/relationships" id="265" r:id="R50a412818ef64e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c2730bd4c243ba" /><Relationship Type="http://schemas.openxmlformats.org/officeDocument/2006/relationships/slideMaster" Target="/ppt/slideMasters/slideMaster1.xml" Id="Rf2b32a9781f04df1" /><Relationship Type="http://schemas.openxmlformats.org/officeDocument/2006/relationships/notesMaster" Target="/ppt/notesMasters/notesMaster1.xml" Id="Ra00acb6f79cc4468" /><Relationship Type="http://schemas.openxmlformats.org/officeDocument/2006/relationships/presProps" Target="/ppt/presProps.xml" Id="Re6e3cc46c74b4e40" /><Relationship Type="http://schemas.openxmlformats.org/officeDocument/2006/relationships/tableStyles" Target="/ppt/tableStyles.xml" Id="R42f1c6119e7147c6" /><Relationship Type="http://schemas.openxmlformats.org/officeDocument/2006/relationships/slide" Target="/ppt/slides/slide1.xml" Id="R2a59ee430191489f" /><Relationship Type="http://schemas.openxmlformats.org/officeDocument/2006/relationships/slide" Target="/ppt/slides/slide2.xml" Id="R149f352ed3214f09" /><Relationship Type="http://schemas.openxmlformats.org/officeDocument/2006/relationships/slide" Target="/ppt/slides/slide3.xml" Id="R068318cb75064e61" /><Relationship Type="http://schemas.openxmlformats.org/officeDocument/2006/relationships/slide" Target="/ppt/slides/slide4.xml" Id="R1a29e47f7fc742f5" /><Relationship Type="http://schemas.openxmlformats.org/officeDocument/2006/relationships/slide" Target="/ppt/slides/slide5.xml" Id="Ra55cab11e661411d" /><Relationship Type="http://schemas.openxmlformats.org/officeDocument/2006/relationships/slide" Target="/ppt/slides/slide6.xml" Id="R4c15e787816b4335" /><Relationship Type="http://schemas.openxmlformats.org/officeDocument/2006/relationships/slide" Target="/ppt/slides/slide7.xml" Id="Rd52292adf8854f11" /><Relationship Type="http://schemas.openxmlformats.org/officeDocument/2006/relationships/slide" Target="/ppt/slides/slide8.xml" Id="R053208776b284024" /><Relationship Type="http://schemas.openxmlformats.org/officeDocument/2006/relationships/slide" Target="/ppt/slides/slide9.xml" Id="R0814d85223b14e05" /><Relationship Type="http://schemas.openxmlformats.org/officeDocument/2006/relationships/slide" Target="/ppt/slides/slide10.xml" Id="R50a412818ef64e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d278cc7fbf44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2e11c475c84ed0" /><Relationship Type="http://schemas.openxmlformats.org/officeDocument/2006/relationships/notesMaster" Target="/ppt/notesMasters/notesMaster1.xml" Id="R5f86ab97fe1147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6b91dfc0d24f67" /><Relationship Type="http://schemas.openxmlformats.org/officeDocument/2006/relationships/notesMaster" Target="/ppt/notesMasters/notesMaster1.xml" Id="R272e361d2ce249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d4fd4092094145" /><Relationship Type="http://schemas.openxmlformats.org/officeDocument/2006/relationships/notesMaster" Target="/ppt/notesMasters/notesMaster1.xml" Id="R4c55b9ba62454b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874d0f83294d4e" /><Relationship Type="http://schemas.openxmlformats.org/officeDocument/2006/relationships/notesMaster" Target="/ppt/notesMasters/notesMaster1.xml" Id="R9c7ff5b7903746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c5b9f5a70c47d9" /><Relationship Type="http://schemas.openxmlformats.org/officeDocument/2006/relationships/notesMaster" Target="/ppt/notesMasters/notesMaster1.xml" Id="Rf2491c51078146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351f59a8ef4dec" /><Relationship Type="http://schemas.openxmlformats.org/officeDocument/2006/relationships/notesMaster" Target="/ppt/notesMasters/notesMaster1.xml" Id="Rb6bc19e213f0435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5c957e124b43d2" /><Relationship Type="http://schemas.openxmlformats.org/officeDocument/2006/relationships/notesMaster" Target="/ppt/notesMasters/notesMaster1.xml" Id="Rbba66260e47046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b5994a348c4401" /><Relationship Type="http://schemas.openxmlformats.org/officeDocument/2006/relationships/notesMaster" Target="/ppt/notesMasters/notesMaster1.xml" Id="Rd26b597e384d40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f1cef63ca394638" /><Relationship Type="http://schemas.openxmlformats.org/officeDocument/2006/relationships/notesMaster" Target="/ppt/notesMasters/notesMaster1.xml" Id="R16efeca56bd242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a2534bc631481d" /><Relationship Type="http://schemas.openxmlformats.org/officeDocument/2006/relationships/notesMaster" Target="/ppt/notesMasters/notesMaster1.xml" Id="R152c1902f4694e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study examines the durability of predictive relationships between equity factors. A factor summarizes returns associated with an investment characteristic, such as value or size. The motivating example asks whether past value-factor returns help predict the size factor, and whether that relationship weakens over time. The study combines regime-specific statistical analysis with survival models for decay. The evidence is exploratory: the decay data contain only seven events, and the main US relationship does not survive corrected tests in the later period. This presentation follows the original ten-page TeX preprint edition, prepared on 29 September 2026, rather than the separate five-page submission. It separates what the manuscript reports from what those results can establish.</a:t>
            </a:r>
          </a:p>
          <a:p xmlns:a="http://schemas.openxmlformats.org/drawingml/2006/main">
            <a:r>
              <a:t/>
            </a:r>
          </a:p>
          <a:p xmlns:a="http://schemas.openxmlformats.org/drawingml/2006/main">
            <a:r>
              <a:t>Sources</a:t>
            </a:r>
          </a:p>
          <a:p xmlns:a="http://schemas.openxmlformats.org/drawingml/2006/main">
            <a:r>
              <a:t>https://github.com/ChorokLeeDev/factor-decay-icaif2026/blob/a0bd43ea47898011d0661710975658a8969299d5/arxiv/original-source-20260929/main.tex; Abstract; §Predictive Models; §Limitations</a:t>
            </a:r>
          </a:p>
          <a:p xmlns:a="http://schemas.openxmlformats.org/drawingml/2006/main">
            <a:r>
              <a:t>Original ten-page TeX preprint edition, prepared 29 September 2026. Separate from the archived five-page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panel contains the market excess return, size, value, profitability, investment, and momentum. With six factors and no self-pairs, there are six times five, or thirty, possible directed relationships. The paper focuses on HML as a source and SMB as a target. The direction matters: knowing past value returns may have different predictive value for size than knowing past size returns has for value. Granger predictability concerns additional information relative to a specified history and model. It does not establish that changing one factor would causally change the other. The focal relationship was selected after a scan of the thirty pairs, so the analysis and resulting communication retain that exploratory scope.</a:t>
            </a:r>
          </a:p>
          <a:p xmlns:a="http://schemas.openxmlformats.org/drawingml/2006/main">
            <a:r>
              <a:t/>
            </a:r>
          </a:p>
          <a:p xmlns:a="http://schemas.openxmlformats.org/drawingml/2006/main">
            <a:r>
              <a:t>Sources</a:t>
            </a:r>
          </a:p>
          <a:p xmlns:a="http://schemas.openxmlformats.org/drawingml/2006/main">
            <a:r>
              <a:t>https://github.com/ChorokLeeDev/factor-decay-icaif2026/blob/a0bd43ea47898011d0661710975658a8969299d5/arxiv/original-source-20260929/main.tex; §Methodology, Data and Per-regime Granger testing; Pair selection transparency</a:t>
            </a:r>
          </a:p>
          <a:p xmlns:a="http://schemas.openxmlformats.org/drawingml/2006/main">
            <a:r>
              <a:t>Original ten-page TeX preprint edition, prepared 29 September 2026. Separate from the archived five-page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hidden Markov model assigns a latent state to each period using return distributions and persistence across time. Student-t emissions allow heavier tails than a Gaussian model. The paper calls its states Normal, Elevated, and Crisis, but the last name is a statistical label. Under the primary fit, the Crisis state does not coincide with the 2008 global financial crisis. The second stage evaluates cross-factor predictability within these states. The third stage uses features of the resulting signal history to predict whether or when the signal will fall below a significance threshold. Estimation at every stage can affect the apparent decay. A further timing limitation is that the source gives inconsistent descriptions of the window used to select the number of states.</a:t>
            </a:r>
          </a:p>
          <a:p xmlns:a="http://schemas.openxmlformats.org/drawingml/2006/main">
            <a:r>
              <a:t/>
            </a:r>
          </a:p>
          <a:p xmlns:a="http://schemas.openxmlformats.org/drawingml/2006/main">
            <a:r>
              <a:t>Sources</a:t>
            </a:r>
          </a:p>
          <a:p xmlns:a="http://schemas.openxmlformats.org/drawingml/2006/main">
            <a:r>
              <a:t>https://github.com/ChorokLeeDev/factor-decay-icaif2026/blob/a0bd43ea47898011d0661710975658a8969299d5/arxiv/original-source-20260929/main.tex; §Methodology; Student-t HMM footnote; §Predictive Models</a:t>
            </a:r>
          </a:p>
          <a:p xmlns:a="http://schemas.openxmlformats.org/drawingml/2006/main">
            <a:r>
              <a:t>Original ten-page TeX preprint edition, prepared 29 September 2026. Separate from the archived five-page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vertical axis transforms a p-value so that larger values represent stronger evidence against the specified Granger null. The plot uses rolling three-year windows, an unconditional test, and nine lagged observations. This differs from the paper's primary regime-specific analysis, where the BIC-selected lag is one. The figure is useful for seeing how the evidence changes through time, but it does not report investment profit, forecast accuracy, or nine-day-ahead warnings. The manuscript separately estimates a primary change point around June 1998 and further weakening around 2008. An association between a detected change point and a historical financial event does not identify the economic mechanism responsible. The figure is reproduced from the source rather than generated from new experimental runs.</a:t>
            </a:r>
          </a:p>
          <a:p xmlns:a="http://schemas.openxmlformats.org/drawingml/2006/main">
            <a:r>
              <a:t/>
            </a:r>
          </a:p>
          <a:p xmlns:a="http://schemas.openxmlformats.org/drawingml/2006/main">
            <a:r>
              <a:t>Sources</a:t>
            </a:r>
          </a:p>
          <a:p xmlns:a="http://schemas.openxmlformats.org/drawingml/2006/main">
            <a:r>
              <a:t>https://github.com/ChorokLeeDev/factor-decay-icaif2026/blob/a0bd43ea47898011d0661710975658a8969299d5/arxiv/original-source-20260929/main.tex; §The Structural Break; Figure rolling_granger</a:t>
            </a:r>
          </a:p>
          <a:p xmlns:a="http://schemas.openxmlformats.org/drawingml/2006/main">
            <a:r>
              <a:t>Original ten-page TeX preprint edition, prepared 29 September 2026. Separate from the archived five-page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decay model turns the relationship between two factors into an observation. Features include the initial F-statistic, its rolling mean and standard deviation, its momentum, factor correlation, and the volatility ratio. The classifier asks whether the statistic drops below significance within five years. Cox proportional-hazards and random survival forest models also address timing. Initial F strength is the leading reported feature. This could help motivate monitoring unusually strong initial signals, but the small sample does not establish a general behavioral or economic law. Factor pairs also share underlying series, so a split over pairs differs from a clean separation over future time. The study's criterion concerns a statistic crossing a threshold; this is a narrower operational definition than the disappearance of all useful predictive information.</a:t>
            </a:r>
          </a:p>
          <a:p xmlns:a="http://schemas.openxmlformats.org/drawingml/2006/main">
            <a:r>
              <a:t/>
            </a:r>
          </a:p>
          <a:p xmlns:a="http://schemas.openxmlformats.org/drawingml/2006/main">
            <a:r>
              <a:t>Sources</a:t>
            </a:r>
          </a:p>
          <a:p xmlns:a="http://schemas.openxmlformats.org/drawingml/2006/main">
            <a:r>
              <a:t>https://github.com/ChorokLeeDev/factor-decay-icaif2026/blob/a0bd43ea47898011d0661710975658a8969299d5/arxiv/original-source-20260929/main.tex; §Predictive Models, Decay Prediction Model</a:t>
            </a:r>
          </a:p>
          <a:p xmlns:a="http://schemas.openxmlformats.org/drawingml/2006/main">
            <a:r>
              <a:t>Original ten-page TeX preprint edition, prepared 29 September 2026. Separate from the archived five-page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concordance index measures how well a model orders event times among comparable observations. It is not a percentage of future returns predicted correctly. AUC evaluates discrimination for the binary decay label and is a different metric. The reported plus-or-minus values in this table are variability across the five validation folds, not confidence intervals for the population effect. The separate holdout result is six correct classifications among ten factor pairs. These results must travel together: reporting only a C-index near 0.93 would conceal the small event count and weaker holdout evidence. The manuscript explicitly calls the decay model hypothesis-generating. Its abstract uses held-out terminology for the high score, whereas the detailed model table identifies it as five-fold cross-validation; this presentation uses the detailed evaluation labels.</a:t>
            </a:r>
          </a:p>
          <a:p xmlns:a="http://schemas.openxmlformats.org/drawingml/2006/main">
            <a:r>
              <a:t/>
            </a:r>
          </a:p>
          <a:p xmlns:a="http://schemas.openxmlformats.org/drawingml/2006/main">
            <a:r>
              <a:t>Sources</a:t>
            </a:r>
          </a:p>
          <a:p xmlns:a="http://schemas.openxmlformats.org/drawingml/2006/main">
            <a:r>
              <a:t>https://github.com/ChorokLeeDev/factor-decay-icaif2026/blob/a0bd43ea47898011d0661710975658a8969299d5/arxiv/original-source-20260929/main.tex; Table Decay Prediction Model: 5-Fold CV Performance; §Predictive Models</a:t>
            </a:r>
          </a:p>
          <a:p xmlns:a="http://schemas.openxmlformats.org/drawingml/2006/main">
            <a:r>
              <a:t>Original ten-page TeX preprint edition, prepared 29 September 2026. Separate from the archived five-page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addresses a separate operational task: recognizing changes in the fitted market regime while new observations arrive. An incremental online HMM reacts quickly, a monthly rolling model reacts more slowly, and a volatility threshold baseline reacts slowest. Fast detection does not imply a better overall classifier. The volatility threshold has the largest reported accuracy and F1 in this comparison. The manuscript interprets the rolling HMM as balancing responsiveness and stability, but the table does not establish a universally optimal method. An application would need to specify the cost of delay relative to false state changes. In particular, the 6.6-day number is a delay after a regime transition. It is not a claim that the system can forecast decay 6.6 days ahead.</a:t>
            </a:r>
          </a:p>
          <a:p xmlns:a="http://schemas.openxmlformats.org/drawingml/2006/main">
            <a:r>
              <a:t/>
            </a:r>
          </a:p>
          <a:p xmlns:a="http://schemas.openxmlformats.org/drawingml/2006/main">
            <a:r>
              <a:t>Sources</a:t>
            </a:r>
          </a:p>
          <a:p xmlns:a="http://schemas.openxmlformats.org/drawingml/2006/main">
            <a:r>
              <a:t>https://github.com/ChorokLeeDev/factor-decay-icaif2026/blob/a0bd43ea47898011d0661710975658a8969299d5/arxiv/original-source-20260929/main.tex; Table Online Regime Detection: Speed-Accuracy Tradeoff</a:t>
            </a:r>
          </a:p>
          <a:p xmlns:a="http://schemas.openxmlformats.org/drawingml/2006/main">
            <a:r>
              <a:t>Original ten-page TeX preprint edition, prepared 29 September 2026. Separate from the archived five-page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US relationship does not generalize under the manuscript's corrected tests. The Elevated state has an unadjusted HAC p-value of 0.041, but a family threshold of 0.05 divided by three is approximately 0.0167. It therefore does not pass even this regime-level correction. The broader specification search adds further interpretation concerns. Reweighting the test sample to the earlier regime prevalence also weakens the result, and the p-value changes with the HAC bandwidth. These results are compatible with weakening predictability, but other explanations remain possible, including estimation error, limited power, and changes in the fitted regime model. The paper's retrospective pattern and its later-period test answer different questions. Neither result alone identifies why economic predictability changes. These values reproduce the reported frozen-OOS table. Elsewhere the manuscript notes that return scaling changes fitted regime assignments and reports different regime counts, so this table should not imply a uniquely stable deployment classifier.</a:t>
            </a:r>
          </a:p>
          <a:p xmlns:a="http://schemas.openxmlformats.org/drawingml/2006/main">
            <a:r>
              <a:t/>
            </a:r>
          </a:p>
          <a:p xmlns:a="http://schemas.openxmlformats.org/drawingml/2006/main">
            <a:r>
              <a:t>Sources</a:t>
            </a:r>
          </a:p>
          <a:p xmlns:a="http://schemas.openxmlformats.org/drawingml/2006/main">
            <a:r>
              <a:t>https://github.com/ChorokLeeDev/factor-decay-icaif2026/blob/a0bd43ea47898011d0661710975658a8969299d5/arxiv/original-source-20260929/main.tex; Table Frozen OOS (2013–2024); §Frozen OOS (Exploratory)</a:t>
            </a:r>
          </a:p>
          <a:p xmlns:a="http://schemas.openxmlformats.org/drawingml/2006/main">
            <a:r>
              <a:t>Original ten-page TeX preprint edition, prepared 29 September 2026. Separate from the archived five-page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manuscript extends the frozen framework to four non-US regions. It reports crisis-state HAC p-values below 0.001 for Developed ex-US and Asia-Pacific ex-Japan. These lie below its correction for four regions times three states. Europe and Japan instead show in-sample significance and later-period null results in the accompanying narrative. The source table displays the in-sample Europe and Japan rows alongside out-of-sample rows for the other regions, so this slide explicitly separates those evidence types. The geographic results concern a particular HML-to-SMB relationship under a fitted regime framework. They do not validate the pair-level survival model across all markets, establish a structural causal mechanism, or show that a deployable trading strategy earns positive returns after costs.</a:t>
            </a:r>
          </a:p>
          <a:p xmlns:a="http://schemas.openxmlformats.org/drawingml/2006/main">
            <a:r>
              <a:t/>
            </a:r>
          </a:p>
          <a:p xmlns:a="http://schemas.openxmlformats.org/drawingml/2006/main">
            <a:r>
              <a:t>Sources</a:t>
            </a:r>
          </a:p>
          <a:p xmlns:a="http://schemas.openxmlformats.org/drawingml/2006/main">
            <a:r>
              <a:t>https://github.com/ChorokLeeDev/factor-decay-icaif2026/blob/a0bd43ea47898011d0661710975658a8969299d5/arxiv/original-source-20260929/main.tex; International replication paragraph and table</a:t>
            </a:r>
          </a:p>
          <a:p xmlns:a="http://schemas.openxmlformats.org/drawingml/2006/main">
            <a:r>
              <a:t>Original ten-page TeX preprint edition, prepared 29 September 2026. Separate from the archived five-page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research question is useful: a forecasting system should assess whether a previously useful relationship may stop working. The manuscript offers a combination of statistical diagnostics and survival-style modeling for that purpose. The present evidence supports exploratory monitoring research, not a validated investment rule. The major next step is a genuinely chronological evaluation that estimates the number of states, regime model, features, and decay model at each historical training cutoff. The source's own limitations acknowledge full-sample HMM assignments in a purportedly prospective decay fit, while the state-selection window is described inconsistently. A future study could also apply complete source-exclusion comparisons, as in the separate regime-predictability audit, to verify that the measured relationship reflects incremental source information. Such additions are future work, not results established in this edition.</a:t>
            </a:r>
          </a:p>
          <a:p xmlns:a="http://schemas.openxmlformats.org/drawingml/2006/main">
            <a:r>
              <a:t/>
            </a:r>
          </a:p>
          <a:p xmlns:a="http://schemas.openxmlformats.org/drawingml/2006/main">
            <a:r>
              <a:t>Sources</a:t>
            </a:r>
          </a:p>
          <a:p xmlns:a="http://schemas.openxmlformats.org/drawingml/2006/main">
            <a:r>
              <a:t>https://github.com/ChorokLeeDev/factor-decay-icaif2026/blob/a0bd43ea47898011d0661710975658a8969299d5/arxiv/original-source-20260929/main.tex; §Discussion, Limitations; original ten-page edition a0bd43ea4789</a:t>
            </a:r>
          </a:p>
          <a:p xmlns:a="http://schemas.openxmlformats.org/drawingml/2006/main">
            <a:r>
              <a:t>Original ten-page TeX preprint edition, prepared 29 September 2026. Separate from the archived five-page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807935f9c24a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72ba5b0d5344da" /><Relationship Type="http://schemas.openxmlformats.org/officeDocument/2006/relationships/slideLayout" Target="/ppt/slideLayouts/slideLayout1.xml" Id="Rdcaa802fd5404c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aa802fd5404c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2afa357bd0480c" /><Relationship Type="http://schemas.openxmlformats.org/officeDocument/2006/relationships/notesSlide" Target="/ppt/notesSlides/notesSlide1.xml" Id="R75cdfd6e06844c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7b619a3729e413f" /><Relationship Type="http://schemas.openxmlformats.org/officeDocument/2006/relationships/notesSlide" Target="/ppt/notesSlides/notesSlide2.xml" Id="Rd540e37f16c744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c23ebbd21947cb" /><Relationship Type="http://schemas.openxmlformats.org/officeDocument/2006/relationships/notesSlide" Target="/ppt/notesSlides/notesSlide3.xml" Id="R26e20e84d2484a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69bcc2e2269475c" /><Relationship Type="http://schemas.openxmlformats.org/officeDocument/2006/relationships/image" Target="/ppt/media/image.png" Id="R378ee1fbb63e4d65" /><Relationship Type="http://schemas.openxmlformats.org/officeDocument/2006/relationships/notesSlide" Target="/ppt/notesSlides/notesSlide4.xml" Id="Rfcd37efbe1734a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eac42f8dc1546f3" /><Relationship Type="http://schemas.openxmlformats.org/officeDocument/2006/relationships/notesSlide" Target="/ppt/notesSlides/notesSlide5.xml" Id="R925a36309a874d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b2ee4203dbe4085" /><Relationship Type="http://schemas.openxmlformats.org/officeDocument/2006/relationships/notesSlide" Target="/ppt/notesSlides/notesSlide6.xml" Id="Re6e0c4fc196a41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4fa4375ead4529" /><Relationship Type="http://schemas.openxmlformats.org/officeDocument/2006/relationships/notesSlide" Target="/ppt/notesSlides/notesSlide7.xml" Id="R5443c0f9be064a8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6aa0360f4a34bc2" /><Relationship Type="http://schemas.openxmlformats.org/officeDocument/2006/relationships/notesSlide" Target="/ppt/notesSlides/notesSlide8.xml" Id="R843e1eb0df854a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04606d0afae4b59" /><Relationship Type="http://schemas.openxmlformats.org/officeDocument/2006/relationships/notesSlide" Target="/ppt/notesSlides/notesSlide9.xml" Id="Rddd2533ed4974c4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e03182437344016" /><Relationship Type="http://schemas.openxmlformats.org/officeDocument/2006/relationships/notesSlide" Target="/ppt/notesSlides/notesSlide10.xml" Id="R16f150d74ffe4976"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8" name="FINANCIAL FORECASTING AND MODEL EVALUATION">
            <a:extLst xmlns:a="http://schemas.openxmlformats.org/drawingml/2006/main">
              <a:ext uri="{FF2B5EF4-FFF2-40B4-BE49-F238E27FC236}">
                <a16:creationId xmlns:a16="http://schemas.microsoft.com/office/drawing/2014/main" id="{47436AAC-37AF-48C8-B429-9C59C3A9D130}"/>
              </a:ext>
            </a:extLst>
          </p:cNvPr>
          <p:cNvSpPr>
            <a:spLocks xmlns:a="http://schemas.openxmlformats.org/drawingml/2006/main" noGrp="1"/>
          </p:cNvSpPr>
          <p:nvPr/>
        </p:nvSpPr>
        <p:spPr>
          <a:xfrm xmlns:a="http://schemas.openxmlformats.org/drawingml/2006/main">
            <a:off x="666750" y="6477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9DCFD0"/>
                </a:solidFill>
                <a:latin typeface="Noto Sans"/>
                <a:ea typeface="Noto Sans"/>
                <a:cs typeface="Noto Sans"/>
              </a:defRPr>
            </a:pPr>
            <a:r>
              <a:rPr sz="1500" b="1">
                <a:solidFill>
                  <a:srgbClr val="9DCFD0"/>
                </a:solidFill>
                <a:latin typeface="Noto Sans"/>
                <a:ea typeface="Noto Sans"/>
                <a:cs typeface="Noto Sans"/>
              </a:rPr>
              <a:t>FINANCIAL FORECASTING AND MODEL EVALUATION</a:t>
            </a:r>
          </a:p>
        </p:txBody>
      </p:sp>
      <p:sp>
        <p:nvSpPr>
          <p:cNvPr id="2" name="Predicting Factor Decay: ML Models for Cross-">
            <a:extLst xmlns:a="http://schemas.openxmlformats.org/drawingml/2006/main">
              <a:ext uri="{FF2B5EF4-FFF2-40B4-BE49-F238E27FC236}">
                <a16:creationId xmlns:a16="http://schemas.microsoft.com/office/drawing/2014/main" id="{625CFA65-BCBC-4BF0-A2D1-EB657101047A}"/>
              </a:ext>
            </a:extLst>
          </p:cNvPr>
          <p:cNvSpPr>
            <a:spLocks xmlns:a="http://schemas.openxmlformats.org/drawingml/2006/main" noGrp="1"/>
          </p:cNvSpPr>
          <p:nvPr/>
        </p:nvSpPr>
        <p:spPr>
          <a:xfrm xmlns:a="http://schemas.openxmlformats.org/drawingml/2006/main">
            <a:off x="666750" y="1571625"/>
            <a:ext cx="1076325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1">
                <a:solidFill>
                  <a:srgbClr val="FFFFFF"/>
                </a:solidFill>
                <a:latin typeface="Noto Sans"/>
                <a:ea typeface="Noto Sans"/>
                <a:cs typeface="Noto Sans"/>
              </a:defRPr>
            </a:pPr>
            <a:r>
              <a:rPr sz="4350" b="1">
                <a:solidFill>
                  <a:srgbClr val="FFFFFF"/>
                </a:solidFill>
                <a:latin typeface="Noto Sans"/>
                <a:ea typeface="Noto Sans"/>
                <a:cs typeface="Noto Sans"/>
              </a:rPr>
              <a:t>Predicting Factor Decay: ML Models for Cross-Factor Predictability Erosion</a:t>
            </a:r>
          </a:p>
        </p:txBody>
      </p:sp>
      <p:sp>
        <p:nvSpPr>
          <p:cNvPr id="3" name="Original ten-page preprint edition">
            <a:extLst xmlns:a="http://schemas.openxmlformats.org/drawingml/2006/main">
              <a:ext uri="{FF2B5EF4-FFF2-40B4-BE49-F238E27FC236}">
                <a16:creationId xmlns:a16="http://schemas.microsoft.com/office/drawing/2014/main" id="{33813A63-6368-434D-A4D4-95F098B34C93}"/>
              </a:ext>
            </a:extLst>
          </p:cNvPr>
          <p:cNvSpPr>
            <a:spLocks xmlns:a="http://schemas.openxmlformats.org/drawingml/2006/main" noGrp="1"/>
          </p:cNvSpPr>
          <p:nvPr/>
        </p:nvSpPr>
        <p:spPr>
          <a:xfrm xmlns:a="http://schemas.openxmlformats.org/drawingml/2006/main">
            <a:off x="666750" y="50292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B8CCD8"/>
                </a:solidFill>
                <a:latin typeface="Noto Sans"/>
                <a:ea typeface="Noto Sans"/>
                <a:cs typeface="Noto Sans"/>
              </a:defRPr>
            </a:pPr>
            <a:r>
              <a:rPr sz="1650" b="0">
                <a:solidFill>
                  <a:srgbClr val="B8CCD8"/>
                </a:solidFill>
                <a:latin typeface="Noto Sans"/>
                <a:ea typeface="Noto Sans"/>
                <a:cs typeface="Noto Sans"/>
              </a:rPr>
              <a:t>Original ten-page preprint edition</a:t>
            </a:r>
          </a:p>
        </p:txBody>
      </p:sp>
      <p:sp>
        <p:nvSpPr>
          <p:cNvPr id="4" name="Chorok Lee">
            <a:extLst xmlns:a="http://schemas.openxmlformats.org/drawingml/2006/main">
              <a:ext uri="{FF2B5EF4-FFF2-40B4-BE49-F238E27FC236}">
                <a16:creationId xmlns:a16="http://schemas.microsoft.com/office/drawing/2014/main" id="{81A3DEF7-2AD2-42E9-BB17-D4FD213DC43D}"/>
              </a:ext>
            </a:extLst>
          </p:cNvPr>
          <p:cNvSpPr>
            <a:spLocks xmlns:a="http://schemas.openxmlformats.org/drawingml/2006/main" noGrp="1"/>
          </p:cNvSpPr>
          <p:nvPr/>
        </p:nvSpPr>
        <p:spPr>
          <a:xfrm xmlns:a="http://schemas.openxmlformats.org/drawingml/2006/main">
            <a:off x="666750" y="55721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FFFFFF"/>
                </a:solidFill>
                <a:latin typeface="Noto Sans"/>
                <a:ea typeface="Noto Sans"/>
                <a:cs typeface="Noto Sans"/>
              </a:defRPr>
            </a:pPr>
            <a:r>
              <a:rPr sz="2025" b="1">
                <a:solidFill>
                  <a:srgbClr val="FFFFFF"/>
                </a:solidFill>
                <a:latin typeface="Noto Sans"/>
                <a:ea typeface="Noto Sans"/>
                <a:cs typeface="Noto Sans"/>
              </a:rPr>
              <a:t>Chorok Lee</a:t>
            </a:r>
          </a:p>
        </p:txBody>
      </p:sp>
      <p:sp>
        <p:nvSpPr>
          <p:cNvPr id="5" name="KAIST">
            <a:extLst xmlns:a="http://schemas.openxmlformats.org/drawingml/2006/main">
              <a:ext uri="{FF2B5EF4-FFF2-40B4-BE49-F238E27FC236}">
                <a16:creationId xmlns:a16="http://schemas.microsoft.com/office/drawing/2014/main" id="{4D44EDAC-7F4D-4F97-B57D-92E0E9928794}"/>
              </a:ext>
            </a:extLst>
          </p:cNvPr>
          <p:cNvSpPr>
            <a:spLocks xmlns:a="http://schemas.openxmlformats.org/drawingml/2006/main" noGrp="1"/>
          </p:cNvSpPr>
          <p:nvPr/>
        </p:nvSpPr>
        <p:spPr>
          <a:xfrm xmlns:a="http://schemas.openxmlformats.org/drawingml/2006/main">
            <a:off x="666750" y="59626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C0D2DC"/>
                </a:solidFill>
                <a:latin typeface="Noto Sans"/>
                <a:ea typeface="Noto Sans"/>
                <a:cs typeface="Noto Sans"/>
              </a:defRPr>
            </a:pPr>
            <a:r>
              <a:rPr sz="1725" b="0">
                <a:solidFill>
                  <a:srgbClr val="C0D2DC"/>
                </a:solidFill>
                <a:latin typeface="Noto Sans"/>
                <a:ea typeface="Noto Sans"/>
                <a:cs typeface="Noto Sans"/>
              </a:rPr>
              <a:t>KAIST</a:t>
            </a:r>
          </a:p>
        </p:txBody>
      </p:sp>
      <p:sp>
        <p:nvSpPr>
          <p:cNvPr id="6" name="Predicting Factor Decay">
            <a:extLst xmlns:a="http://schemas.openxmlformats.org/drawingml/2006/main">
              <a:ext uri="{FF2B5EF4-FFF2-40B4-BE49-F238E27FC236}">
                <a16:creationId xmlns:a16="http://schemas.microsoft.com/office/drawing/2014/main" id="{EAAB4FF3-0E3C-41C5-9386-9A3652090C44}"/>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B8CCD8"/>
                </a:solidFill>
                <a:latin typeface="Noto Sans"/>
                <a:ea typeface="Noto Sans"/>
                <a:cs typeface="Noto Sans"/>
              </a:defRPr>
            </a:pPr>
            <a:r>
              <a:rPr sz="1200" b="0">
                <a:solidFill>
                  <a:srgbClr val="B8CCD8"/>
                </a:solidFill>
                <a:latin typeface="Noto Sans"/>
                <a:ea typeface="Noto Sans"/>
                <a:cs typeface="Noto Sans"/>
              </a:rPr>
              <a:t>Predicting Factor Decay</a:t>
            </a:r>
          </a:p>
        </p:txBody>
      </p:sp>
      <p:sp>
        <p:nvSpPr>
          <p:cNvPr id="7" name="01 / 10">
            <a:extLst xmlns:a="http://schemas.openxmlformats.org/drawingml/2006/main">
              <a:ext uri="{FF2B5EF4-FFF2-40B4-BE49-F238E27FC236}">
                <a16:creationId xmlns:a16="http://schemas.microsoft.com/office/drawing/2014/main" id="{459CBC8D-E10B-4025-8905-4DF7B1882A45}"/>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B8CCD8"/>
                </a:solidFill>
                <a:latin typeface="Noto Sans"/>
                <a:ea typeface="Noto Sans"/>
                <a:cs typeface="Noto Sans"/>
              </a:defRPr>
            </a:pPr>
            <a:r>
              <a:rPr sz="1200" b="0">
                <a:solidFill>
                  <a:srgbClr val="B8CCD8"/>
                </a:solidFill>
                <a:latin typeface="Noto Sans"/>
                <a:ea typeface="Noto Sans"/>
                <a:cs typeface="Noto Sans"/>
              </a:rPr>
              <a:t>01 / 10</a:t>
            </a:r>
          </a:p>
        </p:txBody>
      </p:sp>
    </p:spTree>
    <p:extLst>
      <p:ext uri="{BB962C8B-B14F-4D97-AF65-F5344CB8AC3E}">
        <p14:creationId xmlns:p14="http://schemas.microsoft.com/office/powerpoint/2010/main" val="12808620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quity factors and predictive relationships">
            <a:extLst xmlns:a="http://schemas.openxmlformats.org/drawingml/2006/main">
              <a:ext uri="{FF2B5EF4-FFF2-40B4-BE49-F238E27FC236}">
                <a16:creationId xmlns:a16="http://schemas.microsoft.com/office/drawing/2014/main" id="{9EDCF194-7568-4051-B6F6-8F2D1DAD4D4B}"/>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Equity factors and predictive relationships</a:t>
            </a:r>
          </a:p>
        </p:txBody>
      </p:sp>
      <p:sp>
        <p:nvSpPr>
          <p:cNvPr id="2" name="Six daily factor series define 30 directed re">
            <a:extLst xmlns:a="http://schemas.openxmlformats.org/drawingml/2006/main">
              <a:ext uri="{FF2B5EF4-FFF2-40B4-BE49-F238E27FC236}">
                <a16:creationId xmlns:a16="http://schemas.microsoft.com/office/drawing/2014/main" id="{808A2B15-93C9-4062-B569-65726B2F3E4F}"/>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B46439"/>
                </a:solidFill>
                <a:latin typeface="Noto Sans"/>
                <a:ea typeface="Noto Sans"/>
                <a:cs typeface="Noto Sans"/>
              </a:defRPr>
            </a:pPr>
            <a:r>
              <a:rPr sz="2175" b="0">
                <a:solidFill>
                  <a:srgbClr val="B46439"/>
                </a:solidFill>
                <a:latin typeface="Noto Sans"/>
                <a:ea typeface="Noto Sans"/>
                <a:cs typeface="Noto Sans"/>
              </a:rPr>
              <a:t>Six daily factor series define 30 directed relationships over 1990–2024.</a:t>
            </a:r>
          </a:p>
        </p:txBody>
      </p:sp>
      <p:sp>
        <p:nvSpPr>
          <p:cNvPr id="3" name="Source information">
            <a:extLst xmlns:a="http://schemas.openxmlformats.org/drawingml/2006/main">
              <a:ext uri="{FF2B5EF4-FFF2-40B4-BE49-F238E27FC236}">
                <a16:creationId xmlns:a16="http://schemas.microsoft.com/office/drawing/2014/main" id="{748CE0A0-9286-4EDF-9FC8-95E7274D5F1C}"/>
              </a:ext>
            </a:extLst>
          </p:cNvPr>
          <p:cNvSpPr>
            <a:spLocks xmlns:a="http://schemas.openxmlformats.org/drawingml/2006/main" noGrp="1"/>
          </p:cNvSpPr>
          <p:nvPr/>
        </p:nvSpPr>
        <p:spPr>
          <a:xfrm xmlns:a="http://schemas.openxmlformats.org/drawingml/2006/main">
            <a:off x="6667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B46439"/>
                </a:solidFill>
                <a:latin typeface="Noto Sans"/>
                <a:ea typeface="Noto Sans"/>
                <a:cs typeface="Noto Sans"/>
              </a:defRPr>
            </a:pPr>
            <a:r>
              <a:rPr sz="2100" b="1">
                <a:solidFill>
                  <a:srgbClr val="B46439"/>
                </a:solidFill>
                <a:latin typeface="Noto Sans"/>
                <a:ea typeface="Noto Sans"/>
                <a:cs typeface="Noto Sans"/>
              </a:rPr>
              <a:t>Source information</a:t>
            </a:r>
          </a:p>
        </p:txBody>
      </p:sp>
      <p:sp>
        <p:nvSpPr>
          <p:cNvPr id="4" name="HML captures value relative to growth. Past H">
            <a:extLst xmlns:a="http://schemas.openxmlformats.org/drawingml/2006/main">
              <a:ext uri="{FF2B5EF4-FFF2-40B4-BE49-F238E27FC236}">
                <a16:creationId xmlns:a16="http://schemas.microsoft.com/office/drawing/2014/main" id="{4A635233-2A37-474B-BB31-38C6AB418097}"/>
              </a:ext>
            </a:extLst>
          </p:cNvPr>
          <p:cNvSpPr>
            <a:spLocks xmlns:a="http://schemas.openxmlformats.org/drawingml/2006/main" noGrp="1"/>
          </p:cNvSpPr>
          <p:nvPr/>
        </p:nvSpPr>
        <p:spPr>
          <a:xfrm xmlns:a="http://schemas.openxmlformats.org/drawingml/2006/main">
            <a:off x="666750" y="3276600"/>
            <a:ext cx="3289300" cy="981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HML captures value relative to growth. Past HML returns may help forecast another factor.</a:t>
            </a:r>
          </a:p>
        </p:txBody>
      </p:sp>
      <p:sp>
        <p:nvSpPr>
          <p:cNvPr id="5" name="Forecast target">
            <a:extLst xmlns:a="http://schemas.openxmlformats.org/drawingml/2006/main">
              <a:ext uri="{FF2B5EF4-FFF2-40B4-BE49-F238E27FC236}">
                <a16:creationId xmlns:a16="http://schemas.microsoft.com/office/drawing/2014/main" id="{E57E9B19-D170-45C4-9D12-AAA97D741E4D}"/>
              </a:ext>
            </a:extLst>
          </p:cNvPr>
          <p:cNvSpPr>
            <a:spLocks xmlns:a="http://schemas.openxmlformats.org/drawingml/2006/main" noGrp="1"/>
          </p:cNvSpPr>
          <p:nvPr/>
        </p:nvSpPr>
        <p:spPr>
          <a:xfrm xmlns:a="http://schemas.openxmlformats.org/drawingml/2006/main">
            <a:off x="44513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B46439"/>
                </a:solidFill>
                <a:latin typeface="Noto Sans"/>
                <a:ea typeface="Noto Sans"/>
                <a:cs typeface="Noto Sans"/>
              </a:defRPr>
            </a:pPr>
            <a:r>
              <a:rPr sz="2100" b="1">
                <a:solidFill>
                  <a:srgbClr val="B46439"/>
                </a:solidFill>
                <a:latin typeface="Noto Sans"/>
                <a:ea typeface="Noto Sans"/>
                <a:cs typeface="Noto Sans"/>
              </a:rPr>
              <a:t>Forecast target</a:t>
            </a:r>
          </a:p>
        </p:txBody>
      </p:sp>
      <p:sp>
        <p:nvSpPr>
          <p:cNvPr id="6" name="SMB captures small relative to large firms. T">
            <a:extLst xmlns:a="http://schemas.openxmlformats.org/drawingml/2006/main">
              <a:ext uri="{FF2B5EF4-FFF2-40B4-BE49-F238E27FC236}">
                <a16:creationId xmlns:a16="http://schemas.microsoft.com/office/drawing/2014/main" id="{E45B095A-EC84-4EF9-9F00-CCE058C26027}"/>
              </a:ext>
            </a:extLst>
          </p:cNvPr>
          <p:cNvSpPr>
            <a:spLocks xmlns:a="http://schemas.openxmlformats.org/drawingml/2006/main" noGrp="1"/>
          </p:cNvSpPr>
          <p:nvPr/>
        </p:nvSpPr>
        <p:spPr>
          <a:xfrm xmlns:a="http://schemas.openxmlformats.org/drawingml/2006/main">
            <a:off x="4451350" y="3276600"/>
            <a:ext cx="3289300" cy="1283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SMB captures small relative to large firms. The target is its later return, conditional on its own history.</a:t>
            </a:r>
          </a:p>
        </p:txBody>
      </p:sp>
      <p:sp>
        <p:nvSpPr>
          <p:cNvPr id="7" name="Meaning of a relationship">
            <a:extLst xmlns:a="http://schemas.openxmlformats.org/drawingml/2006/main">
              <a:ext uri="{FF2B5EF4-FFF2-40B4-BE49-F238E27FC236}">
                <a16:creationId xmlns:a16="http://schemas.microsoft.com/office/drawing/2014/main" id="{AA7E0A80-985D-45EB-B962-C568831D0AE6}"/>
              </a:ext>
            </a:extLst>
          </p:cNvPr>
          <p:cNvSpPr>
            <a:spLocks xmlns:a="http://schemas.openxmlformats.org/drawingml/2006/main" noGrp="1"/>
          </p:cNvSpPr>
          <p:nvPr/>
        </p:nvSpPr>
        <p:spPr>
          <a:xfrm xmlns:a="http://schemas.openxmlformats.org/drawingml/2006/main">
            <a:off x="82359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B46439"/>
                </a:solidFill>
                <a:latin typeface="Noto Sans"/>
                <a:ea typeface="Noto Sans"/>
                <a:cs typeface="Noto Sans"/>
              </a:defRPr>
            </a:pPr>
            <a:r>
              <a:rPr sz="2100" b="1">
                <a:solidFill>
                  <a:srgbClr val="B46439"/>
                </a:solidFill>
                <a:latin typeface="Noto Sans"/>
                <a:ea typeface="Noto Sans"/>
                <a:cs typeface="Noto Sans"/>
              </a:rPr>
              <a:t>Meaning of a relationship</a:t>
            </a:r>
          </a:p>
        </p:txBody>
      </p:sp>
      <p:sp>
        <p:nvSpPr>
          <p:cNvPr id="8" name="Granger tests ask whether source lags add pre">
            <a:extLst xmlns:a="http://schemas.openxmlformats.org/drawingml/2006/main">
              <a:ext uri="{FF2B5EF4-FFF2-40B4-BE49-F238E27FC236}">
                <a16:creationId xmlns:a16="http://schemas.microsoft.com/office/drawing/2014/main" id="{4246765F-B0C6-4C72-9D08-953839D2FA90}"/>
              </a:ext>
            </a:extLst>
          </p:cNvPr>
          <p:cNvSpPr>
            <a:spLocks xmlns:a="http://schemas.openxmlformats.org/drawingml/2006/main" noGrp="1"/>
          </p:cNvSpPr>
          <p:nvPr/>
        </p:nvSpPr>
        <p:spPr>
          <a:xfrm xmlns:a="http://schemas.openxmlformats.org/drawingml/2006/main">
            <a:off x="8235950" y="3276600"/>
            <a:ext cx="3289300" cy="1283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Granger tests ask whether source lags add predictive content. They do not identify a structural causal effect.</a:t>
            </a:r>
          </a:p>
        </p:txBody>
      </p:sp>
      <p:sp>
        <p:nvSpPr>
          <p:cNvPr id="9" name="">
            <a:extLst xmlns:a="http://schemas.openxmlformats.org/drawingml/2006/main">
              <a:ext uri="{FF2B5EF4-FFF2-40B4-BE49-F238E27FC236}">
                <a16:creationId xmlns:a16="http://schemas.microsoft.com/office/drawing/2014/main" id="{E36A6701-3205-4117-8955-5C4333EEC407}"/>
              </a:ext>
            </a:extLst>
          </p:cNvPr>
          <p:cNvSpPr>
            <a:spLocks xmlns:a="http://schemas.openxmlformats.org/drawingml/2006/main" noGrp="1"/>
          </p:cNvSpPr>
          <p:nvPr/>
        </p:nvSpPr>
        <p:spPr>
          <a:xfrm xmlns:a="http://schemas.openxmlformats.org/drawingml/2006/main">
            <a:off x="666750" y="523875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The six-factor panel combines Fama–French five factors with momentum.</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The paper reports 8,817 trading days.</a:t>
            </a:r>
          </a:p>
        </p:txBody>
      </p:sp>
      <p:sp>
        <p:nvSpPr>
          <p:cNvPr id="10" name="Predicting Factor Decay">
            <a:extLst xmlns:a="http://schemas.openxmlformats.org/drawingml/2006/main">
              <a:ext uri="{FF2B5EF4-FFF2-40B4-BE49-F238E27FC236}">
                <a16:creationId xmlns:a16="http://schemas.microsoft.com/office/drawing/2014/main" id="{3A9DC44C-3F08-49B4-80B1-12B1F0AAD5B9}"/>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Predicting Factor Decay</a:t>
            </a:r>
          </a:p>
        </p:txBody>
      </p:sp>
      <p:sp>
        <p:nvSpPr>
          <p:cNvPr id="11" name="02 / 10">
            <a:extLst xmlns:a="http://schemas.openxmlformats.org/drawingml/2006/main">
              <a:ext uri="{FF2B5EF4-FFF2-40B4-BE49-F238E27FC236}">
                <a16:creationId xmlns:a16="http://schemas.microsoft.com/office/drawing/2014/main" id="{31F5B3AE-9DED-4857-9584-D741738B5B14}"/>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02 / 10</a:t>
            </a:r>
          </a:p>
        </p:txBody>
      </p:sp>
    </p:spTree>
    <p:extLst>
      <p:ext uri="{BB962C8B-B14F-4D97-AF65-F5344CB8AC3E}">
        <p14:creationId xmlns:p14="http://schemas.microsoft.com/office/powerpoint/2010/main" val="9504836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Regimes, predictive tests, and decay models">
            <a:extLst xmlns:a="http://schemas.openxmlformats.org/drawingml/2006/main">
              <a:ext uri="{FF2B5EF4-FFF2-40B4-BE49-F238E27FC236}">
                <a16:creationId xmlns:a16="http://schemas.microsoft.com/office/drawing/2014/main" id="{EE0810D9-445D-45CD-AA30-34BDBCA359EE}"/>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Regimes, predictive tests, and decay models</a:t>
            </a:r>
          </a:p>
        </p:txBody>
      </p:sp>
      <p:sp>
        <p:nvSpPr>
          <p:cNvPr id="2" name="The regime labels describe fitted distributio">
            <a:extLst xmlns:a="http://schemas.openxmlformats.org/drawingml/2006/main">
              <a:ext uri="{FF2B5EF4-FFF2-40B4-BE49-F238E27FC236}">
                <a16:creationId xmlns:a16="http://schemas.microsoft.com/office/drawing/2014/main" id="{0E48B398-3CC8-4EBE-A310-D0AD1BB24AB1}"/>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B46439"/>
                </a:solidFill>
                <a:latin typeface="Noto Sans"/>
                <a:ea typeface="Noto Sans"/>
                <a:cs typeface="Noto Sans"/>
              </a:defRPr>
            </a:pPr>
            <a:r>
              <a:rPr sz="2175" b="0">
                <a:solidFill>
                  <a:srgbClr val="B46439"/>
                </a:solidFill>
                <a:latin typeface="Noto Sans"/>
                <a:ea typeface="Noto Sans"/>
                <a:cs typeface="Noto Sans"/>
              </a:rPr>
              <a:t>The regime labels describe fitted distributions, not fixed economic event categories.</a:t>
            </a:r>
          </a:p>
        </p:txBody>
      </p:sp>
      <p:sp>
        <p:nvSpPr>
          <p:cNvPr id="3" name="Regime discovery">
            <a:extLst xmlns:a="http://schemas.openxmlformats.org/drawingml/2006/main">
              <a:ext uri="{FF2B5EF4-FFF2-40B4-BE49-F238E27FC236}">
                <a16:creationId xmlns:a16="http://schemas.microsoft.com/office/drawing/2014/main" id="{0CB41E43-BABB-4662-8114-FFB4FD9E3E74}"/>
              </a:ext>
            </a:extLst>
          </p:cNvPr>
          <p:cNvSpPr>
            <a:spLocks xmlns:a="http://schemas.openxmlformats.org/drawingml/2006/main" noGrp="1"/>
          </p:cNvSpPr>
          <p:nvPr/>
        </p:nvSpPr>
        <p:spPr>
          <a:xfrm xmlns:a="http://schemas.openxmlformats.org/drawingml/2006/main">
            <a:off x="6667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B46439"/>
                </a:solidFill>
                <a:latin typeface="Noto Sans"/>
                <a:ea typeface="Noto Sans"/>
                <a:cs typeface="Noto Sans"/>
              </a:defRPr>
            </a:pPr>
            <a:r>
              <a:rPr sz="2100" b="1">
                <a:solidFill>
                  <a:srgbClr val="B46439"/>
                </a:solidFill>
                <a:latin typeface="Noto Sans"/>
                <a:ea typeface="Noto Sans"/>
                <a:cs typeface="Noto Sans"/>
              </a:rPr>
              <a:t>Regime discovery</a:t>
            </a:r>
          </a:p>
        </p:txBody>
      </p:sp>
      <p:sp>
        <p:nvSpPr>
          <p:cNvPr id="4" name="Student-t hidden Markov models group return b">
            <a:extLst xmlns:a="http://schemas.openxmlformats.org/drawingml/2006/main">
              <a:ext uri="{FF2B5EF4-FFF2-40B4-BE49-F238E27FC236}">
                <a16:creationId xmlns:a16="http://schemas.microsoft.com/office/drawing/2014/main" id="{0D4C555A-2447-473F-9128-C728356DDB35}"/>
              </a:ext>
            </a:extLst>
          </p:cNvPr>
          <p:cNvSpPr>
            <a:spLocks xmlns:a="http://schemas.openxmlformats.org/drawingml/2006/main" noGrp="1"/>
          </p:cNvSpPr>
          <p:nvPr/>
        </p:nvSpPr>
        <p:spPr>
          <a:xfrm xmlns:a="http://schemas.openxmlformats.org/drawingml/2006/main">
            <a:off x="666750" y="3276600"/>
            <a:ext cx="3289300" cy="158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Student-t hidden Markov models group return behavior into three statistical states. Fifty random starts assess sensitivity to local optima.</a:t>
            </a:r>
          </a:p>
        </p:txBody>
      </p:sp>
      <p:sp>
        <p:nvSpPr>
          <p:cNvPr id="5" name="Relationship measurement">
            <a:extLst xmlns:a="http://schemas.openxmlformats.org/drawingml/2006/main">
              <a:ext uri="{FF2B5EF4-FFF2-40B4-BE49-F238E27FC236}">
                <a16:creationId xmlns:a16="http://schemas.microsoft.com/office/drawing/2014/main" id="{0CE1F36B-2370-4FA3-861C-C39C9189B1EC}"/>
              </a:ext>
            </a:extLst>
          </p:cNvPr>
          <p:cNvSpPr>
            <a:spLocks xmlns:a="http://schemas.openxmlformats.org/drawingml/2006/main" noGrp="1"/>
          </p:cNvSpPr>
          <p:nvPr/>
        </p:nvSpPr>
        <p:spPr>
          <a:xfrm xmlns:a="http://schemas.openxmlformats.org/drawingml/2006/main">
            <a:off x="44513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B46439"/>
                </a:solidFill>
                <a:latin typeface="Noto Sans"/>
                <a:ea typeface="Noto Sans"/>
                <a:cs typeface="Noto Sans"/>
              </a:defRPr>
            </a:pPr>
            <a:r>
              <a:rPr sz="2100" b="1">
                <a:solidFill>
                  <a:srgbClr val="B46439"/>
                </a:solidFill>
                <a:latin typeface="Noto Sans"/>
                <a:ea typeface="Noto Sans"/>
                <a:cs typeface="Noto Sans"/>
              </a:rPr>
              <a:t>Relationship measurement</a:t>
            </a:r>
          </a:p>
        </p:txBody>
      </p:sp>
      <p:sp>
        <p:nvSpPr>
          <p:cNvPr id="6" name="Within each state, Granger tests measure sour">
            <a:extLst xmlns:a="http://schemas.openxmlformats.org/drawingml/2006/main">
              <a:ext uri="{FF2B5EF4-FFF2-40B4-BE49-F238E27FC236}">
                <a16:creationId xmlns:a16="http://schemas.microsoft.com/office/drawing/2014/main" id="{50C72ADB-696A-48FA-AD05-2B2F8D125193}"/>
              </a:ext>
            </a:extLst>
          </p:cNvPr>
          <p:cNvSpPr>
            <a:spLocks xmlns:a="http://schemas.openxmlformats.org/drawingml/2006/main" noGrp="1"/>
          </p:cNvSpPr>
          <p:nvPr/>
        </p:nvSpPr>
        <p:spPr>
          <a:xfrm xmlns:a="http://schemas.openxmlformats.org/drawingml/2006/main">
            <a:off x="4451350" y="3276600"/>
            <a:ext cx="3289300" cy="158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Within each state, Granger tests measure source-lag contribution. Rolling statistics track how that evidence changes.</a:t>
            </a:r>
          </a:p>
        </p:txBody>
      </p:sp>
      <p:sp>
        <p:nvSpPr>
          <p:cNvPr id="7" name="Decay prediction">
            <a:extLst xmlns:a="http://schemas.openxmlformats.org/drawingml/2006/main">
              <a:ext uri="{FF2B5EF4-FFF2-40B4-BE49-F238E27FC236}">
                <a16:creationId xmlns:a16="http://schemas.microsoft.com/office/drawing/2014/main" id="{E63FBB86-7118-419F-91EB-923F9CF384A8}"/>
              </a:ext>
            </a:extLst>
          </p:cNvPr>
          <p:cNvSpPr>
            <a:spLocks xmlns:a="http://schemas.openxmlformats.org/drawingml/2006/main" noGrp="1"/>
          </p:cNvSpPr>
          <p:nvPr/>
        </p:nvSpPr>
        <p:spPr>
          <a:xfrm xmlns:a="http://schemas.openxmlformats.org/drawingml/2006/main">
            <a:off x="82359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B46439"/>
                </a:solidFill>
                <a:latin typeface="Noto Sans"/>
                <a:ea typeface="Noto Sans"/>
                <a:cs typeface="Noto Sans"/>
              </a:defRPr>
            </a:pPr>
            <a:r>
              <a:rPr sz="2100" b="1">
                <a:solidFill>
                  <a:srgbClr val="B46439"/>
                </a:solidFill>
                <a:latin typeface="Noto Sans"/>
                <a:ea typeface="Noto Sans"/>
                <a:cs typeface="Noto Sans"/>
              </a:rPr>
              <a:t>Decay prediction</a:t>
            </a:r>
          </a:p>
        </p:txBody>
      </p:sp>
      <p:sp>
        <p:nvSpPr>
          <p:cNvPr id="8" name="Classifiers predict a loss of significance wi">
            <a:extLst xmlns:a="http://schemas.openxmlformats.org/drawingml/2006/main">
              <a:ext uri="{FF2B5EF4-FFF2-40B4-BE49-F238E27FC236}">
                <a16:creationId xmlns:a16="http://schemas.microsoft.com/office/drawing/2014/main" id="{38BDCC41-D3A3-4377-BC27-9D699C979EA2}"/>
              </a:ext>
            </a:extLst>
          </p:cNvPr>
          <p:cNvSpPr>
            <a:spLocks xmlns:a="http://schemas.openxmlformats.org/drawingml/2006/main" noGrp="1"/>
          </p:cNvSpPr>
          <p:nvPr/>
        </p:nvSpPr>
        <p:spPr>
          <a:xfrm xmlns:a="http://schemas.openxmlformats.org/drawingml/2006/main">
            <a:off x="8235950" y="3276600"/>
            <a:ext cx="3289300" cy="1283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Classifiers predict a loss of significance within five years. Survival models rank the time until a decay event.</a:t>
            </a:r>
          </a:p>
        </p:txBody>
      </p:sp>
      <p:sp>
        <p:nvSpPr>
          <p:cNvPr id="9" name="Predicting Factor Decay">
            <a:extLst xmlns:a="http://schemas.openxmlformats.org/drawingml/2006/main">
              <a:ext uri="{FF2B5EF4-FFF2-40B4-BE49-F238E27FC236}">
                <a16:creationId xmlns:a16="http://schemas.microsoft.com/office/drawing/2014/main" id="{923B758F-49DA-4D69-A33D-9BEE5386BB72}"/>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Predicting Factor Decay</a:t>
            </a:r>
          </a:p>
        </p:txBody>
      </p:sp>
      <p:sp>
        <p:nvSpPr>
          <p:cNvPr id="10" name="03 / 10">
            <a:extLst xmlns:a="http://schemas.openxmlformats.org/drawingml/2006/main">
              <a:ext uri="{FF2B5EF4-FFF2-40B4-BE49-F238E27FC236}">
                <a16:creationId xmlns:a16="http://schemas.microsoft.com/office/drawing/2014/main" id="{09B2E68C-3DB0-468E-91EE-3FF5FB654F94}"/>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03 / 10</a:t>
            </a:r>
          </a:p>
        </p:txBody>
      </p:sp>
    </p:spTree>
    <p:extLst>
      <p:ext uri="{BB962C8B-B14F-4D97-AF65-F5344CB8AC3E}">
        <p14:creationId xmlns:p14="http://schemas.microsoft.com/office/powerpoint/2010/main" val="19880030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redictive evidence changes over time">
            <a:extLst xmlns:a="http://schemas.openxmlformats.org/drawingml/2006/main">
              <a:ext uri="{FF2B5EF4-FFF2-40B4-BE49-F238E27FC236}">
                <a16:creationId xmlns:a16="http://schemas.microsoft.com/office/drawing/2014/main" id="{687FEB93-3B6D-42D6-8794-36CFE320287A}"/>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Predictive evidence changes over time</a:t>
            </a:r>
          </a:p>
        </p:txBody>
      </p:sp>
      <p:sp>
        <p:nvSpPr>
          <p:cNvPr id="2" name="The paper's rolling analysis shows episodic c">
            <a:extLst xmlns:a="http://schemas.openxmlformats.org/drawingml/2006/main">
              <a:ext uri="{FF2B5EF4-FFF2-40B4-BE49-F238E27FC236}">
                <a16:creationId xmlns:a16="http://schemas.microsoft.com/office/drawing/2014/main" id="{84359599-2851-4558-9668-DDA2C9340D07}"/>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B46439"/>
                </a:solidFill>
                <a:latin typeface="Noto Sans"/>
                <a:ea typeface="Noto Sans"/>
                <a:cs typeface="Noto Sans"/>
              </a:defRPr>
            </a:pPr>
            <a:r>
              <a:rPr sz="2175" b="0">
                <a:solidFill>
                  <a:srgbClr val="B46439"/>
                </a:solidFill>
                <a:latin typeface="Noto Sans"/>
                <a:ea typeface="Noto Sans"/>
                <a:cs typeface="Noto Sans"/>
              </a:rPr>
              <a:t>The paper's rolling analysis shows episodic changes in value-to-size predictability.</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78ee1fbb63e4d65"/>
          <a:stretch xmlns:a="http://schemas.openxmlformats.org/drawingml/2006/main"/>
        </p:blipFill>
        <p:spPr>
          <a:xfrm xmlns:a="http://schemas.openxmlformats.org/drawingml/2006/main">
            <a:off x="693045" y="2571750"/>
            <a:ext cx="7757909" cy="3190875"/>
          </a:xfrm>
          <a:prstGeom xmlns:a="http://schemas.openxmlformats.org/drawingml/2006/main" prst="rect">
            <a:avLst/>
          </a:prstGeom>
        </p:spPr>
      </p:pic>
      <p:sp>
        <p:nvSpPr>
          <p:cNvPr id="4" name="Original manuscript figure: rolling three-yea">
            <a:extLst xmlns:a="http://schemas.openxmlformats.org/drawingml/2006/main">
              <a:ext uri="{FF2B5EF4-FFF2-40B4-BE49-F238E27FC236}">
                <a16:creationId xmlns:a16="http://schemas.microsoft.com/office/drawing/2014/main" id="{B34FAC3A-7B34-4291-A205-E45AA64CAF1D}"/>
              </a:ext>
            </a:extLst>
          </p:cNvPr>
          <p:cNvSpPr>
            <a:spLocks xmlns:a="http://schemas.openxmlformats.org/drawingml/2006/main" noGrp="1"/>
          </p:cNvSpPr>
          <p:nvPr/>
        </p:nvSpPr>
        <p:spPr>
          <a:xfrm xmlns:a="http://schemas.openxmlformats.org/drawingml/2006/main">
            <a:off x="666750" y="585787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07D8B"/>
                </a:solidFill>
                <a:latin typeface="Noto Sans"/>
                <a:ea typeface="Noto Sans"/>
                <a:cs typeface="Noto Sans"/>
              </a:defRPr>
            </a:pPr>
            <a:r>
              <a:rPr sz="1350" b="0">
                <a:solidFill>
                  <a:srgbClr val="607D8B"/>
                </a:solidFill>
                <a:latin typeface="Noto Sans"/>
                <a:ea typeface="Noto Sans"/>
                <a:cs typeface="Noto Sans"/>
              </a:rPr>
              <a:t>Original manuscript figure: rolling three-year unconditional Granger evidence, using lags 1–9 and regime-colored background.</a:t>
            </a:r>
          </a:p>
        </p:txBody>
      </p:sp>
      <p:sp>
        <p:nvSpPr>
          <p:cNvPr id="5" name="">
            <a:extLst xmlns:a="http://schemas.openxmlformats.org/drawingml/2006/main">
              <a:ext uri="{FF2B5EF4-FFF2-40B4-BE49-F238E27FC236}">
                <a16:creationId xmlns:a16="http://schemas.microsoft.com/office/drawing/2014/main" id="{D2857FEE-3B06-41EE-AD9D-F2E228302796}"/>
              </a:ext>
            </a:extLst>
          </p:cNvPr>
          <p:cNvSpPr>
            <a:spLocks xmlns:a="http://schemas.openxmlformats.org/drawingml/2006/main" noGrp="1"/>
          </p:cNvSpPr>
          <p:nvPr/>
        </p:nvSpPr>
        <p:spPr>
          <a:xfrm xmlns:a="http://schemas.openxmlformats.org/drawingml/2006/main">
            <a:off x="8905875" y="2667000"/>
            <a:ext cx="26193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1400"/>
              </a:spcAft>
              <a:buChar char="•"/>
              <a:defRPr sz="1800" b="0">
                <a:solidFill>
                  <a:srgbClr val="354F62"/>
                </a:solidFill>
                <a:latin typeface="Noto Sans"/>
                <a:ea typeface="Noto Sans"/>
                <a:cs typeface="Noto Sans"/>
              </a:defRPr>
            </a:pPr>
            <a:r>
              <a:rPr sz="1800" b="0">
                <a:solidFill>
                  <a:srgbClr val="354F62"/>
                </a:solidFill>
                <a:latin typeface="Noto Sans"/>
                <a:ea typeface="Noto Sans"/>
                <a:cs typeface="Noto Sans"/>
              </a:rPr>
              <a:t>The plotted quantity is −log10(p), not a trading return.</a:t>
            </a:r>
          </a:p>
          <a:p xmlns:a="http://schemas.openxmlformats.org/drawingml/2006/main">
            <a:pPr marL="241300" indent="-127000">
              <a:spcAft>
                <a:spcPts val="1400"/>
              </a:spcAft>
              <a:buChar char="•"/>
              <a:defRPr sz="1800" b="0">
                <a:solidFill>
                  <a:srgbClr val="354F62"/>
                </a:solidFill>
                <a:latin typeface="Noto Sans"/>
                <a:ea typeface="Noto Sans"/>
                <a:cs typeface="Noto Sans"/>
              </a:defRPr>
            </a:pPr>
            <a:r>
              <a:rPr sz="1800" b="0">
                <a:solidFill>
                  <a:srgbClr val="354F62"/>
                </a:solidFill>
                <a:latin typeface="Noto Sans"/>
                <a:ea typeface="Noto Sans"/>
                <a:cs typeface="Noto Sans"/>
              </a:rPr>
              <a:t>Nine lags describe the included history, not nine-day advance warning.</a:t>
            </a:r>
          </a:p>
        </p:txBody>
      </p:sp>
      <p:sp>
        <p:nvSpPr>
          <p:cNvPr id="6" name="Predicting Factor Decay">
            <a:extLst xmlns:a="http://schemas.openxmlformats.org/drawingml/2006/main">
              <a:ext uri="{FF2B5EF4-FFF2-40B4-BE49-F238E27FC236}">
                <a16:creationId xmlns:a16="http://schemas.microsoft.com/office/drawing/2014/main" id="{A522D61A-F1EE-4230-905E-2DE2DC2F7397}"/>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Predicting Factor Decay</a:t>
            </a:r>
          </a:p>
        </p:txBody>
      </p:sp>
      <p:sp>
        <p:nvSpPr>
          <p:cNvPr id="7" name="04 / 10">
            <a:extLst xmlns:a="http://schemas.openxmlformats.org/drawingml/2006/main">
              <a:ext uri="{FF2B5EF4-FFF2-40B4-BE49-F238E27FC236}">
                <a16:creationId xmlns:a16="http://schemas.microsoft.com/office/drawing/2014/main" id="{54D9BD9C-1716-4FF2-A74F-B961219DD32E}"/>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04 / 10</a:t>
            </a:r>
          </a:p>
        </p:txBody>
      </p:sp>
    </p:spTree>
    <p:extLst>
      <p:ext uri="{BB962C8B-B14F-4D97-AF65-F5344CB8AC3E}">
        <p14:creationId xmlns:p14="http://schemas.microsoft.com/office/powerpoint/2010/main" val="2117131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Learning which relationships may weaken">
            <a:extLst xmlns:a="http://schemas.openxmlformats.org/drawingml/2006/main">
              <a:ext uri="{FF2B5EF4-FFF2-40B4-BE49-F238E27FC236}">
                <a16:creationId xmlns:a16="http://schemas.microsoft.com/office/drawing/2014/main" id="{95AE18CC-1A76-4E5B-A4D5-BD8F4131BCA4}"/>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Learning which relationships may weaken</a:t>
            </a:r>
          </a:p>
        </p:txBody>
      </p:sp>
      <p:sp>
        <p:nvSpPr>
          <p:cNvPr id="2" name="Each observation is a directed factor pair. F">
            <a:extLst xmlns:a="http://schemas.openxmlformats.org/drawingml/2006/main">
              <a:ext uri="{FF2B5EF4-FFF2-40B4-BE49-F238E27FC236}">
                <a16:creationId xmlns:a16="http://schemas.microsoft.com/office/drawing/2014/main" id="{75512919-61F3-40DE-B404-6F240D346848}"/>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B46439"/>
                </a:solidFill>
                <a:latin typeface="Noto Sans"/>
                <a:ea typeface="Noto Sans"/>
                <a:cs typeface="Noto Sans"/>
              </a:defRPr>
            </a:pPr>
            <a:r>
              <a:rPr sz="2175" b="0">
                <a:solidFill>
                  <a:srgbClr val="B46439"/>
                </a:solidFill>
                <a:latin typeface="Noto Sans"/>
                <a:ea typeface="Noto Sans"/>
                <a:cs typeface="Noto Sans"/>
              </a:rPr>
              <a:t>Each observation is a directed factor pair. F summarizes evidence that source lags improve prediction.</a:t>
            </a:r>
          </a:p>
        </p:txBody>
      </p:sp>
      <p:sp>
        <p:nvSpPr>
          <p:cNvPr id="3" name="">
            <a:extLst xmlns:a="http://schemas.openxmlformats.org/drawingml/2006/main">
              <a:ext uri="{FF2B5EF4-FFF2-40B4-BE49-F238E27FC236}">
                <a16:creationId xmlns:a16="http://schemas.microsoft.com/office/drawing/2014/main" id="{FD04BC71-4EE6-42AC-9489-2C1A6AB83538}"/>
              </a:ext>
            </a:extLst>
          </p:cNvPr>
          <p:cNvSpPr>
            <a:spLocks xmlns:a="http://schemas.openxmlformats.org/drawingml/2006/main" noGrp="1"/>
          </p:cNvSpPr>
          <p:nvPr/>
        </p:nvSpPr>
        <p:spPr>
          <a:xfrm xmlns:a="http://schemas.openxmlformats.org/drawingml/2006/main">
            <a:off x="666750" y="2514600"/>
            <a:ext cx="10668000" cy="3438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1400"/>
              </a:spcAft>
              <a:buChar char="•"/>
              <a:defRPr sz="2250" b="0">
                <a:solidFill>
                  <a:srgbClr val="354F62"/>
                </a:solidFill>
                <a:latin typeface="Noto Sans"/>
                <a:ea typeface="Noto Sans"/>
                <a:cs typeface="Noto Sans"/>
              </a:defRPr>
            </a:pPr>
            <a:r>
              <a:rPr sz="2250" b="0">
                <a:solidFill>
                  <a:srgbClr val="354F62"/>
                </a:solidFill>
                <a:latin typeface="Noto Sans"/>
                <a:ea typeface="Noto Sans"/>
                <a:cs typeface="Noto Sans"/>
              </a:rPr>
              <a:t>Train on 20 pairs and evaluate on 10 held-out pairs.</a:t>
            </a:r>
          </a:p>
          <a:p xmlns:a="http://schemas.openxmlformats.org/drawingml/2006/main">
            <a:pPr marL="241300" indent="-127000">
              <a:spcAft>
                <a:spcPts val="1400"/>
              </a:spcAft>
              <a:buChar char="•"/>
              <a:defRPr sz="2250" b="0">
                <a:solidFill>
                  <a:srgbClr val="354F62"/>
                </a:solidFill>
                <a:latin typeface="Noto Sans"/>
                <a:ea typeface="Noto Sans"/>
                <a:cs typeface="Noto Sans"/>
              </a:defRPr>
            </a:pPr>
            <a:r>
              <a:rPr sz="2250" b="0">
                <a:solidFill>
                  <a:srgbClr val="354F62"/>
                </a:solidFill>
                <a:latin typeface="Noto Sans"/>
                <a:ea typeface="Noto Sans"/>
                <a:cs typeface="Noto Sans"/>
              </a:rPr>
              <a:t>Use initial F strength, rolling F behavior, correlation, and relative volatility.</a:t>
            </a:r>
          </a:p>
          <a:p xmlns:a="http://schemas.openxmlformats.org/drawingml/2006/main">
            <a:pPr marL="241300" indent="-127000">
              <a:spcAft>
                <a:spcPts val="1400"/>
              </a:spcAft>
              <a:buChar char="•"/>
              <a:defRPr sz="2250" b="0">
                <a:solidFill>
                  <a:srgbClr val="354F62"/>
                </a:solidFill>
                <a:latin typeface="Noto Sans"/>
                <a:ea typeface="Noto Sans"/>
                <a:cs typeface="Noto Sans"/>
              </a:defRPr>
            </a:pPr>
            <a:r>
              <a:rPr sz="2250" b="0">
                <a:solidFill>
                  <a:srgbClr val="354F62"/>
                </a:solidFill>
                <a:latin typeface="Noto Sans"/>
                <a:ea typeface="Noto Sans"/>
                <a:cs typeface="Noto Sans"/>
              </a:rPr>
              <a:t>A binary event means F loses significance within five years.</a:t>
            </a:r>
          </a:p>
          <a:p xmlns:a="http://schemas.openxmlformats.org/drawingml/2006/main">
            <a:pPr marL="241300" indent="-127000">
              <a:spcAft>
                <a:spcPts val="1400"/>
              </a:spcAft>
              <a:buChar char="•"/>
              <a:defRPr sz="2250" b="0">
                <a:solidFill>
                  <a:srgbClr val="354F62"/>
                </a:solidFill>
                <a:latin typeface="Noto Sans"/>
                <a:ea typeface="Noto Sans"/>
                <a:cs typeface="Noto Sans"/>
              </a:defRPr>
            </a:pPr>
            <a:r>
              <a:rPr sz="2250" b="0">
                <a:solidFill>
                  <a:srgbClr val="354F62"/>
                </a:solidFill>
                <a:latin typeface="Noto Sans"/>
                <a:ea typeface="Noto Sans"/>
                <a:cs typeface="Noto Sans"/>
              </a:rPr>
              <a:t>Survival analysis models event timing, with seven events among thirty pairs.</a:t>
            </a:r>
          </a:p>
        </p:txBody>
      </p:sp>
      <p:sp>
        <p:nvSpPr>
          <p:cNvPr id="4" name="Predicting Factor Decay">
            <a:extLst xmlns:a="http://schemas.openxmlformats.org/drawingml/2006/main">
              <a:ext uri="{FF2B5EF4-FFF2-40B4-BE49-F238E27FC236}">
                <a16:creationId xmlns:a16="http://schemas.microsoft.com/office/drawing/2014/main" id="{98F69EE3-48D1-4966-B236-DED249290244}"/>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Predicting Factor Decay</a:t>
            </a:r>
          </a:p>
        </p:txBody>
      </p:sp>
      <p:sp>
        <p:nvSpPr>
          <p:cNvPr id="5" name="05 / 10">
            <a:extLst xmlns:a="http://schemas.openxmlformats.org/drawingml/2006/main">
              <a:ext uri="{FF2B5EF4-FFF2-40B4-BE49-F238E27FC236}">
                <a16:creationId xmlns:a16="http://schemas.microsoft.com/office/drawing/2014/main" id="{A509B92B-BA34-4D92-9442-9690998A4352}"/>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05 / 10</a:t>
            </a:r>
          </a:p>
        </p:txBody>
      </p:sp>
    </p:spTree>
    <p:extLst>
      <p:ext uri="{BB962C8B-B14F-4D97-AF65-F5344CB8AC3E}">
        <p14:creationId xmlns:p14="http://schemas.microsoft.com/office/powerpoint/2010/main" val="16145329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trong CV ranking, limited holdout evidence">
            <a:extLst xmlns:a="http://schemas.openxmlformats.org/drawingml/2006/main">
              <a:ext uri="{FF2B5EF4-FFF2-40B4-BE49-F238E27FC236}">
                <a16:creationId xmlns:a16="http://schemas.microsoft.com/office/drawing/2014/main" id="{5CF52475-0E7B-44EB-9DF5-4A8C75346ADE}"/>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Strong CV ranking, limited holdout evidence</a:t>
            </a:r>
          </a:p>
        </p:txBody>
      </p:sp>
      <p:sp>
        <p:nvSpPr>
          <p:cNvPr id="2" name="Only seven decay events support the reported ">
            <a:extLst xmlns:a="http://schemas.openxmlformats.org/drawingml/2006/main">
              <a:ext uri="{FF2B5EF4-FFF2-40B4-BE49-F238E27FC236}">
                <a16:creationId xmlns:a16="http://schemas.microsoft.com/office/drawing/2014/main" id="{BF23C441-5301-4582-91BF-BFD68D18FE2E}"/>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B46439"/>
                </a:solidFill>
                <a:latin typeface="Noto Sans"/>
                <a:ea typeface="Noto Sans"/>
                <a:cs typeface="Noto Sans"/>
              </a:defRPr>
            </a:pPr>
            <a:r>
              <a:rPr sz="2175" b="0">
                <a:solidFill>
                  <a:srgbClr val="B46439"/>
                </a:solidFill>
                <a:latin typeface="Noto Sans"/>
                <a:ea typeface="Noto Sans"/>
                <a:cs typeface="Noto Sans"/>
              </a:rPr>
              <a:t>Only seven decay events support the reported model comparison.</a:t>
            </a:r>
          </a:p>
        </p:txBody>
      </p:sp>
      <p:graphicFrame>
        <p:nvGraphicFramePr>
          <p:cNvPr id="9" name=""/>
          <p:cNvGraphicFramePr/>
          <p:nvPr/>
        </p:nvGraphicFramePr>
        <p:xfrm>
          <a:off xmlns:a="http://schemas.openxmlformats.org/drawingml/2006/main" x="666750" y="2514600"/>
          <a:ext xmlns:a="http://schemas.openxmlformats.org/drawingml/2006/main" cx="10858500" cy="2026158"/>
        </p:xfrm>
        <a:graphic xmlns:a="http://schemas.openxmlformats.org/drawingml/2006/main">
          <a:graphicData uri="http://schemas.openxmlformats.org/drawingml/2006/table">
            <a:tbl>
              <a:tblPr firstRow="1" bandRow="0"/>
              <a:tblGrid>
                <a:gridCol w="4943698"/>
                <a:gridCol w="2581762"/>
                <a:gridCol w="3333040"/>
              </a:tblGrid>
              <a:tr h="483108">
                <a:tc>
                  <a:txBody>
                    <a:bodyPr/>
                    <a:lstStyle/>
                    <a:p>
                      <a:r>
                        <a:rPr sz="1800" b="1">
                          <a:solidFill>
                            <a:srgbClr val="FFFFFF"/>
                          </a:solidFill>
                          <a:latin typeface="Noto Sans"/>
                          <a:ea typeface="Noto Sans"/>
                          <a:cs typeface="Noto Sans"/>
                        </a:rPr>
                        <a:t>Evaluation</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Metric</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Reported result</a:t>
                      </a:r>
                    </a:p>
                  </a:txBody>
                  <a:tcPr marL="133350" marR="133350" marT="85725" marB="85725" anchor="ctr">
                    <a:solidFill>
                      <a:srgbClr val="102A43"/>
                    </a:solidFill>
                  </a:tcPr>
                </a:tc>
              </a:tr>
              <a:tr h="514350">
                <a:tc>
                  <a:txBody>
                    <a:bodyPr/>
                    <a:lstStyle/>
                    <a:p>
                      <a:r>
                        <a:rPr sz="1800" b="0">
                          <a:solidFill>
                            <a:srgbClr val="354F62"/>
                          </a:solidFill>
                          <a:latin typeface="Noto Sans"/>
                          <a:ea typeface="Noto Sans"/>
                          <a:cs typeface="Noto Sans"/>
                        </a:rPr>
                        <a:t>Random Survival Forest, 5-fold CV</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C-index</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0.933 ± 0.097</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Logistic regression, 5-fold CV</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AUC</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0.933 ± 0.133</a:t>
                      </a:r>
                    </a:p>
                  </a:txBody>
                  <a:tcPr marL="133350" marR="133350" marT="85725" marB="85725" anchor="ctr">
                    <a:solidFill>
                      <a:srgbClr val="F1F6F8"/>
                    </a:solidFill>
                  </a:tcPr>
                </a:tc>
              </a:tr>
              <a:tr h="514350">
                <a:tc>
                  <a:txBody>
                    <a:bodyPr/>
                    <a:lstStyle/>
                    <a:p>
                      <a:r>
                        <a:rPr sz="1800" b="0">
                          <a:solidFill>
                            <a:srgbClr val="354F62"/>
                          </a:solidFill>
                          <a:latin typeface="Noto Sans"/>
                          <a:ea typeface="Noto Sans"/>
                          <a:cs typeface="Noto Sans"/>
                        </a:rPr>
                        <a:t>Separate ten-pair holdout</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Accuracy</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60% (6/10)</a:t>
                      </a:r>
                    </a:p>
                  </a:txBody>
                  <a:tcPr marL="133350" marR="133350" marT="85725"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4AE1251-2C79-447B-9E4D-CD6E8AB07783}"/>
              </a:ext>
            </a:extLst>
          </p:cNvPr>
          <p:cNvSpPr>
            <a:spLocks xmlns:a="http://schemas.openxmlformats.org/drawingml/2006/main" noGrp="1"/>
          </p:cNvSpPr>
          <p:nvPr/>
        </p:nvSpPr>
        <p:spPr>
          <a:xfrm xmlns:a="http://schemas.openxmlformats.org/drawingml/2006/main">
            <a:off x="666750" y="4712208"/>
            <a:ext cx="10858500" cy="16885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C-index evaluates the ordering of event times.</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The CV standard deviation is not a confidence interval.</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Pair-level validation does not establish future-time deployment performance.</a:t>
            </a:r>
          </a:p>
        </p:txBody>
      </p:sp>
      <p:sp>
        <p:nvSpPr>
          <p:cNvPr id="5" name="Predicting Factor Decay">
            <a:extLst xmlns:a="http://schemas.openxmlformats.org/drawingml/2006/main">
              <a:ext uri="{FF2B5EF4-FFF2-40B4-BE49-F238E27FC236}">
                <a16:creationId xmlns:a16="http://schemas.microsoft.com/office/drawing/2014/main" id="{98D05612-4256-451F-828F-F0808D5FCA4B}"/>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Predicting Factor Decay</a:t>
            </a:r>
          </a:p>
        </p:txBody>
      </p:sp>
      <p:sp>
        <p:nvSpPr>
          <p:cNvPr id="6" name="06 / 10">
            <a:extLst xmlns:a="http://schemas.openxmlformats.org/drawingml/2006/main">
              <a:ext uri="{FF2B5EF4-FFF2-40B4-BE49-F238E27FC236}">
                <a16:creationId xmlns:a16="http://schemas.microsoft.com/office/drawing/2014/main" id="{ADBC5384-492D-4280-99AC-6B8AC63E6ABA}"/>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06 / 10</a:t>
            </a:r>
          </a:p>
        </p:txBody>
      </p:sp>
    </p:spTree>
    <p:extLst>
      <p:ext uri="{BB962C8B-B14F-4D97-AF65-F5344CB8AC3E}">
        <p14:creationId xmlns:p14="http://schemas.microsoft.com/office/powerpoint/2010/main" val="105451075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gime detection has a speed–accuracy tradeof">
            <a:extLst xmlns:a="http://schemas.openxmlformats.org/drawingml/2006/main">
              <a:ext uri="{FF2B5EF4-FFF2-40B4-BE49-F238E27FC236}">
                <a16:creationId xmlns:a16="http://schemas.microsoft.com/office/drawing/2014/main" id="{9E1BEA05-786F-444F-A414-36532866136A}"/>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Regime detection has a speed–accuracy tradeoff</a:t>
            </a:r>
          </a:p>
        </p:txBody>
      </p:sp>
      <p:sp>
        <p:nvSpPr>
          <p:cNvPr id="2" name="Detection delay measures recognition of a reg">
            <a:extLst xmlns:a="http://schemas.openxmlformats.org/drawingml/2006/main">
              <a:ext uri="{FF2B5EF4-FFF2-40B4-BE49-F238E27FC236}">
                <a16:creationId xmlns:a16="http://schemas.microsoft.com/office/drawing/2014/main" id="{5801AE6A-EED4-4FC0-9E52-3403C2676324}"/>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B46439"/>
                </a:solidFill>
                <a:latin typeface="Noto Sans"/>
                <a:ea typeface="Noto Sans"/>
                <a:cs typeface="Noto Sans"/>
              </a:defRPr>
            </a:pPr>
            <a:r>
              <a:rPr sz="2175" b="0">
                <a:solidFill>
                  <a:srgbClr val="B46439"/>
                </a:solidFill>
                <a:latin typeface="Noto Sans"/>
                <a:ea typeface="Noto Sans"/>
                <a:cs typeface="Noto Sans"/>
              </a:rPr>
              <a:t>Detection delay measures recognition of a regime change after it occurs.</a:t>
            </a:r>
          </a:p>
        </p:txBody>
      </p:sp>
      <p:graphicFrame>
        <p:nvGraphicFramePr>
          <p:cNvPr id="9" name=""/>
          <p:cNvGraphicFramePr/>
          <p:nvPr/>
        </p:nvGraphicFramePr>
        <p:xfrm>
          <a:off xmlns:a="http://schemas.openxmlformats.org/drawingml/2006/main" x="666750" y="2514600"/>
          <a:ext xmlns:a="http://schemas.openxmlformats.org/drawingml/2006/main" cx="10858500" cy="2019300"/>
        </p:xfrm>
        <a:graphic xmlns:a="http://schemas.openxmlformats.org/drawingml/2006/main">
          <a:graphicData uri="http://schemas.openxmlformats.org/drawingml/2006/table">
            <a:tbl>
              <a:tblPr firstRow="1" bandRow="0"/>
              <a:tblGrid>
                <a:gridCol w="3604528"/>
                <a:gridCol w="2417991"/>
                <a:gridCol w="2417991"/>
                <a:gridCol w="2417991"/>
              </a:tblGrid>
              <a:tr h="476250">
                <a:tc>
                  <a:txBody>
                    <a:bodyPr/>
                    <a:lstStyle/>
                    <a:p>
                      <a:r>
                        <a:rPr sz="1650" b="1">
                          <a:solidFill>
                            <a:srgbClr val="FFFFFF"/>
                          </a:solidFill>
                          <a:latin typeface="Noto Sans"/>
                          <a:ea typeface="Noto Sans"/>
                          <a:cs typeface="Noto Sans"/>
                        </a:rPr>
                        <a:t>Method</a:t>
                      </a:r>
                    </a:p>
                  </a:txBody>
                  <a:tcPr marL="133350" marR="133350" marT="85725" marB="85725" anchor="ctr">
                    <a:solidFill>
                      <a:srgbClr val="102A43"/>
                    </a:solidFill>
                  </a:tcPr>
                </a:tc>
                <a:tc>
                  <a:txBody>
                    <a:bodyPr/>
                    <a:lstStyle/>
                    <a:p>
                      <a:r>
                        <a:rPr sz="1650" b="1">
                          <a:solidFill>
                            <a:srgbClr val="FFFFFF"/>
                          </a:solidFill>
                          <a:latin typeface="Noto Sans"/>
                          <a:ea typeface="Noto Sans"/>
                          <a:cs typeface="Noto Sans"/>
                        </a:rPr>
                        <a:t>Delay</a:t>
                      </a:r>
                    </a:p>
                  </a:txBody>
                  <a:tcPr marL="133350" marR="133350" marT="85725" marB="85725" anchor="ctr">
                    <a:solidFill>
                      <a:srgbClr val="102A43"/>
                    </a:solidFill>
                  </a:tcPr>
                </a:tc>
                <a:tc>
                  <a:txBody>
                    <a:bodyPr/>
                    <a:lstStyle/>
                    <a:p>
                      <a:r>
                        <a:rPr sz="1650" b="1">
                          <a:solidFill>
                            <a:srgbClr val="FFFFFF"/>
                          </a:solidFill>
                          <a:latin typeface="Noto Sans"/>
                          <a:ea typeface="Noto Sans"/>
                          <a:cs typeface="Noto Sans"/>
                        </a:rPr>
                        <a:t>Accuracy</a:t>
                      </a:r>
                    </a:p>
                  </a:txBody>
                  <a:tcPr marL="133350" marR="133350" marT="85725" marB="85725" anchor="ctr">
                    <a:solidFill>
                      <a:srgbClr val="102A43"/>
                    </a:solidFill>
                  </a:tcPr>
                </a:tc>
                <a:tc>
                  <a:txBody>
                    <a:bodyPr/>
                    <a:lstStyle/>
                    <a:p>
                      <a:r>
                        <a:rPr sz="1650" b="1">
                          <a:solidFill>
                            <a:srgbClr val="FFFFFF"/>
                          </a:solidFill>
                          <a:latin typeface="Noto Sans"/>
                          <a:ea typeface="Noto Sans"/>
                          <a:cs typeface="Noto Sans"/>
                        </a:rPr>
                        <a:t>F1</a:t>
                      </a:r>
                    </a:p>
                  </a:txBody>
                  <a:tcPr marL="133350" marR="133350" marT="85725" marB="85725" anchor="ctr">
                    <a:solidFill>
                      <a:srgbClr val="102A43"/>
                    </a:solidFill>
                  </a:tcPr>
                </a:tc>
              </a:tr>
              <a:tr h="514350">
                <a:tc>
                  <a:txBody>
                    <a:bodyPr/>
                    <a:lstStyle/>
                    <a:p>
                      <a:r>
                        <a:rPr sz="1650" b="0">
                          <a:solidFill>
                            <a:srgbClr val="354F62"/>
                          </a:solidFill>
                          <a:latin typeface="Noto Sans"/>
                          <a:ea typeface="Noto Sans"/>
                          <a:cs typeface="Noto Sans"/>
                        </a:rPr>
                        <a:t>Online HMM</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0.2 days</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50.5%</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0.22</a:t>
                      </a:r>
                    </a:p>
                  </a:txBody>
                  <a:tcPr marL="133350" marR="133350" marT="85725" marB="85725" anchor="ctr">
                    <a:solidFill>
                      <a:srgbClr val="FFFFFF"/>
                    </a:solidFill>
                  </a:tcPr>
                </a:tc>
              </a:tr>
              <a:tr h="514350">
                <a:tc>
                  <a:txBody>
                    <a:bodyPr/>
                    <a:lstStyle/>
                    <a:p>
                      <a:r>
                        <a:rPr sz="1650" b="0">
                          <a:solidFill>
                            <a:srgbClr val="354F62"/>
                          </a:solidFill>
                          <a:latin typeface="Noto Sans"/>
                          <a:ea typeface="Noto Sans"/>
                          <a:cs typeface="Noto Sans"/>
                        </a:rPr>
                        <a:t>Monthly rolling HMM</a:t>
                      </a:r>
                    </a:p>
                  </a:txBody>
                  <a:tcPr marL="133350" marR="133350" marT="85725" marB="85725" anchor="ctr">
                    <a:solidFill>
                      <a:srgbClr val="F1F6F8"/>
                    </a:solidFill>
                  </a:tcPr>
                </a:tc>
                <a:tc>
                  <a:txBody>
                    <a:bodyPr/>
                    <a:lstStyle/>
                    <a:p>
                      <a:r>
                        <a:rPr sz="1650" b="0">
                          <a:solidFill>
                            <a:srgbClr val="354F62"/>
                          </a:solidFill>
                          <a:latin typeface="Noto Sans"/>
                          <a:ea typeface="Noto Sans"/>
                          <a:cs typeface="Noto Sans"/>
                        </a:rPr>
                        <a:t>6.6 days</a:t>
                      </a:r>
                    </a:p>
                  </a:txBody>
                  <a:tcPr marL="133350" marR="133350" marT="85725" marB="85725" anchor="ctr">
                    <a:solidFill>
                      <a:srgbClr val="F1F6F8"/>
                    </a:solidFill>
                  </a:tcPr>
                </a:tc>
                <a:tc>
                  <a:txBody>
                    <a:bodyPr/>
                    <a:lstStyle/>
                    <a:p>
                      <a:r>
                        <a:rPr sz="1650" b="0">
                          <a:solidFill>
                            <a:srgbClr val="354F62"/>
                          </a:solidFill>
                          <a:latin typeface="Noto Sans"/>
                          <a:ea typeface="Noto Sans"/>
                          <a:cs typeface="Noto Sans"/>
                        </a:rPr>
                        <a:t>47.6%</a:t>
                      </a:r>
                    </a:p>
                  </a:txBody>
                  <a:tcPr marL="133350" marR="133350" marT="85725" marB="85725" anchor="ctr">
                    <a:solidFill>
                      <a:srgbClr val="F1F6F8"/>
                    </a:solidFill>
                  </a:tcPr>
                </a:tc>
                <a:tc>
                  <a:txBody>
                    <a:bodyPr/>
                    <a:lstStyle/>
                    <a:p>
                      <a:r>
                        <a:rPr sz="1650" b="0">
                          <a:solidFill>
                            <a:srgbClr val="354F62"/>
                          </a:solidFill>
                          <a:latin typeface="Noto Sans"/>
                          <a:ea typeface="Noto Sans"/>
                          <a:cs typeface="Noto Sans"/>
                        </a:rPr>
                        <a:t>0.39</a:t>
                      </a:r>
                    </a:p>
                  </a:txBody>
                  <a:tcPr marL="133350" marR="133350" marT="85725" marB="85725" anchor="ctr">
                    <a:solidFill>
                      <a:srgbClr val="F1F6F8"/>
                    </a:solidFill>
                  </a:tcPr>
                </a:tc>
              </a:tr>
              <a:tr h="514350">
                <a:tc>
                  <a:txBody>
                    <a:bodyPr/>
                    <a:lstStyle/>
                    <a:p>
                      <a:r>
                        <a:rPr sz="1650" b="0">
                          <a:solidFill>
                            <a:srgbClr val="354F62"/>
                          </a:solidFill>
                          <a:latin typeface="Noto Sans"/>
                          <a:ea typeface="Noto Sans"/>
                          <a:cs typeface="Noto Sans"/>
                        </a:rPr>
                        <a:t>Volatility threshold</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18.3 days</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53.0%</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0.48</a:t>
                      </a:r>
                    </a:p>
                  </a:txBody>
                  <a:tcPr marL="133350" marR="133350" marT="85725"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E13ECB9-CE5E-4334-8C64-BCF7ADABEA36}"/>
              </a:ext>
            </a:extLst>
          </p:cNvPr>
          <p:cNvSpPr>
            <a:spLocks xmlns:a="http://schemas.openxmlformats.org/drawingml/2006/main" noGrp="1"/>
          </p:cNvSpPr>
          <p:nvPr/>
        </p:nvSpPr>
        <p:spPr>
          <a:xfrm xmlns:a="http://schemas.openxmlformats.org/drawingml/2006/main">
            <a:off x="666750" y="4705350"/>
            <a:ext cx="10858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The fastest method has the lowest reported F1.</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These numbers concern regime classification, not factor-decay forecasting.</a:t>
            </a:r>
          </a:p>
        </p:txBody>
      </p:sp>
      <p:sp>
        <p:nvSpPr>
          <p:cNvPr id="5" name="Predicting Factor Decay">
            <a:extLst xmlns:a="http://schemas.openxmlformats.org/drawingml/2006/main">
              <a:ext uri="{FF2B5EF4-FFF2-40B4-BE49-F238E27FC236}">
                <a16:creationId xmlns:a16="http://schemas.microsoft.com/office/drawing/2014/main" id="{F612635C-C4C7-47D1-B808-34B52D70A1E3}"/>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Predicting Factor Decay</a:t>
            </a:r>
          </a:p>
        </p:txBody>
      </p:sp>
      <p:sp>
        <p:nvSpPr>
          <p:cNvPr id="6" name="07 / 10">
            <a:extLst xmlns:a="http://schemas.openxmlformats.org/drawingml/2006/main">
              <a:ext uri="{FF2B5EF4-FFF2-40B4-BE49-F238E27FC236}">
                <a16:creationId xmlns:a16="http://schemas.microsoft.com/office/drawing/2014/main" id="{814D3F98-9630-42D8-A885-A57103F833CA}"/>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07 / 10</a:t>
            </a:r>
          </a:p>
        </p:txBody>
      </p:sp>
    </p:spTree>
    <p:extLst>
      <p:ext uri="{BB962C8B-B14F-4D97-AF65-F5344CB8AC3E}">
        <p14:creationId xmlns:p14="http://schemas.microsoft.com/office/powerpoint/2010/main" val="119818501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he US relationship fails corrected OOS tests">
            <a:extLst xmlns:a="http://schemas.openxmlformats.org/drawingml/2006/main">
              <a:ext uri="{FF2B5EF4-FFF2-40B4-BE49-F238E27FC236}">
                <a16:creationId xmlns:a16="http://schemas.microsoft.com/office/drawing/2014/main" id="{5ADEECB9-35AE-4AAC-AC63-5067B1C6CA90}"/>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The US relationship fails corrected OOS tests</a:t>
            </a:r>
          </a:p>
        </p:txBody>
      </p:sp>
      <p:sp>
        <p:nvSpPr>
          <p:cNvPr id="2" name="The HMM is fitted on 1990–2012 and frozen for">
            <a:extLst xmlns:a="http://schemas.openxmlformats.org/drawingml/2006/main">
              <a:ext uri="{FF2B5EF4-FFF2-40B4-BE49-F238E27FC236}">
                <a16:creationId xmlns:a16="http://schemas.microsoft.com/office/drawing/2014/main" id="{5517889D-D313-4B03-BCF4-35B561DC8A0D}"/>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B46439"/>
                </a:solidFill>
                <a:latin typeface="Noto Sans"/>
                <a:ea typeface="Noto Sans"/>
                <a:cs typeface="Noto Sans"/>
              </a:defRPr>
            </a:pPr>
            <a:r>
              <a:rPr sz="2175" b="0">
                <a:solidFill>
                  <a:srgbClr val="B46439"/>
                </a:solidFill>
                <a:latin typeface="Noto Sans"/>
                <a:ea typeface="Noto Sans"/>
                <a:cs typeface="Noto Sans"/>
              </a:rPr>
              <a:t>The HMM is fitted on 1990–2012 and frozen for the 2013–2024 evaluation.</a:t>
            </a:r>
          </a:p>
        </p:txBody>
      </p:sp>
      <p:graphicFrame>
        <p:nvGraphicFramePr>
          <p:cNvPr id="9" name=""/>
          <p:cNvGraphicFramePr/>
          <p:nvPr/>
        </p:nvGraphicFramePr>
        <p:xfrm>
          <a:off xmlns:a="http://schemas.openxmlformats.org/drawingml/2006/main" x="666750" y="2514600"/>
          <a:ext xmlns:a="http://schemas.openxmlformats.org/drawingml/2006/main" cx="10858500" cy="2026158"/>
        </p:xfrm>
        <a:graphic xmlns:a="http://schemas.openxmlformats.org/drawingml/2006/main">
          <a:graphicData uri="http://schemas.openxmlformats.org/drawingml/2006/table">
            <a:tbl>
              <a:tblPr firstRow="1" bandRow="0"/>
              <a:tblGrid>
                <a:gridCol w="3238674"/>
                <a:gridCol w="3580489"/>
                <a:gridCol w="4039337"/>
              </a:tblGrid>
              <a:tr h="483108">
                <a:tc>
                  <a:txBody>
                    <a:bodyPr/>
                    <a:lstStyle/>
                    <a:p>
                      <a:r>
                        <a:rPr sz="1800" b="1">
                          <a:solidFill>
                            <a:srgbClr val="FFFFFF"/>
                          </a:solidFill>
                          <a:latin typeface="Noto Sans"/>
                          <a:ea typeface="Noto Sans"/>
                          <a:cs typeface="Noto Sans"/>
                        </a:rPr>
                        <a:t>Regime</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HAC p-value</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Incremental R²</a:t>
                      </a:r>
                    </a:p>
                  </a:txBody>
                  <a:tcPr marL="133350" marR="133350" marT="85725" marB="85725" anchor="ctr">
                    <a:solidFill>
                      <a:srgbClr val="102A43"/>
                    </a:solidFill>
                  </a:tcPr>
                </a:tc>
              </a:tr>
              <a:tr h="514350">
                <a:tc>
                  <a:txBody>
                    <a:bodyPr/>
                    <a:lstStyle/>
                    <a:p>
                      <a:r>
                        <a:rPr sz="1800" b="0">
                          <a:solidFill>
                            <a:srgbClr val="354F62"/>
                          </a:solidFill>
                          <a:latin typeface="Noto Sans"/>
                          <a:ea typeface="Noto Sans"/>
                          <a:cs typeface="Noto Sans"/>
                        </a:rPr>
                        <a:t>Normal</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0.152</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0.32%</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Elevated</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0.041</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0.73%</a:t>
                      </a:r>
                    </a:p>
                  </a:txBody>
                  <a:tcPr marL="133350" marR="133350" marT="85725" marB="85725" anchor="ctr">
                    <a:solidFill>
                      <a:srgbClr val="F1F6F8"/>
                    </a:solidFill>
                  </a:tcPr>
                </a:tc>
              </a:tr>
              <a:tr h="514350">
                <a:tc>
                  <a:txBody>
                    <a:bodyPr/>
                    <a:lstStyle/>
                    <a:p>
                      <a:r>
                        <a:rPr sz="1800" b="0">
                          <a:solidFill>
                            <a:srgbClr val="354F62"/>
                          </a:solidFill>
                          <a:latin typeface="Noto Sans"/>
                          <a:ea typeface="Noto Sans"/>
                          <a:cs typeface="Noto Sans"/>
                        </a:rPr>
                        <a:t>Crisis</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0.290</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0.09%</a:t>
                      </a:r>
                    </a:p>
                  </a:txBody>
                  <a:tcPr marL="133350" marR="133350" marT="85725"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7DDD5B8-B868-49C9-B09B-0EF08E7F100B}"/>
              </a:ext>
            </a:extLst>
          </p:cNvPr>
          <p:cNvSpPr>
            <a:spLocks xmlns:a="http://schemas.openxmlformats.org/drawingml/2006/main" noGrp="1"/>
          </p:cNvSpPr>
          <p:nvPr/>
        </p:nvSpPr>
        <p:spPr>
          <a:xfrm xmlns:a="http://schemas.openxmlformats.org/drawingml/2006/main">
            <a:off x="666750" y="4712208"/>
            <a:ext cx="10858500" cy="16885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Elevated p = 0.041 exceeds the 0.0167 correction for three regimes.</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The result is also sensitive to bandwidth and regime prevalence.</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Failure to reject does not prove that predictive information is absent.</a:t>
            </a:r>
          </a:p>
        </p:txBody>
      </p:sp>
      <p:sp>
        <p:nvSpPr>
          <p:cNvPr id="5" name="Predicting Factor Decay">
            <a:extLst xmlns:a="http://schemas.openxmlformats.org/drawingml/2006/main">
              <a:ext uri="{FF2B5EF4-FFF2-40B4-BE49-F238E27FC236}">
                <a16:creationId xmlns:a16="http://schemas.microsoft.com/office/drawing/2014/main" id="{1B874644-B866-4F9A-A534-1C97BC25ED1F}"/>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Predicting Factor Decay</a:t>
            </a:r>
          </a:p>
        </p:txBody>
      </p:sp>
      <p:sp>
        <p:nvSpPr>
          <p:cNvPr id="6" name="08 / 10">
            <a:extLst xmlns:a="http://schemas.openxmlformats.org/drawingml/2006/main">
              <a:ext uri="{FF2B5EF4-FFF2-40B4-BE49-F238E27FC236}">
                <a16:creationId xmlns:a16="http://schemas.microsoft.com/office/drawing/2014/main" id="{E0E09E6C-19DF-476D-BD2D-56448535E4B8}"/>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08 / 10</a:t>
            </a:r>
          </a:p>
        </p:txBody>
      </p:sp>
    </p:spTree>
    <p:extLst>
      <p:ext uri="{BB962C8B-B14F-4D97-AF65-F5344CB8AC3E}">
        <p14:creationId xmlns:p14="http://schemas.microsoft.com/office/powerpoint/2010/main" val="19517017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ross-market effects vary by region and state">
            <a:extLst xmlns:a="http://schemas.openxmlformats.org/drawingml/2006/main">
              <a:ext uri="{FF2B5EF4-FFF2-40B4-BE49-F238E27FC236}">
                <a16:creationId xmlns:a16="http://schemas.microsoft.com/office/drawing/2014/main" id="{301690E6-8FE1-462E-8C55-3A85B42A4856}"/>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Cross-market effects vary by region and state</a:t>
            </a:r>
          </a:p>
        </p:txBody>
      </p:sp>
      <p:sp>
        <p:nvSpPr>
          <p:cNvPr id="2" name="The two crisis-state results survive the repo">
            <a:extLst xmlns:a="http://schemas.openxmlformats.org/drawingml/2006/main">
              <a:ext uri="{FF2B5EF4-FFF2-40B4-BE49-F238E27FC236}">
                <a16:creationId xmlns:a16="http://schemas.microsoft.com/office/drawing/2014/main" id="{51DE9564-7EE8-4463-8A5D-1217C71C3A68}"/>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B46439"/>
                </a:solidFill>
                <a:latin typeface="Noto Sans"/>
                <a:ea typeface="Noto Sans"/>
                <a:cs typeface="Noto Sans"/>
              </a:defRPr>
            </a:pPr>
            <a:r>
              <a:rPr sz="2175" b="0">
                <a:solidFill>
                  <a:srgbClr val="B46439"/>
                </a:solidFill>
                <a:latin typeface="Noto Sans"/>
                <a:ea typeface="Noto Sans"/>
                <a:cs typeface="Noto Sans"/>
              </a:rPr>
              <a:t>The two crisis-state results survive the reported 12-comparison threshold of 0.0042.</a:t>
            </a:r>
          </a:p>
        </p:txBody>
      </p:sp>
      <p:sp>
        <p:nvSpPr>
          <p:cNvPr id="3" name="Selected crisis-state effects">
            <a:extLst xmlns:a="http://schemas.openxmlformats.org/drawingml/2006/main">
              <a:ext uri="{FF2B5EF4-FFF2-40B4-BE49-F238E27FC236}">
                <a16:creationId xmlns:a16="http://schemas.microsoft.com/office/drawing/2014/main" id="{56A6E260-BACE-4086-BF71-5C6D6821F794}"/>
              </a:ext>
            </a:extLst>
          </p:cNvPr>
          <p:cNvSpPr>
            <a:spLocks xmlns:a="http://schemas.openxmlformats.org/drawingml/2006/main" noGrp="1"/>
          </p:cNvSpPr>
          <p:nvPr/>
        </p:nvSpPr>
        <p:spPr>
          <a:xfrm xmlns:a="http://schemas.openxmlformats.org/drawingml/2006/main">
            <a:off x="666750" y="2514600"/>
            <a:ext cx="5181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B46439"/>
                </a:solidFill>
                <a:latin typeface="Noto Sans"/>
                <a:ea typeface="Noto Sans"/>
                <a:cs typeface="Noto Sans"/>
              </a:defRPr>
            </a:pPr>
            <a:r>
              <a:rPr sz="2400" b="1">
                <a:solidFill>
                  <a:srgbClr val="B46439"/>
                </a:solidFill>
                <a:latin typeface="Noto Sans"/>
                <a:ea typeface="Noto Sans"/>
                <a:cs typeface="Noto Sans"/>
              </a:rPr>
              <a:t>Selected crisis-state effects</a:t>
            </a:r>
          </a:p>
        </p:txBody>
      </p:sp>
      <p:sp>
        <p:nvSpPr>
          <p:cNvPr id="4" name="Developed ex-US and Asia-Pacific ex-Japan sho">
            <a:extLst xmlns:a="http://schemas.openxmlformats.org/drawingml/2006/main">
              <a:ext uri="{FF2B5EF4-FFF2-40B4-BE49-F238E27FC236}">
                <a16:creationId xmlns:a16="http://schemas.microsoft.com/office/drawing/2014/main" id="{53AF8550-6950-4023-AC5B-E3FAE6ADA6F9}"/>
              </a:ext>
            </a:extLst>
          </p:cNvPr>
          <p:cNvSpPr>
            <a:spLocks xmlns:a="http://schemas.openxmlformats.org/drawingml/2006/main" noGrp="1"/>
          </p:cNvSpPr>
          <p:nvPr/>
        </p:nvSpPr>
        <p:spPr>
          <a:xfrm xmlns:a="http://schemas.openxmlformats.org/drawingml/2006/main">
            <a:off x="666750" y="3276600"/>
            <a:ext cx="5181600" cy="11323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54F62"/>
                </a:solidFill>
                <a:latin typeface="Noto Sans"/>
                <a:ea typeface="Noto Sans"/>
                <a:cs typeface="Noto Sans"/>
              </a:defRPr>
            </a:pPr>
            <a:r>
              <a:rPr sz="2100" b="0">
                <a:solidFill>
                  <a:srgbClr val="354F62"/>
                </a:solidFill>
                <a:latin typeface="Noto Sans"/>
                <a:ea typeface="Noto Sans"/>
                <a:cs typeface="Noto Sans"/>
              </a:rPr>
              <a:t>Developed ex-US and Asia-Pacific ex-Japan show HAC p &lt; 0.001 in the reported later-period crisis-state tests.</a:t>
            </a:r>
          </a:p>
        </p:txBody>
      </p:sp>
      <p:sp>
        <p:nvSpPr>
          <p:cNvPr id="5" name="Limits to generalization">
            <a:extLst xmlns:a="http://schemas.openxmlformats.org/drawingml/2006/main">
              <a:ext uri="{FF2B5EF4-FFF2-40B4-BE49-F238E27FC236}">
                <a16:creationId xmlns:a16="http://schemas.microsoft.com/office/drawing/2014/main" id="{041B5E91-7BBD-4ABC-A96F-032F3AEE5D06}"/>
              </a:ext>
            </a:extLst>
          </p:cNvPr>
          <p:cNvSpPr>
            <a:spLocks xmlns:a="http://schemas.openxmlformats.org/drawingml/2006/main" noGrp="1"/>
          </p:cNvSpPr>
          <p:nvPr/>
        </p:nvSpPr>
        <p:spPr>
          <a:xfrm xmlns:a="http://schemas.openxmlformats.org/drawingml/2006/main">
            <a:off x="6343650" y="2514600"/>
            <a:ext cx="5181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B46439"/>
                </a:solidFill>
                <a:latin typeface="Noto Sans"/>
                <a:ea typeface="Noto Sans"/>
                <a:cs typeface="Noto Sans"/>
              </a:defRPr>
            </a:pPr>
            <a:r>
              <a:rPr sz="2400" b="1">
                <a:solidFill>
                  <a:srgbClr val="B46439"/>
                </a:solidFill>
                <a:latin typeface="Noto Sans"/>
                <a:ea typeface="Noto Sans"/>
                <a:cs typeface="Noto Sans"/>
              </a:rPr>
              <a:t>Limits to generalization</a:t>
            </a:r>
          </a:p>
        </p:txBody>
      </p:sp>
      <p:sp>
        <p:nvSpPr>
          <p:cNvPr id="6" name="Europe and Japan show in-sample evidence but ">
            <a:extLst xmlns:a="http://schemas.openxmlformats.org/drawingml/2006/main">
              <a:ext uri="{FF2B5EF4-FFF2-40B4-BE49-F238E27FC236}">
                <a16:creationId xmlns:a16="http://schemas.microsoft.com/office/drawing/2014/main" id="{8D989413-94CE-459F-A550-6EF902A199E2}"/>
              </a:ext>
            </a:extLst>
          </p:cNvPr>
          <p:cNvSpPr>
            <a:spLocks xmlns:a="http://schemas.openxmlformats.org/drawingml/2006/main" noGrp="1"/>
          </p:cNvSpPr>
          <p:nvPr/>
        </p:nvSpPr>
        <p:spPr>
          <a:xfrm xmlns:a="http://schemas.openxmlformats.org/drawingml/2006/main">
            <a:off x="6343650" y="3276600"/>
            <a:ext cx="5181600" cy="14843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54F62"/>
                </a:solidFill>
                <a:latin typeface="Noto Sans"/>
                <a:ea typeface="Noto Sans"/>
                <a:cs typeface="Noto Sans"/>
              </a:defRPr>
            </a:pPr>
            <a:r>
              <a:rPr sz="2100" b="0">
                <a:solidFill>
                  <a:srgbClr val="354F62"/>
                </a:solidFill>
                <a:latin typeface="Noto Sans"/>
                <a:ea typeface="Noto Sans"/>
                <a:cs typeface="Noto Sans"/>
              </a:rPr>
              <a:t>Europe and Japan show in-sample evidence but later-period nulls. Regional significance is not evidence of a universal decay predictor.</a:t>
            </a:r>
          </a:p>
        </p:txBody>
      </p:sp>
      <p:sp>
        <p:nvSpPr>
          <p:cNvPr id="7" name="Predicting Factor Decay">
            <a:extLst xmlns:a="http://schemas.openxmlformats.org/drawingml/2006/main">
              <a:ext uri="{FF2B5EF4-FFF2-40B4-BE49-F238E27FC236}">
                <a16:creationId xmlns:a16="http://schemas.microsoft.com/office/drawing/2014/main" id="{8DA94928-C7A6-4318-AB4A-1C94567B03F7}"/>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Predicting Factor Decay</a:t>
            </a:r>
          </a:p>
        </p:txBody>
      </p:sp>
      <p:sp>
        <p:nvSpPr>
          <p:cNvPr id="8" name="09 / 10">
            <a:extLst xmlns:a="http://schemas.openxmlformats.org/drawingml/2006/main">
              <a:ext uri="{FF2B5EF4-FFF2-40B4-BE49-F238E27FC236}">
                <a16:creationId xmlns:a16="http://schemas.microsoft.com/office/drawing/2014/main" id="{DB638A86-42B3-41F5-9649-304DB9B4FFB4}"/>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09 / 10</a:t>
            </a:r>
          </a:p>
        </p:txBody>
      </p:sp>
    </p:spTree>
    <p:extLst>
      <p:ext uri="{BB962C8B-B14F-4D97-AF65-F5344CB8AC3E}">
        <p14:creationId xmlns:p14="http://schemas.microsoft.com/office/powerpoint/2010/main" val="1195833576"/>
      </p:ext>
    </p:extLst>
  </p:cSld>
</p:sld>
</file>

<file path=ppt/slides/slide10.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Signal durability remains an exploratory targ">
            <a:extLst xmlns:a="http://schemas.openxmlformats.org/drawingml/2006/main">
              <a:ext uri="{FF2B5EF4-FFF2-40B4-BE49-F238E27FC236}">
                <a16:creationId xmlns:a16="http://schemas.microsoft.com/office/drawing/2014/main" id="{D334A4A4-79F3-487D-BACB-936E2B0971CF}"/>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FFFFFF"/>
                </a:solidFill>
                <a:latin typeface="Noto Sans"/>
                <a:ea typeface="Noto Sans"/>
                <a:cs typeface="Noto Sans"/>
              </a:defRPr>
            </a:pPr>
            <a:r>
              <a:rPr sz="3300" b="1">
                <a:solidFill>
                  <a:srgbClr val="FFFFFF"/>
                </a:solidFill>
                <a:latin typeface="Noto Sans"/>
                <a:ea typeface="Noto Sans"/>
                <a:cs typeface="Noto Sans"/>
              </a:rPr>
              <a:t>Signal durability remains an exploratory target</a:t>
            </a:r>
          </a:p>
        </p:txBody>
      </p:sp>
      <p:sp>
        <p:nvSpPr>
          <p:cNvPr id="2" name="The contribution is a framework for studying ">
            <a:extLst xmlns:a="http://schemas.openxmlformats.org/drawingml/2006/main">
              <a:ext uri="{FF2B5EF4-FFF2-40B4-BE49-F238E27FC236}">
                <a16:creationId xmlns:a16="http://schemas.microsoft.com/office/drawing/2014/main" id="{048E0A49-5BF0-4C60-AFA1-AFE4C53B79CB}"/>
              </a:ext>
            </a:extLst>
          </p:cNvPr>
          <p:cNvSpPr>
            <a:spLocks xmlns:a="http://schemas.openxmlformats.org/drawingml/2006/main" noGrp="1"/>
          </p:cNvSpPr>
          <p:nvPr/>
        </p:nvSpPr>
        <p:spPr>
          <a:xfrm xmlns:a="http://schemas.openxmlformats.org/drawingml/2006/main">
            <a:off x="666750" y="1762125"/>
            <a:ext cx="10620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B8E2DF"/>
                </a:solidFill>
                <a:latin typeface="Noto Sans"/>
                <a:ea typeface="Noto Sans"/>
                <a:cs typeface="Noto Sans"/>
              </a:defRPr>
            </a:pPr>
            <a:r>
              <a:rPr sz="3150" b="1">
                <a:solidFill>
                  <a:srgbClr val="B8E2DF"/>
                </a:solidFill>
                <a:latin typeface="Noto Sans"/>
                <a:ea typeface="Noto Sans"/>
                <a:cs typeface="Noto Sans"/>
              </a:rPr>
              <a:t>The contribution is a framework for studying when measured predictability weakens.</a:t>
            </a:r>
          </a:p>
        </p:txBody>
      </p:sp>
      <p:sp>
        <p:nvSpPr>
          <p:cNvPr id="3" name="">
            <a:extLst xmlns:a="http://schemas.openxmlformats.org/drawingml/2006/main">
              <a:ext uri="{FF2B5EF4-FFF2-40B4-BE49-F238E27FC236}">
                <a16:creationId xmlns:a16="http://schemas.microsoft.com/office/drawing/2014/main" id="{4FF17F8A-652C-4BF2-940D-E9EEC4475B25}"/>
              </a:ext>
            </a:extLst>
          </p:cNvPr>
          <p:cNvSpPr>
            <a:spLocks xmlns:a="http://schemas.openxmlformats.org/drawingml/2006/main" noGrp="1"/>
          </p:cNvSpPr>
          <p:nvPr/>
        </p:nvSpPr>
        <p:spPr>
          <a:xfrm xmlns:a="http://schemas.openxmlformats.org/drawingml/2006/main">
            <a:off x="666750" y="3838575"/>
            <a:ext cx="106680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Seven events and shared factors limit precision and independence.</a:t>
            </a:r>
          </a:p>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Some pre-2012 decay fits use full-sample regime assignments.</a:t>
            </a:r>
          </a:p>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Post-hoc pair selection and model choices complicate inference.</a:t>
            </a:r>
          </a:p>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A fully prospective study would refit all stages using only available history.</a:t>
            </a:r>
          </a:p>
        </p:txBody>
      </p:sp>
      <p:sp>
        <p:nvSpPr>
          <p:cNvPr id="4" name="Source: github.com/ChorokLeeDev/factor-decay-">
            <a:extLst xmlns:a="http://schemas.openxmlformats.org/drawingml/2006/main">
              <a:ext uri="{FF2B5EF4-FFF2-40B4-BE49-F238E27FC236}">
                <a16:creationId xmlns:a16="http://schemas.microsoft.com/office/drawing/2014/main" id="{3249D239-2FE8-41DF-A316-A1B42E3EF273}"/>
              </a:ext>
            </a:extLst>
          </p:cNvPr>
          <p:cNvSpPr>
            <a:spLocks xmlns:a="http://schemas.openxmlformats.org/drawingml/2006/main" noGrp="1"/>
          </p:cNvSpPr>
          <p:nvPr/>
        </p:nvSpPr>
        <p:spPr>
          <a:xfrm xmlns:a="http://schemas.openxmlformats.org/drawingml/2006/main">
            <a:off x="666750" y="60198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8CCD8"/>
                </a:solidFill>
                <a:latin typeface="Noto Sans"/>
                <a:ea typeface="Noto Sans"/>
                <a:cs typeface="Noto Sans"/>
              </a:defRPr>
            </a:pPr>
            <a:r>
              <a:rPr sz="1350" b="0">
                <a:solidFill>
                  <a:srgbClr val="B8CCD8"/>
                </a:solidFill>
                <a:latin typeface="Noto Sans"/>
                <a:ea typeface="Noto Sans"/>
                <a:cs typeface="Noto Sans"/>
              </a:rPr>
              <a:t>Source: github.com/ChorokLeeDev/factor-decay-icaif2026</a:t>
            </a:r>
          </a:p>
        </p:txBody>
      </p:sp>
      <p:sp>
        <p:nvSpPr>
          <p:cNvPr id="5" name="Predicting Factor Decay">
            <a:extLst xmlns:a="http://schemas.openxmlformats.org/drawingml/2006/main">
              <a:ext uri="{FF2B5EF4-FFF2-40B4-BE49-F238E27FC236}">
                <a16:creationId xmlns:a16="http://schemas.microsoft.com/office/drawing/2014/main" id="{508003F8-D293-45F1-996E-E4DF6CF9879F}"/>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B8CCD8"/>
                </a:solidFill>
                <a:latin typeface="Noto Sans"/>
                <a:ea typeface="Noto Sans"/>
                <a:cs typeface="Noto Sans"/>
              </a:defRPr>
            </a:pPr>
            <a:r>
              <a:rPr sz="1200" b="0">
                <a:solidFill>
                  <a:srgbClr val="B8CCD8"/>
                </a:solidFill>
                <a:latin typeface="Noto Sans"/>
                <a:ea typeface="Noto Sans"/>
                <a:cs typeface="Noto Sans"/>
              </a:rPr>
              <a:t>Predicting Factor Decay</a:t>
            </a:r>
          </a:p>
        </p:txBody>
      </p:sp>
      <p:sp>
        <p:nvSpPr>
          <p:cNvPr id="6" name="10 / 10">
            <a:extLst xmlns:a="http://schemas.openxmlformats.org/drawingml/2006/main">
              <a:ext uri="{FF2B5EF4-FFF2-40B4-BE49-F238E27FC236}">
                <a16:creationId xmlns:a16="http://schemas.microsoft.com/office/drawing/2014/main" id="{49A08DD4-2D2C-44E4-B6F2-F9F37D9F7CF1}"/>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B8CCD8"/>
                </a:solidFill>
                <a:latin typeface="Noto Sans"/>
                <a:ea typeface="Noto Sans"/>
                <a:cs typeface="Noto Sans"/>
              </a:defRPr>
            </a:pPr>
            <a:r>
              <a:rPr sz="1200" b="0">
                <a:solidFill>
                  <a:srgbClr val="B8CCD8"/>
                </a:solidFill>
                <a:latin typeface="Noto Sans"/>
                <a:ea typeface="Noto Sans"/>
                <a:cs typeface="Noto Sans"/>
              </a:rPr>
              <a:t>10 / 10</a:t>
            </a:r>
          </a:p>
        </p:txBody>
      </p:sp>
    </p:spTree>
    <p:extLst>
      <p:ext uri="{BB962C8B-B14F-4D97-AF65-F5344CB8AC3E}">
        <p14:creationId xmlns:p14="http://schemas.microsoft.com/office/powerpoint/2010/main" val="18978274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2026-09-29T06:02:51.3800000Z</dcterms:created>
  <dcterms:modified xsi:type="dcterms:W3CDTF">2026-09-29T06:02:51.3810000Z</dcterms:modified>
</coreProperties>
</file>