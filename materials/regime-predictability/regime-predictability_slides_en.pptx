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f9b95f501764157" /><Relationship Type="http://schemas.openxmlformats.org/officeDocument/2006/relationships/extended-properties" Target="/docProps/app.xml" Id="R82f10e5ea57e469a" /><Relationship Type="http://schemas.openxmlformats.org/officeDocument/2006/relationships/officeDocument" Target="/ppt/presentation.xml" Id="Rc1bb63cf972d4517" /></Relationships>
</file>

<file path=ppt/presentation.xml><?xml version="1.0" encoding="utf-8"?>
<p:presentation xmlns:p="http://schemas.openxmlformats.org/presentationml/2006/main">
  <p:sldMasterIdLst>
    <p:sldMasterId xmlns:r="http://schemas.openxmlformats.org/officeDocument/2006/relationships" id="2147483648" r:id="R30aba603f6574ad8"/>
  </p:sldMasterIdLst>
  <p:notesMasterIdLst>
    <p:notesMasterId xmlns:r="http://schemas.openxmlformats.org/officeDocument/2006/relationships" r:id="Rbe87cbb9a60443ae"/>
  </p:notesMasterIdLst>
  <p:sldIdLst>
    <p:sldId xmlns:r="http://schemas.openxmlformats.org/officeDocument/2006/relationships" id="256" r:id="Ree863e06fda94177"/>
    <p:sldId xmlns:r="http://schemas.openxmlformats.org/officeDocument/2006/relationships" id="257" r:id="Re7ee4a97c8f6469d"/>
    <p:sldId xmlns:r="http://schemas.openxmlformats.org/officeDocument/2006/relationships" id="258" r:id="R17d4ff78252f400c"/>
    <p:sldId xmlns:r="http://schemas.openxmlformats.org/officeDocument/2006/relationships" id="259" r:id="R4d0762890db54757"/>
    <p:sldId xmlns:r="http://schemas.openxmlformats.org/officeDocument/2006/relationships" id="260" r:id="R017bfa3de18640cf"/>
    <p:sldId xmlns:r="http://schemas.openxmlformats.org/officeDocument/2006/relationships" id="261" r:id="Rd25deb45ab4c47b6"/>
    <p:sldId xmlns:r="http://schemas.openxmlformats.org/officeDocument/2006/relationships" id="262" r:id="R417a9a92ab2e486c"/>
    <p:sldId xmlns:r="http://schemas.openxmlformats.org/officeDocument/2006/relationships" id="263" r:id="R94f23b4868a14744"/>
    <p:sldId xmlns:r="http://schemas.openxmlformats.org/officeDocument/2006/relationships" id="264" r:id="R77fd4fd1bfe44568"/>
    <p:sldId xmlns:r="http://schemas.openxmlformats.org/officeDocument/2006/relationships" id="265" r:id="R377c5da418294fd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d6a0f7142dc4a50" /><Relationship Type="http://schemas.openxmlformats.org/officeDocument/2006/relationships/slideMaster" Target="/ppt/slideMasters/slideMaster1.xml" Id="R30aba603f6574ad8" /><Relationship Type="http://schemas.openxmlformats.org/officeDocument/2006/relationships/notesMaster" Target="/ppt/notesMasters/notesMaster1.xml" Id="Rbe87cbb9a60443ae" /><Relationship Type="http://schemas.openxmlformats.org/officeDocument/2006/relationships/presProps" Target="/ppt/presProps.xml" Id="R53164a02901d4b61" /><Relationship Type="http://schemas.openxmlformats.org/officeDocument/2006/relationships/tableStyles" Target="/ppt/tableStyles.xml" Id="R9c9a9869314a48ae" /><Relationship Type="http://schemas.openxmlformats.org/officeDocument/2006/relationships/slide" Target="/ppt/slides/slide1.xml" Id="Ree863e06fda94177" /><Relationship Type="http://schemas.openxmlformats.org/officeDocument/2006/relationships/slide" Target="/ppt/slides/slide2.xml" Id="Re7ee4a97c8f6469d" /><Relationship Type="http://schemas.openxmlformats.org/officeDocument/2006/relationships/slide" Target="/ppt/slides/slide3.xml" Id="R17d4ff78252f400c" /><Relationship Type="http://schemas.openxmlformats.org/officeDocument/2006/relationships/slide" Target="/ppt/slides/slide4.xml" Id="R4d0762890db54757" /><Relationship Type="http://schemas.openxmlformats.org/officeDocument/2006/relationships/slide" Target="/ppt/slides/slide5.xml" Id="R017bfa3de18640cf" /><Relationship Type="http://schemas.openxmlformats.org/officeDocument/2006/relationships/slide" Target="/ppt/slides/slide6.xml" Id="Rd25deb45ab4c47b6" /><Relationship Type="http://schemas.openxmlformats.org/officeDocument/2006/relationships/slide" Target="/ppt/slides/slide7.xml" Id="R417a9a92ab2e486c" /><Relationship Type="http://schemas.openxmlformats.org/officeDocument/2006/relationships/slide" Target="/ppt/slides/slide8.xml" Id="R94f23b4868a14744" /><Relationship Type="http://schemas.openxmlformats.org/officeDocument/2006/relationships/slide" Target="/ppt/slides/slide9.xml" Id="R77fd4fd1bfe44568" /><Relationship Type="http://schemas.openxmlformats.org/officeDocument/2006/relationships/slide" Target="/ppt/slides/slide10.xml" Id="R377c5da418294fd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7bd316e6e17419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edde544c861415b" /><Relationship Type="http://schemas.openxmlformats.org/officeDocument/2006/relationships/notesMaster" Target="/ppt/notesMasters/notesMaster1.xml" Id="R5b7fcca9a35f4384" /></Relationships>
</file>

<file path=ppt/notesSlides/_rels/notesSlide2.xml.rels>&#65279;<?xml version="1.0" encoding="utf-8"?><Relationships xmlns="http://schemas.openxmlformats.org/package/2006/relationships"><Relationship Type="http://schemas.openxmlformats.org/officeDocument/2006/relationships/slide" Target="/ppt/slides/slide2.xml" Id="R9ffdeaa6bfa94def" /><Relationship Type="http://schemas.openxmlformats.org/officeDocument/2006/relationships/notesMaster" Target="/ppt/notesMasters/notesMaster1.xml" Id="Rc5d3191c88c94c0a" /></Relationships>
</file>

<file path=ppt/notesSlides/_rels/notesSlide3.xml.rels>&#65279;<?xml version="1.0" encoding="utf-8"?><Relationships xmlns="http://schemas.openxmlformats.org/package/2006/relationships"><Relationship Type="http://schemas.openxmlformats.org/officeDocument/2006/relationships/slide" Target="/ppt/slides/slide3.xml" Id="R77657c2ce56e447a" /><Relationship Type="http://schemas.openxmlformats.org/officeDocument/2006/relationships/notesMaster" Target="/ppt/notesMasters/notesMaster1.xml" Id="R50890c17f554417e" /></Relationships>
</file>

<file path=ppt/notesSlides/_rels/notesSlide4.xml.rels>&#65279;<?xml version="1.0" encoding="utf-8"?><Relationships xmlns="http://schemas.openxmlformats.org/package/2006/relationships"><Relationship Type="http://schemas.openxmlformats.org/officeDocument/2006/relationships/slide" Target="/ppt/slides/slide4.xml" Id="R5bdf60842a344ebd" /><Relationship Type="http://schemas.openxmlformats.org/officeDocument/2006/relationships/notesMaster" Target="/ppt/notesMasters/notesMaster1.xml" Id="R493e66ba061843c6" /></Relationships>
</file>

<file path=ppt/notesSlides/_rels/notesSlide5.xml.rels>&#65279;<?xml version="1.0" encoding="utf-8"?><Relationships xmlns="http://schemas.openxmlformats.org/package/2006/relationships"><Relationship Type="http://schemas.openxmlformats.org/officeDocument/2006/relationships/slide" Target="/ppt/slides/slide5.xml" Id="R68a32aafff5a4529" /><Relationship Type="http://schemas.openxmlformats.org/officeDocument/2006/relationships/notesMaster" Target="/ppt/notesMasters/notesMaster1.xml" Id="R79ba5261ef5343a8" /></Relationships>
</file>

<file path=ppt/notesSlides/_rels/notesSlide6.xml.rels>&#65279;<?xml version="1.0" encoding="utf-8"?><Relationships xmlns="http://schemas.openxmlformats.org/package/2006/relationships"><Relationship Type="http://schemas.openxmlformats.org/officeDocument/2006/relationships/slide" Target="/ppt/slides/slide6.xml" Id="Rb96eee9440634c0e" /><Relationship Type="http://schemas.openxmlformats.org/officeDocument/2006/relationships/notesMaster" Target="/ppt/notesMasters/notesMaster1.xml" Id="R33740fe9f9e84fc6" /></Relationships>
</file>

<file path=ppt/notesSlides/_rels/notesSlide7.xml.rels>&#65279;<?xml version="1.0" encoding="utf-8"?><Relationships xmlns="http://schemas.openxmlformats.org/package/2006/relationships"><Relationship Type="http://schemas.openxmlformats.org/officeDocument/2006/relationships/slide" Target="/ppt/slides/slide7.xml" Id="R5bb468fcc0604a1c" /><Relationship Type="http://schemas.openxmlformats.org/officeDocument/2006/relationships/notesMaster" Target="/ppt/notesMasters/notesMaster1.xml" Id="R220409e39e7a45c7" /></Relationships>
</file>

<file path=ppt/notesSlides/_rels/notesSlide8.xml.rels>&#65279;<?xml version="1.0" encoding="utf-8"?><Relationships xmlns="http://schemas.openxmlformats.org/package/2006/relationships"><Relationship Type="http://schemas.openxmlformats.org/officeDocument/2006/relationships/slide" Target="/ppt/slides/slide8.xml" Id="R2399853d8ae1426b" /><Relationship Type="http://schemas.openxmlformats.org/officeDocument/2006/relationships/notesMaster" Target="/ppt/notesMasters/notesMaster1.xml" Id="Rb2b1b308aa9949bf" /></Relationships>
</file>

<file path=ppt/notesSlides/_rels/notesSlide9.xml.rels>&#65279;<?xml version="1.0" encoding="utf-8"?><Relationships xmlns="http://schemas.openxmlformats.org/package/2006/relationships"><Relationship Type="http://schemas.openxmlformats.org/officeDocument/2006/relationships/slide" Target="/ppt/slides/slide9.xml" Id="R4e343147befa490c" /><Relationship Type="http://schemas.openxmlformats.org/officeDocument/2006/relationships/notesMaster" Target="/ppt/notesMasters/notesMaster1.xml" Id="Ra2ae7f9a5fdb4e3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79a610e662b49b8" /><Relationship Type="http://schemas.openxmlformats.org/officeDocument/2006/relationships/notesMaster" Target="/ppt/notesMasters/notesMaster1.xml" Id="Rcb28f5daef0b472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Suppose we want to know whether value-factor history improves a size-factor forecast. A common approach fits a model with and without the value factor. In a regime-gated model, however, the factor may influence both the explicit lag regression and the estimated market-state weights. Removing its lag coefficients can leave its information inside the gate. This paper audits the distinction using equity-factor forecasts. It compares two legitimate but different removal operations, evaluates a complete family across four markets, and uses simulations with known conditional means to explain why fitted model performance is not identical to information value. The main result is procedural sensitivity and limited inferential resolution. It is not a claim that every source is useful, that every source is useless, or that the method yields a validated trading signal.</a:t>
            </a:r>
          </a:p>
          <a:p xmlns:a="http://schemas.openxmlformats.org/drawingml/2006/main">
            <a:r>
              <a:t/>
            </a:r>
          </a:p>
          <a:p xmlns:a="http://schemas.openxmlformats.org/drawingml/2006/main">
            <a:r>
              <a:t>Sources</a:t>
            </a:r>
          </a:p>
          <a:p xmlns:a="http://schemas.openxmlformats.org/drawingml/2006/main">
            <a:r>
              <a:t>https://github.com/ChorokLeeDev/regime-predictability-revision/blob/ad08f1e2aeef9e4ec667b787d8ae00430c60f65f/manuscript.tex — Abstract; Introduction</a:t>
            </a:r>
          </a:p>
          <a:p xmlns:a="http://schemas.openxmlformats.org/drawingml/2006/main">
            <a:r>
              <a:t>Current revision on revision/pi-interview-arxiv-20260926, pinned 29 September 2026; arXiv:2601.10732.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regime-gated model forms a weighted average of several regression forecasts. The weights represent predicted latent-state probabilities, estimated here with Gaussian or Student-t hidden Markov models. The source factor can enter the regression as a lagged predictor. It can also help infer the state, thereby changing the weights on intercepts and retained predictors. A simple constructed example predicts the target through a weight that depends on the source, even though there is no explicit source-lag coefficient. This makes the information path concrete. Prediction must use a gate available before the outcome. Smoothed states typically use future observations, and even forward filtering is unsuitable for an honest historical forecast if its parameters or scaling were fitted on the full sample. State ranks in this study are statistical labels, not verified economic regimes.</a:t>
            </a:r>
          </a:p>
          <a:p xmlns:a="http://schemas.openxmlformats.org/drawingml/2006/main">
            <a:r>
              <a:t/>
            </a:r>
          </a:p>
          <a:p xmlns:a="http://schemas.openxmlformats.org/drawingml/2006/main">
            <a:r>
              <a:t>Sources</a:t>
            </a:r>
          </a:p>
          <a:p xmlns:a="http://schemas.openxmlformats.org/drawingml/2006/main">
            <a:r>
              <a:t>https://github.com/ChorokLeeDev/regime-predictability-revision/blob/ad08f1e2aeef9e4ec667b787d8ae00430c60f65f/manuscript.tex — Regime estimation without future observations; Two routes by which a source factor can predict the target</a:t>
            </a:r>
          </a:p>
          <a:p xmlns:a="http://schemas.openxmlformats.org/drawingml/2006/main">
            <a:r>
              <a:t>Current revision on revision/pi-interview-arxiv-20260926, pinned 29 September 2026; arXiv:2601.10732.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distinct estimands rather than a ranking from invalid to valid methods. Shared-gate ablation compares explicit lag inclusion conditional on a source-informed gate. That question is meaningful, but it cannot establish a forecast based on an information set that excludes the source. Complete source exclusion separately fits the restricted gate and all downstream steps using retained variables only. Its gain describes the compared fitted procedures. The gate-value comparison instead holds raw information fixed and asks whether a gated procedure improves on a pooled model. These gains should not substitute for one another. Furthermore, subtracting the first two gains compares restricted procedures: re-estimating a gate changes approximation, estimation, optimization, and regularization. Their difference is not a clean causal attribution to a latent information channel. The paper uses controlled settings to study those costs separately.</a:t>
            </a:r>
          </a:p>
          <a:p xmlns:a="http://schemas.openxmlformats.org/drawingml/2006/main">
            <a:r>
              <a:t/>
            </a:r>
          </a:p>
          <a:p xmlns:a="http://schemas.openxmlformats.org/drawingml/2006/main">
            <a:r>
              <a:t>Sources</a:t>
            </a:r>
          </a:p>
          <a:p xmlns:a="http://schemas.openxmlformats.org/drawingml/2006/main">
            <a:r>
              <a:t>https://github.com/ChorokLeeDev/regime-predictability-revision/blob/ad08f1e2aeef9e4ec667b787d8ae00430c60f65f/manuscript.tex — Source-removal paths and predictive estimands; Table: Source access</a:t>
            </a:r>
          </a:p>
          <a:p xmlns:a="http://schemas.openxmlformats.org/drawingml/2006/main">
            <a:r>
              <a:t>Current revision on revision/pi-interview-arxiv-20260926, pinned 29 September 2026; arXiv:2601.10732.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paper uses a standard conditional-expectation identity, not a new theorem. Under squared loss, an oracle conditional mean using a larger information set cannot have higher population risk than one using a nested smaller set. Their difference is the expected squared distance between the two conditional means. A fitted model is not that oracle. Its risk also includes the distance between its predictions and the appropriate conditional mean. The displayed identity says that observed procedure advantages mix information value with approximation and estimation costs on both sides. A complex source-informed model can therefore lose even when the source is informative. Conversely, a large fitted gain can occur because the restricted comparator is particularly poor. This identity motivates fair procedure comparisons and restrained interpretation of sample score signs. The bounded-loss inference used later has a different target from ordinary squared-risk identities.</a:t>
            </a:r>
          </a:p>
          <a:p xmlns:a="http://schemas.openxmlformats.org/drawingml/2006/main">
            <a:r>
              <a:t/>
            </a:r>
          </a:p>
          <a:p xmlns:a="http://schemas.openxmlformats.org/drawingml/2006/main">
            <a:r>
              <a:t>Sources</a:t>
            </a:r>
          </a:p>
          <a:p xmlns:a="http://schemas.openxmlformats.org/drawingml/2006/main">
            <a:r>
              <a:t>https://github.com/ChorokLeeDev/regime-predictability-revision/blob/ad08f1e2aeef9e4ec667b787d8ae00430c60f65f/manuscript.tex — Proposition: Oracle and fitted predictive gains; Chronological fitted-procedure comparison</a:t>
            </a:r>
          </a:p>
          <a:p xmlns:a="http://schemas.openxmlformats.org/drawingml/2006/main">
            <a:r>
              <a:t>Current revision on revision/pi-interview-arxiv-20260926, pinned 29 September 2026; arXiv:2601.10732.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expansion was frozen in a timestamped repository commit before additional regional downloads and temporal evaluation. It includes every ordered source-target pair among six factors, so no direction is retained because it performed well. Five procedure comparisons comprise three complete-exclusion comparisons, using pooled, Gaussian-HMM, and Student-t-HMM forecasts, plus two shared-gate ablations. Each is evaluated unweighted and with three predictable reference-state weights. The confidence-sequence family therefore contains 2,400 endpoints for the temporal extension. The original historical period was previously inspected, so its intervals are descriptive. The later period was not part of earlier repository forecast evaluation, but outside exposure through other work remains unverified. All data use retrospective vintages. These qualifications matter: a repository freeze and chronological fitting improve auditability without establishing independent prospective confirmation or certified real-time availability.</a:t>
            </a:r>
          </a:p>
          <a:p xmlns:a="http://schemas.openxmlformats.org/drawingml/2006/main">
            <a:r>
              <a:t/>
            </a:r>
          </a:p>
          <a:p xmlns:a="http://schemas.openxmlformats.org/drawingml/2006/main">
            <a:r>
              <a:t>Sources</a:t>
            </a:r>
          </a:p>
          <a:p xmlns:a="http://schemas.openxmlformats.org/drawingml/2006/main">
            <a:r>
              <a:t>https://github.com/ChorokLeeDev/regime-predictability-revision/blob/ad08f1e2aeef9e4ec667b787d8ae00430c60f65f/manuscript.tex — Frozen cross-market task family: Design, data and evidence status; Endpoints and multiplicity</a:t>
            </a:r>
          </a:p>
          <a:p xmlns:a="http://schemas.openxmlformats.org/drawingml/2006/main">
            <a:r>
              <a:t>Current revision on revision/pi-interview-arxiv-20260926, pinned 29 September 2026; arXiv:2601.10732.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denominator 240 refers to four regions times 30 directions times two HMM families, with unweighted complete-exclusion and shared-gate point estimates compared for sign. Forty-two have strictly opposite signs; exact zeros are not counted as opposite. This is a narrower slice than the 2,400-endpoint inference family, which also includes pooled comparisons and predictable weights. None of those temporal endpoints crosses a simultaneous directional boundary at any retained prefix. Some intervals fit within a prespecified score-resolution margin, but all 776 such inclusions are already guaranteed because the forecasts are sufficiently close; 196 pairs are exactly identical. They are not evidence of broad population nonpredictability. The direct discrepancies among the 42 sign disagreements are also small on the normalized capped-loss scale. Reporting magnitude alongside sign prevents a minor ranking change from sounding like a large discovered effect.</a:t>
            </a:r>
          </a:p>
          <a:p xmlns:a="http://schemas.openxmlformats.org/drawingml/2006/main">
            <a:r>
              <a:t/>
            </a:r>
          </a:p>
          <a:p xmlns:a="http://schemas.openxmlformats.org/drawingml/2006/main">
            <a:r>
              <a:t>Sources</a:t>
            </a:r>
          </a:p>
          <a:p xmlns:a="http://schemas.openxmlformats.org/drawingml/2006/main">
            <a:r>
              <a:t>https://github.com/ChorokLeeDev/regime-predictability-revision/blob/ad08f1e2aeef9e4ec667b787d8ae00430c60f65f/manuscript.tex — Table: Complete regional endpoint families; Figure: Temporal unweighted capped-loss gains; Magnitude of the procedure discrepancy</a:t>
            </a:r>
          </a:p>
          <a:p xmlns:a="http://schemas.openxmlformats.org/drawingml/2006/main">
            <a:r>
              <a:t>Current revision on revision/pi-interview-arxiv-20260926, pinned 29 September 2026; arXiv:2601.10732.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table concerns the earlier US reconstruction, not the entire regional family. HML is a value-minus-growth factor, while SMB is the five-factor small-minus-big spread. Their underlying portfolios overlap, so excluding numerical HML history is not an intervention that removes every value-related economic channel. On the same 3,774 evaluation dates, including HML slightly worsens RMSE for all three displayed model families. The zero-return forecast has the lowest aggregate error among the displayed procedures. These are realized errors from a current-vintage reconstruction; the original code, exact vintage, and search history remain unavailable. The point estimates therefore do not constitute an exact reproduction or a proof of no population predictive information. The forecast target is one day ahead. Using two or nine lagged predictors changes how far back the model looks, not how far ahead it predicts.</a:t>
            </a:r>
          </a:p>
          <a:p xmlns:a="http://schemas.openxmlformats.org/drawingml/2006/main">
            <a:r>
              <a:t/>
            </a:r>
          </a:p>
          <a:p xmlns:a="http://schemas.openxmlformats.org/drawingml/2006/main">
            <a:r>
              <a:t>Sources</a:t>
            </a:r>
          </a:p>
          <a:p xmlns:a="http://schemas.openxmlformats.org/drawingml/2006/main">
            <a:r>
              <a:t>https://github.com/ChorokLeeDev/regime-predictability-revision/blob/ad08f1e2aeef9e4ec667b787d8ae00430c60f65f/manuscript.tex — Current-vintage historical reconstruction: Forecast errors and incremental value; Table: SMB root mean squared forecast error</a:t>
            </a:r>
          </a:p>
          <a:p xmlns:a="http://schemas.openxmlformats.org/drawingml/2006/main">
            <a:r>
              <a:t>Current revision on revision/pi-interview-arxiv-20260926, pinned 29 September 2026; arXiv:2601.10732.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designed simulation with known conditional means, not market evidence. A source block contains a persistent observed state and an independent lag signal. In the gate-only scenario, the state helps predict the target but the independent lag signal is irrelevant. The exact complete-exclusion oracle gain is positive because source state information is removed. The exact shared-gate comparison retains that state pathway and has zero gain. Fitted shared-gate estimates are slightly negative because learning extra terms can add error. The two HMM complete-exclusion gains remain positive in this favorable state-observation setting. These controlled quantities demonstrate how the choice of removal operation changes the scientific question. They do not identify the mechanism behind any financial-data sign discrepancy. Monte Carlo uncertainty pertains to independent simulated seeds, and the source is a constructed block rather than an empirical equity factor.</a:t>
            </a:r>
          </a:p>
          <a:p xmlns:a="http://schemas.openxmlformats.org/drawingml/2006/main">
            <a:r>
              <a:t/>
            </a:r>
          </a:p>
          <a:p xmlns:a="http://schemas.openxmlformats.org/drawingml/2006/main">
            <a:r>
              <a:t>Sources</a:t>
            </a:r>
          </a:p>
          <a:p xmlns:a="http://schemas.openxmlformats.org/drawingml/2006/main">
            <a:r>
              <a:t>https://github.com/ChorokLeeDev/regime-predictability-revision/blob/ad08f1e2aeef9e4ec667b787d8ae00430c60f65f/manuscript.tex — Controlled pathways and estimation costs; Table: Known-conditional squared-loss gains</a:t>
            </a:r>
          </a:p>
          <a:p xmlns:a="http://schemas.openxmlformats.org/drawingml/2006/main">
            <a:r>
              <a:t>Current revision on revision/pi-interview-arxiv-20260926, pinned 29 September 2026; arXiv:2601.10732.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favorable simulation is stressed by corrupting the observed binary state coordinate with independent flips. At moderate corruption levels the source still contains positive oracle information, yet both fitted HMM procedures lose relative to source exclusion. At a flip probability of one half the channel is uninformative and the oracle gain is exactly zero, while fitted gains remain negative. This separates the existence of useful information from the ability of these particular fitted procedures to exploit it. The table reports mean known-conditional squared-loss gains; it is not a financial confidence interval or a causal explanation of market behavior. A subsequent matched Gaussian-versus-Bernoulli emission experiment improves forecasts at one noise level under privileged known-AR preprocessing. That narrower intervention does not uniquely explain the original pipeline failure, and its advantage is not uniform across noise levels.</a:t>
            </a:r>
          </a:p>
          <a:p xmlns:a="http://schemas.openxmlformats.org/drawingml/2006/main">
            <a:r>
              <a:t/>
            </a:r>
          </a:p>
          <a:p xmlns:a="http://schemas.openxmlformats.org/drawingml/2006/main">
            <a:r>
              <a:t>Sources</a:t>
            </a:r>
          </a:p>
          <a:p xmlns:a="http://schemas.openxmlformats.org/drawingml/2006/main">
            <a:r>
              <a:t>https://github.com/ChorokLeeDev/regime-predictability-revision/blob/ad08f1e2aeef9e4ec667b787d8ae00430c60f65f/manuscript.tex — Noisy-source failure study; Table: Noisy-source known-conditional squared-loss gains; Matched observation-model intervention</a:t>
            </a:r>
          </a:p>
          <a:p xmlns:a="http://schemas.openxmlformats.org/drawingml/2006/main">
            <a:r>
              <a:t>Current revision on revision/pi-interview-arxiv-20260926, pinned 29 September 2026; arXiv:2601.10732.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paper establishes a concrete distinction that matters when assessing regime-gated forecasts. A source can remain informative through the gate after its explicit lag coefficients disappear. Complete source exclusion and shared-gate ablation answer different questions, and their fitted differences also contain changes in model error. The cross-market point estimates demonstrate removal sensitivity, while the simultaneous intervals do not resolve a direction. The score-margin inclusions follow from forecast proximity and do not establish population noncausality. Simulations make these distinctions visible by comparing known information value with procedure costs. Limitations remain substantial: correlated markets, revised historical data, unverified outside exposure, a restricted set of HMM architectures, and conservative finite-sample resolution. The next research step is better isolated evaluation and a clearly meaningful target, not relabeling an unresolved result as success or failure.</a:t>
            </a:r>
          </a:p>
          <a:p xmlns:a="http://schemas.openxmlformats.org/drawingml/2006/main">
            <a:r>
              <a:t/>
            </a:r>
          </a:p>
          <a:p xmlns:a="http://schemas.openxmlformats.org/drawingml/2006/main">
            <a:r>
              <a:t>Sources</a:t>
            </a:r>
          </a:p>
          <a:p xmlns:a="http://schemas.openxmlformats.org/drawingml/2006/main">
            <a:r>
              <a:t>https://github.com/ChorokLeeDev/regime-predictability-revision/blob/ad08f1e2aeef9e4ec667b787d8ae00430c60f65f/manuscript.tex — Limitations and conclusion</a:t>
            </a:r>
          </a:p>
          <a:p xmlns:a="http://schemas.openxmlformats.org/drawingml/2006/main">
            <a:r>
              <a:t>Current revision on revision/pi-interview-arxiv-20260926, pinned 29 September 2026; arXiv:2601.10732.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ce4b1783cb54dd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89bb8d61f494e2a" /><Relationship Type="http://schemas.openxmlformats.org/officeDocument/2006/relationships/slideLayout" Target="/ppt/slideLayouts/slideLayout1.xml" Id="R2a21ffb985f741c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a21ffb985f741c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911ae98a6b54a3c" /><Relationship Type="http://schemas.openxmlformats.org/officeDocument/2006/relationships/notesSlide" Target="/ppt/notesSlides/notesSlide1.xml" Id="R854283558cff42c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73457143d184c31" /><Relationship Type="http://schemas.openxmlformats.org/officeDocument/2006/relationships/notesSlide" Target="/ppt/notesSlides/notesSlide2.xml" Id="Rec9c218ba1bd479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1582ad1bcde4960" /><Relationship Type="http://schemas.openxmlformats.org/officeDocument/2006/relationships/notesSlide" Target="/ppt/notesSlides/notesSlide3.xml" Id="R109c0c2ebcb448f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7a7a3e41af74c7b" /><Relationship Type="http://schemas.openxmlformats.org/officeDocument/2006/relationships/notesSlide" Target="/ppt/notesSlides/notesSlide4.xml" Id="R8cf09cd314c14bd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89fa85c46e94da4" /><Relationship Type="http://schemas.openxmlformats.org/officeDocument/2006/relationships/notesSlide" Target="/ppt/notesSlides/notesSlide5.xml" Id="R4aa0a248cb6b490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18f7a7aafa94a82" /><Relationship Type="http://schemas.openxmlformats.org/officeDocument/2006/relationships/notesSlide" Target="/ppt/notesSlides/notesSlide6.xml" Id="Rfe00e3ff9d51408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3ebd56f26cd4af3" /><Relationship Type="http://schemas.openxmlformats.org/officeDocument/2006/relationships/notesSlide" Target="/ppt/notesSlides/notesSlide7.xml" Id="R4427255150674a3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c3066ae858d429a" /><Relationship Type="http://schemas.openxmlformats.org/officeDocument/2006/relationships/notesSlide" Target="/ppt/notesSlides/notesSlide8.xml" Id="Rd78380c3527f428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bcf2ed1a9f046d3" /><Relationship Type="http://schemas.openxmlformats.org/officeDocument/2006/relationships/notesSlide" Target="/ppt/notesSlides/notesSlide9.xml" Id="R238a77a73b5e44b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b80ca2122314e46" /><Relationship Type="http://schemas.openxmlformats.org/officeDocument/2006/relationships/notesSlide" Target="/ppt/notesSlides/notesSlide10.xml" Id="R694f95b946fe467e" /></Relationships>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7" name="FINANCIAL FORECASTING AND MODEL EVALUATION">
            <a:extLst xmlns:a="http://schemas.openxmlformats.org/drawingml/2006/main">
              <a:ext uri="{FF2B5EF4-FFF2-40B4-BE49-F238E27FC236}">
                <a16:creationId xmlns:a16="http://schemas.microsoft.com/office/drawing/2014/main" id="{B2566287-7DC5-47EA-8CF2-09AC9843454F}"/>
              </a:ext>
            </a:extLst>
          </p:cNvPr>
          <p:cNvSpPr>
            <a:spLocks xmlns:a="http://schemas.openxmlformats.org/drawingml/2006/main" noGrp="1"/>
          </p:cNvSpPr>
          <p:nvPr/>
        </p:nvSpPr>
        <p:spPr>
          <a:xfrm xmlns:a="http://schemas.openxmlformats.org/drawingml/2006/main">
            <a:off x="666750" y="64770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9DCFD0"/>
                </a:solidFill>
                <a:latin typeface="Noto Sans"/>
                <a:ea typeface="Noto Sans"/>
                <a:cs typeface="Noto Sans"/>
              </a:defRPr>
            </a:pPr>
            <a:r>
              <a:rPr sz="1500" b="1">
                <a:solidFill>
                  <a:srgbClr val="9DCFD0"/>
                </a:solidFill>
                <a:latin typeface="Noto Sans"/>
                <a:ea typeface="Noto Sans"/>
                <a:cs typeface="Noto Sans"/>
              </a:rPr>
              <a:t>FINANCIAL FORECASTING AND MODEL EVALUATION</a:t>
            </a:r>
          </a:p>
        </p:txBody>
      </p:sp>
      <p:sp>
        <p:nvSpPr>
          <p:cNvPr id="2" name="Source Exclusion in Regime-Gated Forecasting:">
            <a:extLst xmlns:a="http://schemas.openxmlformats.org/drawingml/2006/main">
              <a:ext uri="{FF2B5EF4-FFF2-40B4-BE49-F238E27FC236}">
                <a16:creationId xmlns:a16="http://schemas.microsoft.com/office/drawing/2014/main" id="{22F38A2C-E9CA-4E37-A77D-DAD9BA6E0C87}"/>
              </a:ext>
            </a:extLst>
          </p:cNvPr>
          <p:cNvSpPr>
            <a:spLocks xmlns:a="http://schemas.openxmlformats.org/drawingml/2006/main" noGrp="1"/>
          </p:cNvSpPr>
          <p:nvPr/>
        </p:nvSpPr>
        <p:spPr>
          <a:xfrm xmlns:a="http://schemas.openxmlformats.org/drawingml/2006/main">
            <a:off x="666750" y="1571625"/>
            <a:ext cx="1076325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350" b="1">
                <a:solidFill>
                  <a:srgbClr val="FFFFFF"/>
                </a:solidFill>
                <a:latin typeface="Noto Sans"/>
                <a:ea typeface="Noto Sans"/>
                <a:cs typeface="Noto Sans"/>
              </a:defRPr>
            </a:pPr>
            <a:r>
              <a:rPr sz="4350" b="1">
                <a:solidFill>
                  <a:srgbClr val="FFFFFF"/>
                </a:solidFill>
                <a:latin typeface="Noto Sans"/>
                <a:ea typeface="Noto Sans"/>
                <a:cs typeface="Noto Sans"/>
              </a:rPr>
              <a:t>Source Exclusion in Regime-Gated Forecasting: A Cross-Market Audit of Equity-Factor Predictability</a:t>
            </a:r>
          </a:p>
        </p:txBody>
      </p:sp>
      <p:sp>
        <p:nvSpPr>
          <p:cNvPr id="3" name="Chorok Lee">
            <a:extLst xmlns:a="http://schemas.openxmlformats.org/drawingml/2006/main">
              <a:ext uri="{FF2B5EF4-FFF2-40B4-BE49-F238E27FC236}">
                <a16:creationId xmlns:a16="http://schemas.microsoft.com/office/drawing/2014/main" id="{7BF55ECC-937B-4EBD-AF53-CDF390252597}"/>
              </a:ext>
            </a:extLst>
          </p:cNvPr>
          <p:cNvSpPr>
            <a:spLocks xmlns:a="http://schemas.openxmlformats.org/drawingml/2006/main" noGrp="1"/>
          </p:cNvSpPr>
          <p:nvPr/>
        </p:nvSpPr>
        <p:spPr>
          <a:xfrm xmlns:a="http://schemas.openxmlformats.org/drawingml/2006/main">
            <a:off x="666750" y="5572125"/>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FFFFFF"/>
                </a:solidFill>
                <a:latin typeface="Noto Sans"/>
                <a:ea typeface="Noto Sans"/>
                <a:cs typeface="Noto Sans"/>
              </a:defRPr>
            </a:pPr>
            <a:r>
              <a:rPr sz="2025" b="1">
                <a:solidFill>
                  <a:srgbClr val="FFFFFF"/>
                </a:solidFill>
                <a:latin typeface="Noto Sans"/>
                <a:ea typeface="Noto Sans"/>
                <a:cs typeface="Noto Sans"/>
              </a:rPr>
              <a:t>Chorok Lee</a:t>
            </a:r>
          </a:p>
        </p:txBody>
      </p:sp>
      <p:sp>
        <p:nvSpPr>
          <p:cNvPr id="4" name="KAIST">
            <a:extLst xmlns:a="http://schemas.openxmlformats.org/drawingml/2006/main">
              <a:ext uri="{FF2B5EF4-FFF2-40B4-BE49-F238E27FC236}">
                <a16:creationId xmlns:a16="http://schemas.microsoft.com/office/drawing/2014/main" id="{E0830325-FC93-4B9C-B793-5030899E74B0}"/>
              </a:ext>
            </a:extLst>
          </p:cNvPr>
          <p:cNvSpPr>
            <a:spLocks xmlns:a="http://schemas.openxmlformats.org/drawingml/2006/main" noGrp="1"/>
          </p:cNvSpPr>
          <p:nvPr/>
        </p:nvSpPr>
        <p:spPr>
          <a:xfrm xmlns:a="http://schemas.openxmlformats.org/drawingml/2006/main">
            <a:off x="666750" y="596265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C0D2DC"/>
                </a:solidFill>
                <a:latin typeface="Noto Sans"/>
                <a:ea typeface="Noto Sans"/>
                <a:cs typeface="Noto Sans"/>
              </a:defRPr>
            </a:pPr>
            <a:r>
              <a:rPr sz="1725" b="0">
                <a:solidFill>
                  <a:srgbClr val="C0D2DC"/>
                </a:solidFill>
                <a:latin typeface="Noto Sans"/>
                <a:ea typeface="Noto Sans"/>
                <a:cs typeface="Noto Sans"/>
              </a:rPr>
              <a:t>KAIST</a:t>
            </a:r>
          </a:p>
        </p:txBody>
      </p:sp>
      <p:sp>
        <p:nvSpPr>
          <p:cNvPr id="5" name="Source exclusion in regime-gated forecasts">
            <a:extLst xmlns:a="http://schemas.openxmlformats.org/drawingml/2006/main">
              <a:ext uri="{FF2B5EF4-FFF2-40B4-BE49-F238E27FC236}">
                <a16:creationId xmlns:a16="http://schemas.microsoft.com/office/drawing/2014/main" id="{B027387E-A6ED-42D7-BC5F-A5E76134B2D4}"/>
              </a:ext>
            </a:extLst>
          </p:cNvPr>
          <p:cNvSpPr>
            <a:spLocks xmlns:a="http://schemas.openxmlformats.org/drawingml/2006/main" noGrp="1"/>
          </p:cNvSpPr>
          <p:nvPr/>
        </p:nvSpPr>
        <p:spPr>
          <a:xfrm xmlns:a="http://schemas.openxmlformats.org/drawingml/2006/main">
            <a:off x="666750" y="6438900"/>
            <a:ext cx="10239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B8CCD8"/>
                </a:solidFill>
                <a:latin typeface="Noto Sans"/>
                <a:ea typeface="Noto Sans"/>
                <a:cs typeface="Noto Sans"/>
              </a:defRPr>
            </a:pPr>
            <a:r>
              <a:rPr sz="1200" b="0">
                <a:solidFill>
                  <a:srgbClr val="B8CCD8"/>
                </a:solidFill>
                <a:latin typeface="Noto Sans"/>
                <a:ea typeface="Noto Sans"/>
                <a:cs typeface="Noto Sans"/>
              </a:rPr>
              <a:t>Source exclusion in regime-gated forecasts</a:t>
            </a:r>
          </a:p>
        </p:txBody>
      </p:sp>
      <p:sp>
        <p:nvSpPr>
          <p:cNvPr id="6" name="01 / 10">
            <a:extLst xmlns:a="http://schemas.openxmlformats.org/drawingml/2006/main">
              <a:ext uri="{FF2B5EF4-FFF2-40B4-BE49-F238E27FC236}">
                <a16:creationId xmlns:a16="http://schemas.microsoft.com/office/drawing/2014/main" id="{3BF68BE0-2820-44DB-908E-7CCD91EDE792}"/>
              </a:ext>
            </a:extLst>
          </p:cNvPr>
          <p:cNvSpPr>
            <a:spLocks xmlns:a="http://schemas.openxmlformats.org/drawingml/2006/main" noGrp="1"/>
          </p:cNvSpPr>
          <p:nvPr/>
        </p:nvSpPr>
        <p:spPr>
          <a:xfrm xmlns:a="http://schemas.openxmlformats.org/drawingml/2006/main">
            <a:off x="109537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b="0">
                <a:solidFill>
                  <a:srgbClr val="B8CCD8"/>
                </a:solidFill>
                <a:latin typeface="Noto Sans"/>
                <a:ea typeface="Noto Sans"/>
                <a:cs typeface="Noto Sans"/>
              </a:defRPr>
            </a:pPr>
            <a:r>
              <a:rPr sz="1200" b="0">
                <a:solidFill>
                  <a:srgbClr val="B8CCD8"/>
                </a:solidFill>
                <a:latin typeface="Noto Sans"/>
                <a:ea typeface="Noto Sans"/>
                <a:cs typeface="Noto Sans"/>
              </a:rPr>
              <a:t>01 / 10</a:t>
            </a:r>
          </a:p>
        </p:txBody>
      </p:sp>
    </p:spTree>
    <p:extLst>
      <p:ext uri="{BB962C8B-B14F-4D97-AF65-F5344CB8AC3E}">
        <p14:creationId xmlns:p14="http://schemas.microsoft.com/office/powerpoint/2010/main" val="103927586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A source can reach the forecast by two routes">
            <a:extLst xmlns:a="http://schemas.openxmlformats.org/drawingml/2006/main">
              <a:ext uri="{FF2B5EF4-FFF2-40B4-BE49-F238E27FC236}">
                <a16:creationId xmlns:a16="http://schemas.microsoft.com/office/drawing/2014/main" id="{D2430FB3-DBEF-4130-AA92-B6741485578B}"/>
              </a:ext>
            </a:extLst>
          </p:cNvPr>
          <p:cNvSpPr>
            <a:spLocks xmlns:a="http://schemas.openxmlformats.org/drawingml/2006/main" noGrp="1"/>
          </p:cNvSpPr>
          <p:nvPr/>
        </p:nvSpPr>
        <p:spPr>
          <a:xfrm xmlns:a="http://schemas.openxmlformats.org/drawingml/2006/main">
            <a:off x="666750" y="4191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02A43"/>
                </a:solidFill>
                <a:latin typeface="Noto Sans"/>
                <a:ea typeface="Noto Sans"/>
                <a:cs typeface="Noto Sans"/>
              </a:defRPr>
            </a:pPr>
            <a:r>
              <a:rPr sz="3300" b="1">
                <a:solidFill>
                  <a:srgbClr val="102A43"/>
                </a:solidFill>
                <a:latin typeface="Noto Sans"/>
                <a:ea typeface="Noto Sans"/>
                <a:cs typeface="Noto Sans"/>
              </a:rPr>
              <a:t>A source can reach the forecast by two routes</a:t>
            </a:r>
          </a:p>
        </p:txBody>
      </p:sp>
      <p:sp>
        <p:nvSpPr>
          <p:cNvPr id="2" name="The gate chooses how much each regime-specifi">
            <a:extLst xmlns:a="http://schemas.openxmlformats.org/drawingml/2006/main">
              <a:ext uri="{FF2B5EF4-FFF2-40B4-BE49-F238E27FC236}">
                <a16:creationId xmlns:a16="http://schemas.microsoft.com/office/drawing/2014/main" id="{DAA0D8FB-DCE7-4F7A-AF40-FCF606CF069F}"/>
              </a:ext>
            </a:extLst>
          </p:cNvPr>
          <p:cNvSpPr>
            <a:spLocks xmlns:a="http://schemas.openxmlformats.org/drawingml/2006/main" noGrp="1"/>
          </p:cNvSpPr>
          <p:nvPr/>
        </p:nvSpPr>
        <p:spPr>
          <a:xfrm xmlns:a="http://schemas.openxmlformats.org/drawingml/2006/main">
            <a:off x="666750" y="16764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15A92"/>
                </a:solidFill>
                <a:latin typeface="Noto Sans"/>
                <a:ea typeface="Noto Sans"/>
                <a:cs typeface="Noto Sans"/>
              </a:defRPr>
            </a:pPr>
            <a:r>
              <a:rPr sz="2175" b="0">
                <a:solidFill>
                  <a:srgbClr val="215A92"/>
                </a:solidFill>
                <a:latin typeface="Noto Sans"/>
                <a:ea typeface="Noto Sans"/>
                <a:cs typeface="Noto Sans"/>
              </a:rPr>
              <a:t>The gate chooses how much each regime-specific regression contributes.</a:t>
            </a:r>
          </a:p>
        </p:txBody>
      </p:sp>
      <p:sp>
        <p:nvSpPr>
          <p:cNvPr id="3" name="Explicit lag route">
            <a:extLst xmlns:a="http://schemas.openxmlformats.org/drawingml/2006/main">
              <a:ext uri="{FF2B5EF4-FFF2-40B4-BE49-F238E27FC236}">
                <a16:creationId xmlns:a16="http://schemas.microsoft.com/office/drawing/2014/main" id="{CE43A0B9-403C-4252-BFA1-216361475D1B}"/>
              </a:ext>
            </a:extLst>
          </p:cNvPr>
          <p:cNvSpPr>
            <a:spLocks xmlns:a="http://schemas.openxmlformats.org/drawingml/2006/main" noGrp="1"/>
          </p:cNvSpPr>
          <p:nvPr/>
        </p:nvSpPr>
        <p:spPr>
          <a:xfrm xmlns:a="http://schemas.openxmlformats.org/drawingml/2006/main">
            <a:off x="666750" y="2514600"/>
            <a:ext cx="3289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215A92"/>
                </a:solidFill>
                <a:latin typeface="Noto Sans"/>
                <a:ea typeface="Noto Sans"/>
                <a:cs typeface="Noto Sans"/>
              </a:defRPr>
            </a:pPr>
            <a:r>
              <a:rPr sz="2100" b="1">
                <a:solidFill>
                  <a:srgbClr val="215A92"/>
                </a:solidFill>
                <a:latin typeface="Noto Sans"/>
                <a:ea typeface="Noto Sans"/>
                <a:cs typeface="Noto Sans"/>
              </a:rPr>
              <a:t>Explicit lag route</a:t>
            </a:r>
          </a:p>
        </p:txBody>
      </p:sp>
      <p:sp>
        <p:nvSpPr>
          <p:cNvPr id="4" name="Past source-factor returns enter the regressi">
            <a:extLst xmlns:a="http://schemas.openxmlformats.org/drawingml/2006/main">
              <a:ext uri="{FF2B5EF4-FFF2-40B4-BE49-F238E27FC236}">
                <a16:creationId xmlns:a16="http://schemas.microsoft.com/office/drawing/2014/main" id="{33188143-DC4D-4E67-B1CB-004979117059}"/>
              </a:ext>
            </a:extLst>
          </p:cNvPr>
          <p:cNvSpPr>
            <a:spLocks xmlns:a="http://schemas.openxmlformats.org/drawingml/2006/main" noGrp="1"/>
          </p:cNvSpPr>
          <p:nvPr/>
        </p:nvSpPr>
        <p:spPr>
          <a:xfrm xmlns:a="http://schemas.openxmlformats.org/drawingml/2006/main">
            <a:off x="666750" y="3276600"/>
            <a:ext cx="3289300" cy="981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354F62"/>
                </a:solidFill>
                <a:latin typeface="Noto Sans"/>
                <a:ea typeface="Noto Sans"/>
                <a:cs typeface="Noto Sans"/>
              </a:defRPr>
            </a:pPr>
            <a:r>
              <a:rPr sz="1800" b="0">
                <a:solidFill>
                  <a:srgbClr val="354F62"/>
                </a:solidFill>
                <a:latin typeface="Noto Sans"/>
                <a:ea typeface="Noto Sans"/>
                <a:cs typeface="Noto Sans"/>
              </a:rPr>
              <a:t>Past source-factor returns enter the regression directly through lag coefficients.</a:t>
            </a:r>
          </a:p>
        </p:txBody>
      </p:sp>
      <p:sp>
        <p:nvSpPr>
          <p:cNvPr id="5" name="Regime-gate route">
            <a:extLst xmlns:a="http://schemas.openxmlformats.org/drawingml/2006/main">
              <a:ext uri="{FF2B5EF4-FFF2-40B4-BE49-F238E27FC236}">
                <a16:creationId xmlns:a16="http://schemas.microsoft.com/office/drawing/2014/main" id="{AE0CAEDD-42A9-497F-88AC-E389C4DA24A4}"/>
              </a:ext>
            </a:extLst>
          </p:cNvPr>
          <p:cNvSpPr>
            <a:spLocks xmlns:a="http://schemas.openxmlformats.org/drawingml/2006/main" noGrp="1"/>
          </p:cNvSpPr>
          <p:nvPr/>
        </p:nvSpPr>
        <p:spPr>
          <a:xfrm xmlns:a="http://schemas.openxmlformats.org/drawingml/2006/main">
            <a:off x="4451350" y="2514600"/>
            <a:ext cx="3289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215A92"/>
                </a:solidFill>
                <a:latin typeface="Noto Sans"/>
                <a:ea typeface="Noto Sans"/>
                <a:cs typeface="Noto Sans"/>
              </a:defRPr>
            </a:pPr>
            <a:r>
              <a:rPr sz="2100" b="1">
                <a:solidFill>
                  <a:srgbClr val="215A92"/>
                </a:solidFill>
                <a:latin typeface="Noto Sans"/>
                <a:ea typeface="Noto Sans"/>
                <a:cs typeface="Noto Sans"/>
              </a:rPr>
              <a:t>Regime-gate route</a:t>
            </a:r>
          </a:p>
        </p:txBody>
      </p:sp>
      <p:sp>
        <p:nvSpPr>
          <p:cNvPr id="6" name="The source helps fit or update hidden-state p">
            <a:extLst xmlns:a="http://schemas.openxmlformats.org/drawingml/2006/main">
              <a:ext uri="{FF2B5EF4-FFF2-40B4-BE49-F238E27FC236}">
                <a16:creationId xmlns:a16="http://schemas.microsoft.com/office/drawing/2014/main" id="{1316632B-750B-4BEE-A304-67426F5DC992}"/>
              </a:ext>
            </a:extLst>
          </p:cNvPr>
          <p:cNvSpPr>
            <a:spLocks xmlns:a="http://schemas.openxmlformats.org/drawingml/2006/main" noGrp="1"/>
          </p:cNvSpPr>
          <p:nvPr/>
        </p:nvSpPr>
        <p:spPr>
          <a:xfrm xmlns:a="http://schemas.openxmlformats.org/drawingml/2006/main">
            <a:off x="4451350" y="3276600"/>
            <a:ext cx="3289300" cy="1584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354F62"/>
                </a:solidFill>
                <a:latin typeface="Noto Sans"/>
                <a:ea typeface="Noto Sans"/>
                <a:cs typeface="Noto Sans"/>
              </a:defRPr>
            </a:pPr>
            <a:r>
              <a:rPr sz="1800" b="0">
                <a:solidFill>
                  <a:srgbClr val="354F62"/>
                </a:solidFill>
                <a:latin typeface="Noto Sans"/>
                <a:ea typeface="Noto Sans"/>
                <a:cs typeface="Noto Sans"/>
              </a:rPr>
              <a:t>The source helps fit or update hidden-state probabilities. Those weights affect the forecast even without source-lag coefficients.</a:t>
            </a:r>
          </a:p>
        </p:txBody>
      </p:sp>
      <p:sp>
        <p:nvSpPr>
          <p:cNvPr id="7" name="Whole pipeline">
            <a:extLst xmlns:a="http://schemas.openxmlformats.org/drawingml/2006/main">
              <a:ext uri="{FF2B5EF4-FFF2-40B4-BE49-F238E27FC236}">
                <a16:creationId xmlns:a16="http://schemas.microsoft.com/office/drawing/2014/main" id="{B1D90C10-F665-4F50-9E66-73B644910AC9}"/>
              </a:ext>
            </a:extLst>
          </p:cNvPr>
          <p:cNvSpPr>
            <a:spLocks xmlns:a="http://schemas.openxmlformats.org/drawingml/2006/main" noGrp="1"/>
          </p:cNvSpPr>
          <p:nvPr/>
        </p:nvSpPr>
        <p:spPr>
          <a:xfrm xmlns:a="http://schemas.openxmlformats.org/drawingml/2006/main">
            <a:off x="8235950" y="2514600"/>
            <a:ext cx="3289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215A92"/>
                </a:solidFill>
                <a:latin typeface="Noto Sans"/>
                <a:ea typeface="Noto Sans"/>
                <a:cs typeface="Noto Sans"/>
              </a:defRPr>
            </a:pPr>
            <a:r>
              <a:rPr sz="2100" b="1">
                <a:solidFill>
                  <a:srgbClr val="215A92"/>
                </a:solidFill>
                <a:latin typeface="Noto Sans"/>
                <a:ea typeface="Noto Sans"/>
                <a:cs typeface="Noto Sans"/>
              </a:rPr>
              <a:t>Whole pipeline</a:t>
            </a:r>
          </a:p>
        </p:txBody>
      </p:sp>
      <p:sp>
        <p:nvSpPr>
          <p:cNvPr id="8" name="Preprocessing, scaling, validation, and tunin">
            <a:extLst xmlns:a="http://schemas.openxmlformats.org/drawingml/2006/main">
              <a:ext uri="{FF2B5EF4-FFF2-40B4-BE49-F238E27FC236}">
                <a16:creationId xmlns:a16="http://schemas.microsoft.com/office/drawing/2014/main" id="{2534B252-6E60-465A-86D7-0454F1009063}"/>
              </a:ext>
            </a:extLst>
          </p:cNvPr>
          <p:cNvSpPr>
            <a:spLocks xmlns:a="http://schemas.openxmlformats.org/drawingml/2006/main" noGrp="1"/>
          </p:cNvSpPr>
          <p:nvPr/>
        </p:nvSpPr>
        <p:spPr>
          <a:xfrm xmlns:a="http://schemas.openxmlformats.org/drawingml/2006/main">
            <a:off x="8235950" y="3276600"/>
            <a:ext cx="3289300" cy="1584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354F62"/>
                </a:solidFill>
                <a:latin typeface="Noto Sans"/>
                <a:ea typeface="Noto Sans"/>
                <a:cs typeface="Noto Sans"/>
              </a:defRPr>
            </a:pPr>
            <a:r>
              <a:rPr sz="1800" b="0">
                <a:solidFill>
                  <a:srgbClr val="354F62"/>
                </a:solidFill>
                <a:latin typeface="Noto Sans"/>
                <a:ea typeface="Noto Sans"/>
                <a:cs typeface="Noto Sans"/>
              </a:rPr>
              <a:t>Preprocessing, scaling, validation, and tuning can also depend on the source. Complete exclusion must audit each route.</a:t>
            </a:r>
          </a:p>
        </p:txBody>
      </p:sp>
      <p:sp>
        <p:nvSpPr>
          <p:cNvPr id="9" name="">
            <a:extLst xmlns:a="http://schemas.openxmlformats.org/drawingml/2006/main">
              <a:ext uri="{FF2B5EF4-FFF2-40B4-BE49-F238E27FC236}">
                <a16:creationId xmlns:a16="http://schemas.microsoft.com/office/drawing/2014/main" id="{0D7E48AA-C889-4E87-8D01-4BD395F43C94}"/>
              </a:ext>
            </a:extLst>
          </p:cNvPr>
          <p:cNvSpPr>
            <a:spLocks xmlns:a="http://schemas.openxmlformats.org/drawingml/2006/main" noGrp="1"/>
          </p:cNvSpPr>
          <p:nvPr/>
        </p:nvSpPr>
        <p:spPr>
          <a:xfrm xmlns:a="http://schemas.openxmlformats.org/drawingml/2006/main">
            <a:off x="666750" y="523875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marL="241300" indent="-127000">
              <a:spcAft>
                <a:spcPts val="600"/>
              </a:spcAft>
              <a:buChar char="•"/>
              <a:defRPr sz="1725" b="0">
                <a:solidFill>
                  <a:srgbClr val="354F62"/>
                </a:solidFill>
                <a:latin typeface="Noto Sans"/>
                <a:ea typeface="Noto Sans"/>
                <a:cs typeface="Noto Sans"/>
              </a:defRPr>
            </a:pPr>
            <a:r>
              <a:rPr sz="1725" b="0">
                <a:solidFill>
                  <a:srgbClr val="354F62"/>
                </a:solidFill>
                <a:latin typeface="Noto Sans"/>
                <a:ea typeface="Noto Sans"/>
                <a:cs typeface="Noto Sans"/>
              </a:rPr>
              <a:t>A forward filter still uses future information if its parameters were fitted on future observations.</a:t>
            </a:r>
          </a:p>
        </p:txBody>
      </p:sp>
      <p:sp>
        <p:nvSpPr>
          <p:cNvPr id="10" name="Source exclusion in regime-gated forecasts">
            <a:extLst xmlns:a="http://schemas.openxmlformats.org/drawingml/2006/main">
              <a:ext uri="{FF2B5EF4-FFF2-40B4-BE49-F238E27FC236}">
                <a16:creationId xmlns:a16="http://schemas.microsoft.com/office/drawing/2014/main" id="{5291E6C7-EF10-4717-A07E-BD40073315A8}"/>
              </a:ext>
            </a:extLst>
          </p:cNvPr>
          <p:cNvSpPr>
            <a:spLocks xmlns:a="http://schemas.openxmlformats.org/drawingml/2006/main" noGrp="1"/>
          </p:cNvSpPr>
          <p:nvPr/>
        </p:nvSpPr>
        <p:spPr>
          <a:xfrm xmlns:a="http://schemas.openxmlformats.org/drawingml/2006/main">
            <a:off x="666750" y="6438900"/>
            <a:ext cx="10239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607D8B"/>
                </a:solidFill>
                <a:latin typeface="Noto Sans"/>
                <a:ea typeface="Noto Sans"/>
                <a:cs typeface="Noto Sans"/>
              </a:defRPr>
            </a:pPr>
            <a:r>
              <a:rPr sz="1200" b="0">
                <a:solidFill>
                  <a:srgbClr val="607D8B"/>
                </a:solidFill>
                <a:latin typeface="Noto Sans"/>
                <a:ea typeface="Noto Sans"/>
                <a:cs typeface="Noto Sans"/>
              </a:rPr>
              <a:t>Source exclusion in regime-gated forecasts</a:t>
            </a:r>
          </a:p>
        </p:txBody>
      </p:sp>
      <p:sp>
        <p:nvSpPr>
          <p:cNvPr id="11" name="02 / 10">
            <a:extLst xmlns:a="http://schemas.openxmlformats.org/drawingml/2006/main">
              <a:ext uri="{FF2B5EF4-FFF2-40B4-BE49-F238E27FC236}">
                <a16:creationId xmlns:a16="http://schemas.microsoft.com/office/drawing/2014/main" id="{E96D1F73-F4BC-4D8F-89E5-53DF8414570C}"/>
              </a:ext>
            </a:extLst>
          </p:cNvPr>
          <p:cNvSpPr>
            <a:spLocks xmlns:a="http://schemas.openxmlformats.org/drawingml/2006/main" noGrp="1"/>
          </p:cNvSpPr>
          <p:nvPr/>
        </p:nvSpPr>
        <p:spPr>
          <a:xfrm xmlns:a="http://schemas.openxmlformats.org/drawingml/2006/main">
            <a:off x="109537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b="0">
                <a:solidFill>
                  <a:srgbClr val="607D8B"/>
                </a:solidFill>
                <a:latin typeface="Noto Sans"/>
                <a:ea typeface="Noto Sans"/>
                <a:cs typeface="Noto Sans"/>
              </a:defRPr>
            </a:pPr>
            <a:r>
              <a:rPr sz="1200" b="0">
                <a:solidFill>
                  <a:srgbClr val="607D8B"/>
                </a:solidFill>
                <a:latin typeface="Noto Sans"/>
                <a:ea typeface="Noto Sans"/>
                <a:cs typeface="Noto Sans"/>
              </a:rPr>
              <a:t>02 / 10</a:t>
            </a:r>
          </a:p>
        </p:txBody>
      </p:sp>
    </p:spTree>
    <p:extLst>
      <p:ext uri="{BB962C8B-B14F-4D97-AF65-F5344CB8AC3E}">
        <p14:creationId xmlns:p14="http://schemas.microsoft.com/office/powerpoint/2010/main" val="30129155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hree comparisons answer three different ques">
            <a:extLst xmlns:a="http://schemas.openxmlformats.org/drawingml/2006/main">
              <a:ext uri="{FF2B5EF4-FFF2-40B4-BE49-F238E27FC236}">
                <a16:creationId xmlns:a16="http://schemas.microsoft.com/office/drawing/2014/main" id="{E7202A2D-23F0-4C57-9CF8-7A59801006A6}"/>
              </a:ext>
            </a:extLst>
          </p:cNvPr>
          <p:cNvSpPr>
            <a:spLocks xmlns:a="http://schemas.openxmlformats.org/drawingml/2006/main" noGrp="1"/>
          </p:cNvSpPr>
          <p:nvPr/>
        </p:nvSpPr>
        <p:spPr>
          <a:xfrm xmlns:a="http://schemas.openxmlformats.org/drawingml/2006/main">
            <a:off x="666750" y="4191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02A43"/>
                </a:solidFill>
                <a:latin typeface="Noto Sans"/>
                <a:ea typeface="Noto Sans"/>
                <a:cs typeface="Noto Sans"/>
              </a:defRPr>
            </a:pPr>
            <a:r>
              <a:rPr sz="3300" b="1">
                <a:solidFill>
                  <a:srgbClr val="102A43"/>
                </a:solidFill>
                <a:latin typeface="Noto Sans"/>
                <a:ea typeface="Noto Sans"/>
                <a:cs typeface="Noto Sans"/>
              </a:rPr>
              <a:t>Three comparisons answer three different questions</a:t>
            </a:r>
          </a:p>
        </p:txBody>
      </p:sp>
      <p:sp>
        <p:nvSpPr>
          <p:cNvPr id="2" name="Name the removal operation before interpretin">
            <a:extLst xmlns:a="http://schemas.openxmlformats.org/drawingml/2006/main">
              <a:ext uri="{FF2B5EF4-FFF2-40B4-BE49-F238E27FC236}">
                <a16:creationId xmlns:a16="http://schemas.microsoft.com/office/drawing/2014/main" id="{3B45DF73-63C1-49C7-8D6F-F16680E15870}"/>
              </a:ext>
            </a:extLst>
          </p:cNvPr>
          <p:cNvSpPr>
            <a:spLocks xmlns:a="http://schemas.openxmlformats.org/drawingml/2006/main" noGrp="1"/>
          </p:cNvSpPr>
          <p:nvPr/>
        </p:nvSpPr>
        <p:spPr>
          <a:xfrm xmlns:a="http://schemas.openxmlformats.org/drawingml/2006/main">
            <a:off x="666750" y="16764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15A92"/>
                </a:solidFill>
                <a:latin typeface="Noto Sans"/>
                <a:ea typeface="Noto Sans"/>
                <a:cs typeface="Noto Sans"/>
              </a:defRPr>
            </a:pPr>
            <a:r>
              <a:rPr sz="2175" b="0">
                <a:solidFill>
                  <a:srgbClr val="215A92"/>
                </a:solidFill>
                <a:latin typeface="Noto Sans"/>
                <a:ea typeface="Noto Sans"/>
                <a:cs typeface="Noto Sans"/>
              </a:rPr>
              <a:t>Name the removal operation before interpreting its gain.</a:t>
            </a:r>
          </a:p>
        </p:txBody>
      </p:sp>
      <p:graphicFrame>
        <p:nvGraphicFramePr>
          <p:cNvPr id="9" name=""/>
          <p:cNvGraphicFramePr/>
          <p:nvPr/>
        </p:nvGraphicFramePr>
        <p:xfrm>
          <a:off xmlns:a="http://schemas.openxmlformats.org/drawingml/2006/main" x="666750" y="2514600"/>
          <a:ext xmlns:a="http://schemas.openxmlformats.org/drawingml/2006/main" cx="10858500" cy="2810256"/>
        </p:xfrm>
        <a:graphic xmlns:a="http://schemas.openxmlformats.org/drawingml/2006/main">
          <a:graphicData uri="http://schemas.openxmlformats.org/drawingml/2006/table">
            <a:tbl>
              <a:tblPr firstRow="1" bandRow="0"/>
              <a:tblGrid>
                <a:gridCol w="2788316"/>
                <a:gridCol w="3823147"/>
                <a:gridCol w="4247037"/>
              </a:tblGrid>
              <a:tr h="483108">
                <a:tc>
                  <a:txBody>
                    <a:bodyPr/>
                    <a:lstStyle/>
                    <a:p>
                      <a:r>
                        <a:rPr sz="1800" b="1">
                          <a:solidFill>
                            <a:srgbClr val="FFFFFF"/>
                          </a:solidFill>
                          <a:latin typeface="Noto Sans"/>
                          <a:ea typeface="Noto Sans"/>
                          <a:cs typeface="Noto Sans"/>
                        </a:rPr>
                        <a:t>Comparison</a:t>
                      </a:r>
                    </a:p>
                  </a:txBody>
                  <a:tcPr marL="133350" marR="133350" marT="85725" marB="85725" anchor="ctr">
                    <a:solidFill>
                      <a:srgbClr val="102A43"/>
                    </a:solidFill>
                  </a:tcPr>
                </a:tc>
                <a:tc>
                  <a:txBody>
                    <a:bodyPr/>
                    <a:lstStyle/>
                    <a:p>
                      <a:r>
                        <a:rPr sz="1800" b="1">
                          <a:solidFill>
                            <a:srgbClr val="FFFFFF"/>
                          </a:solidFill>
                          <a:latin typeface="Noto Sans"/>
                          <a:ea typeface="Noto Sans"/>
                          <a:cs typeface="Noto Sans"/>
                        </a:rPr>
                        <a:t>What changes?</a:t>
                      </a:r>
                    </a:p>
                  </a:txBody>
                  <a:tcPr marL="133350" marR="133350" marT="85725" marB="85725" anchor="ctr">
                    <a:solidFill>
                      <a:srgbClr val="102A43"/>
                    </a:solidFill>
                  </a:tcPr>
                </a:tc>
                <a:tc>
                  <a:txBody>
                    <a:bodyPr/>
                    <a:lstStyle/>
                    <a:p>
                      <a:r>
                        <a:rPr sz="1800" b="1">
                          <a:solidFill>
                            <a:srgbClr val="FFFFFF"/>
                          </a:solidFill>
                          <a:latin typeface="Noto Sans"/>
                          <a:ea typeface="Noto Sans"/>
                          <a:cs typeface="Noto Sans"/>
                        </a:rPr>
                        <a:t>Question answered</a:t>
                      </a:r>
                    </a:p>
                  </a:txBody>
                  <a:tcPr marL="133350" marR="133350" marT="85725" marB="85725" anchor="ctr">
                    <a:solidFill>
                      <a:srgbClr val="102A43"/>
                    </a:solidFill>
                  </a:tcPr>
                </a:tc>
              </a:tr>
              <a:tr h="775716">
                <a:tc>
                  <a:txBody>
                    <a:bodyPr/>
                    <a:lstStyle/>
                    <a:p>
                      <a:r>
                        <a:rPr sz="1800" b="0">
                          <a:solidFill>
                            <a:srgbClr val="354F62"/>
                          </a:solidFill>
                          <a:latin typeface="Noto Sans"/>
                          <a:ea typeface="Noto Sans"/>
                          <a:cs typeface="Noto Sans"/>
                        </a:rPr>
                        <a:t>Shared-gate ablation</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Remove source lags; retain source-informed gate</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Do explicit lags add value given this gate?</a:t>
                      </a:r>
                    </a:p>
                  </a:txBody>
                  <a:tcPr marL="133350" marR="133350" marT="85725" marB="85725" anchor="ctr">
                    <a:solidFill>
                      <a:srgbClr val="FFFFFF"/>
                    </a:solidFill>
                  </a:tcPr>
                </a:tc>
              </a:tr>
              <a:tr h="775716">
                <a:tc>
                  <a:txBody>
                    <a:bodyPr/>
                    <a:lstStyle/>
                    <a:p>
                      <a:r>
                        <a:rPr sz="1800" b="0">
                          <a:solidFill>
                            <a:srgbClr val="354F62"/>
                          </a:solidFill>
                          <a:latin typeface="Noto Sans"/>
                          <a:ea typeface="Noto Sans"/>
                          <a:cs typeface="Noto Sans"/>
                        </a:rPr>
                        <a:t>Complete source exclusion</a:t>
                      </a:r>
                    </a:p>
                  </a:txBody>
                  <a:tcPr marL="133350" marR="133350" marT="85725" marB="85725" anchor="ctr">
                    <a:solidFill>
                      <a:srgbClr val="F1F6F8"/>
                    </a:solidFill>
                  </a:tcPr>
                </a:tc>
                <a:tc>
                  <a:txBody>
                    <a:bodyPr/>
                    <a:lstStyle/>
                    <a:p>
                      <a:r>
                        <a:rPr sz="1800" b="0">
                          <a:solidFill>
                            <a:srgbClr val="354F62"/>
                          </a:solidFill>
                          <a:latin typeface="Noto Sans"/>
                          <a:ea typeface="Noto Sans"/>
                          <a:cs typeface="Noto Sans"/>
                        </a:rPr>
                        <a:t>Remove source from every restricted-model path</a:t>
                      </a:r>
                    </a:p>
                  </a:txBody>
                  <a:tcPr marL="133350" marR="133350" marT="85725" marB="85725" anchor="ctr">
                    <a:solidFill>
                      <a:srgbClr val="F1F6F8"/>
                    </a:solidFill>
                  </a:tcPr>
                </a:tc>
                <a:tc>
                  <a:txBody>
                    <a:bodyPr/>
                    <a:lstStyle/>
                    <a:p>
                      <a:r>
                        <a:rPr sz="1800" b="0">
                          <a:solidFill>
                            <a:srgbClr val="354F62"/>
                          </a:solidFill>
                          <a:latin typeface="Noto Sans"/>
                          <a:ea typeface="Noto Sans"/>
                          <a:cs typeface="Noto Sans"/>
                        </a:rPr>
                        <a:t>Does the full source-informed procedure improve forecasts?</a:t>
                      </a:r>
                    </a:p>
                  </a:txBody>
                  <a:tcPr marL="133350" marR="133350" marT="85725" marB="85725" anchor="ctr">
                    <a:solidFill>
                      <a:srgbClr val="F1F6F8"/>
                    </a:solidFill>
                  </a:tcPr>
                </a:tc>
              </a:tr>
              <a:tr h="775716">
                <a:tc>
                  <a:txBody>
                    <a:bodyPr/>
                    <a:lstStyle/>
                    <a:p>
                      <a:r>
                        <a:rPr sz="1800" b="0">
                          <a:solidFill>
                            <a:srgbClr val="354F62"/>
                          </a:solidFill>
                          <a:latin typeface="Noto Sans"/>
                          <a:ea typeface="Noto Sans"/>
                          <a:cs typeface="Noto Sans"/>
                        </a:rPr>
                        <a:t>Gate-value comparison</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Gated versus pooled, same raw information</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Does this fitted gate earn its extra complexity?</a:t>
                      </a:r>
                    </a:p>
                  </a:txBody>
                  <a:tcPr marL="133350" marR="133350" marT="85725" marB="8572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CEAF5FFD-6433-4D85-AADC-20F6885AF314}"/>
              </a:ext>
            </a:extLst>
          </p:cNvPr>
          <p:cNvSpPr>
            <a:spLocks xmlns:a="http://schemas.openxmlformats.org/drawingml/2006/main" noGrp="1"/>
          </p:cNvSpPr>
          <p:nvPr/>
        </p:nvSpPr>
        <p:spPr>
          <a:xfrm xmlns:a="http://schemas.openxmlformats.org/drawingml/2006/main">
            <a:off x="666750" y="5496306"/>
            <a:ext cx="10858500" cy="9044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marL="241300" indent="-127000">
              <a:spcAft>
                <a:spcPts val="600"/>
              </a:spcAft>
              <a:buChar char="•"/>
              <a:defRPr sz="1725" b="0">
                <a:solidFill>
                  <a:srgbClr val="354F62"/>
                </a:solidFill>
                <a:latin typeface="Noto Sans"/>
                <a:ea typeface="Noto Sans"/>
                <a:cs typeface="Noto Sans"/>
              </a:defRPr>
            </a:pPr>
            <a:r>
              <a:rPr sz="1725" b="0">
                <a:solidFill>
                  <a:srgbClr val="354F62"/>
                </a:solidFill>
                <a:latin typeface="Noto Sans"/>
                <a:ea typeface="Noto Sans"/>
                <a:cs typeface="Noto Sans"/>
              </a:rPr>
              <a:t>Shared-gate ablation is valid for its own target; it is not complete information exclusion.</a:t>
            </a:r>
          </a:p>
        </p:txBody>
      </p:sp>
      <p:sp>
        <p:nvSpPr>
          <p:cNvPr id="5" name="Source exclusion in regime-gated forecasts">
            <a:extLst xmlns:a="http://schemas.openxmlformats.org/drawingml/2006/main">
              <a:ext uri="{FF2B5EF4-FFF2-40B4-BE49-F238E27FC236}">
                <a16:creationId xmlns:a16="http://schemas.microsoft.com/office/drawing/2014/main" id="{2B38F238-89D4-41E8-B43E-6C9855F69DBE}"/>
              </a:ext>
            </a:extLst>
          </p:cNvPr>
          <p:cNvSpPr>
            <a:spLocks xmlns:a="http://schemas.openxmlformats.org/drawingml/2006/main" noGrp="1"/>
          </p:cNvSpPr>
          <p:nvPr/>
        </p:nvSpPr>
        <p:spPr>
          <a:xfrm xmlns:a="http://schemas.openxmlformats.org/drawingml/2006/main">
            <a:off x="666750" y="6438900"/>
            <a:ext cx="10239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607D8B"/>
                </a:solidFill>
                <a:latin typeface="Noto Sans"/>
                <a:ea typeface="Noto Sans"/>
                <a:cs typeface="Noto Sans"/>
              </a:defRPr>
            </a:pPr>
            <a:r>
              <a:rPr sz="1200" b="0">
                <a:solidFill>
                  <a:srgbClr val="607D8B"/>
                </a:solidFill>
                <a:latin typeface="Noto Sans"/>
                <a:ea typeface="Noto Sans"/>
                <a:cs typeface="Noto Sans"/>
              </a:rPr>
              <a:t>Source exclusion in regime-gated forecasts</a:t>
            </a:r>
          </a:p>
        </p:txBody>
      </p:sp>
      <p:sp>
        <p:nvSpPr>
          <p:cNvPr id="6" name="03 / 10">
            <a:extLst xmlns:a="http://schemas.openxmlformats.org/drawingml/2006/main">
              <a:ext uri="{FF2B5EF4-FFF2-40B4-BE49-F238E27FC236}">
                <a16:creationId xmlns:a16="http://schemas.microsoft.com/office/drawing/2014/main" id="{2E97BABA-3332-428B-AD8F-389CA3777771}"/>
              </a:ext>
            </a:extLst>
          </p:cNvPr>
          <p:cNvSpPr>
            <a:spLocks xmlns:a="http://schemas.openxmlformats.org/drawingml/2006/main" noGrp="1"/>
          </p:cNvSpPr>
          <p:nvPr/>
        </p:nvSpPr>
        <p:spPr>
          <a:xfrm xmlns:a="http://schemas.openxmlformats.org/drawingml/2006/main">
            <a:off x="109537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b="0">
                <a:solidFill>
                  <a:srgbClr val="607D8B"/>
                </a:solidFill>
                <a:latin typeface="Noto Sans"/>
                <a:ea typeface="Noto Sans"/>
                <a:cs typeface="Noto Sans"/>
              </a:defRPr>
            </a:pPr>
            <a:r>
              <a:rPr sz="1200" b="0">
                <a:solidFill>
                  <a:srgbClr val="607D8B"/>
                </a:solidFill>
                <a:latin typeface="Noto Sans"/>
                <a:ea typeface="Noto Sans"/>
                <a:cs typeface="Noto Sans"/>
              </a:rPr>
              <a:t>03 / 10</a:t>
            </a:r>
          </a:p>
        </p:txBody>
      </p:sp>
    </p:spTree>
    <p:extLst>
      <p:ext uri="{BB962C8B-B14F-4D97-AF65-F5344CB8AC3E}">
        <p14:creationId xmlns:p14="http://schemas.microsoft.com/office/powerpoint/2010/main" val="111190780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Negative fitted gain does not prove no inform">
            <a:extLst xmlns:a="http://schemas.openxmlformats.org/drawingml/2006/main">
              <a:ext uri="{FF2B5EF4-FFF2-40B4-BE49-F238E27FC236}">
                <a16:creationId xmlns:a16="http://schemas.microsoft.com/office/drawing/2014/main" id="{8CC99530-424C-4AAC-A8FA-E6AF3627455A}"/>
              </a:ext>
            </a:extLst>
          </p:cNvPr>
          <p:cNvSpPr>
            <a:spLocks xmlns:a="http://schemas.openxmlformats.org/drawingml/2006/main" noGrp="1"/>
          </p:cNvSpPr>
          <p:nvPr/>
        </p:nvSpPr>
        <p:spPr>
          <a:xfrm xmlns:a="http://schemas.openxmlformats.org/drawingml/2006/main">
            <a:off x="666750" y="4191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02A43"/>
                </a:solidFill>
                <a:latin typeface="Noto Sans"/>
                <a:ea typeface="Noto Sans"/>
                <a:cs typeface="Noto Sans"/>
              </a:defRPr>
            </a:pPr>
            <a:r>
              <a:rPr sz="3300" b="1">
                <a:solidFill>
                  <a:srgbClr val="102A43"/>
                </a:solidFill>
                <a:latin typeface="Noto Sans"/>
                <a:ea typeface="Noto Sans"/>
                <a:cs typeface="Noto Sans"/>
              </a:rPr>
              <a:t>Negative fitted gain does not prove no information</a:t>
            </a:r>
          </a:p>
        </p:txBody>
      </p:sp>
      <p:sp>
        <p:nvSpPr>
          <p:cNvPr id="2" name="The oracle value of additional information an">
            <a:extLst xmlns:a="http://schemas.openxmlformats.org/drawingml/2006/main">
              <a:ext uri="{FF2B5EF4-FFF2-40B4-BE49-F238E27FC236}">
                <a16:creationId xmlns:a16="http://schemas.microsoft.com/office/drawing/2014/main" id="{12A1AD76-901E-488F-B002-AD27C236A286}"/>
              </a:ext>
            </a:extLst>
          </p:cNvPr>
          <p:cNvSpPr>
            <a:spLocks xmlns:a="http://schemas.openxmlformats.org/drawingml/2006/main" noGrp="1"/>
          </p:cNvSpPr>
          <p:nvPr/>
        </p:nvSpPr>
        <p:spPr>
          <a:xfrm xmlns:a="http://schemas.openxmlformats.org/drawingml/2006/main">
            <a:off x="666750" y="16764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15A92"/>
                </a:solidFill>
                <a:latin typeface="Noto Sans"/>
                <a:ea typeface="Noto Sans"/>
                <a:cs typeface="Noto Sans"/>
              </a:defRPr>
            </a:pPr>
            <a:r>
              <a:rPr sz="2175" b="0">
                <a:solidFill>
                  <a:srgbClr val="215A92"/>
                </a:solidFill>
                <a:latin typeface="Noto Sans"/>
                <a:ea typeface="Noto Sans"/>
                <a:cs typeface="Noto Sans"/>
              </a:rPr>
              <a:t>The oracle value of additional information and the performance of fitted models are different objects.</a:t>
            </a:r>
          </a:p>
        </p:txBody>
      </p:sp>
      <p:sp>
        <p:nvSpPr>
          <p:cNvPr id="3" name="Fitted gain = oracle information gain + restr">
            <a:extLst xmlns:a="http://schemas.openxmlformats.org/drawingml/2006/main">
              <a:ext uri="{FF2B5EF4-FFF2-40B4-BE49-F238E27FC236}">
                <a16:creationId xmlns:a16="http://schemas.microsoft.com/office/drawing/2014/main" id="{F9D42B45-1D12-47D1-AC26-7C8939BD63D0}"/>
              </a:ext>
            </a:extLst>
          </p:cNvPr>
          <p:cNvSpPr>
            <a:spLocks xmlns:a="http://schemas.openxmlformats.org/drawingml/2006/main" noGrp="1"/>
          </p:cNvSpPr>
          <p:nvPr/>
        </p:nvSpPr>
        <p:spPr>
          <a:xfrm xmlns:a="http://schemas.openxmlformats.org/drawingml/2006/main">
            <a:off x="666750" y="2609850"/>
            <a:ext cx="10858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625" b="1">
                <a:solidFill>
                  <a:srgbClr val="215A92"/>
                </a:solidFill>
                <a:latin typeface="Noto Sans"/>
                <a:ea typeface="Noto Sans"/>
                <a:cs typeface="Noto Sans"/>
              </a:defRPr>
            </a:pPr>
            <a:r>
              <a:rPr sz="2625" b="1">
                <a:solidFill>
                  <a:srgbClr val="215A92"/>
                </a:solidFill>
                <a:latin typeface="Noto Sans"/>
                <a:ea typeface="Noto Sans"/>
                <a:cs typeface="Noto Sans"/>
              </a:rPr>
              <a:t>Fitted gain = oracle information gain + restricted-model error − unrestricted-model error</a:t>
            </a:r>
          </a:p>
        </p:txBody>
      </p:sp>
      <p:sp>
        <p:nvSpPr>
          <p:cNvPr id="4" name="">
            <a:extLst xmlns:a="http://schemas.openxmlformats.org/drawingml/2006/main">
              <a:ext uri="{FF2B5EF4-FFF2-40B4-BE49-F238E27FC236}">
                <a16:creationId xmlns:a16="http://schemas.microsoft.com/office/drawing/2014/main" id="{FFCF8F67-538F-4AA2-A9B8-27FA8EE33FDE}"/>
              </a:ext>
            </a:extLst>
          </p:cNvPr>
          <p:cNvSpPr>
            <a:spLocks xmlns:a="http://schemas.openxmlformats.org/drawingml/2006/main" noGrp="1"/>
          </p:cNvSpPr>
          <p:nvPr/>
        </p:nvSpPr>
        <p:spPr>
          <a:xfrm xmlns:a="http://schemas.openxmlformats.org/drawingml/2006/main">
            <a:off x="666750" y="3680460"/>
            <a:ext cx="10858500" cy="25488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marL="241300" indent="-127000">
              <a:spcAft>
                <a:spcPts val="1100"/>
              </a:spcAft>
              <a:buChar char="•"/>
              <a:defRPr sz="2025" b="0">
                <a:solidFill>
                  <a:srgbClr val="354F62"/>
                </a:solidFill>
                <a:latin typeface="Noto Sans"/>
                <a:ea typeface="Noto Sans"/>
                <a:cs typeface="Noto Sans"/>
              </a:defRPr>
            </a:pPr>
            <a:r>
              <a:rPr sz="2025" b="0">
                <a:solidFill>
                  <a:srgbClr val="354F62"/>
                </a:solidFill>
                <a:latin typeface="Noto Sans"/>
                <a:ea typeface="Noto Sans"/>
                <a:cs typeface="Noto Sans"/>
              </a:rPr>
              <a:t>ℛ: expected squared loss; R and U denote source-excluded and source-included forecasts.</a:t>
            </a:r>
          </a:p>
          <a:p xmlns:a="http://schemas.openxmlformats.org/drawingml/2006/main">
            <a:pPr marL="241300" indent="-127000">
              <a:spcAft>
                <a:spcPts val="1100"/>
              </a:spcAft>
              <a:buChar char="•"/>
              <a:defRPr sz="2025" b="0">
                <a:solidFill>
                  <a:srgbClr val="354F62"/>
                </a:solidFill>
                <a:latin typeface="Noto Sans"/>
                <a:ea typeface="Noto Sans"/>
                <a:cs typeface="Noto Sans"/>
              </a:defRPr>
            </a:pPr>
            <a:r>
              <a:rPr sz="2025" b="0">
                <a:solidFill>
                  <a:srgbClr val="354F62"/>
                </a:solidFill>
                <a:latin typeface="Noto Sans"/>
                <a:ea typeface="Noto Sans"/>
                <a:cs typeface="Noto Sans"/>
              </a:rPr>
              <a:t>E_R and E_U: excess risk relative to each oracle, including approximation and estimation error.</a:t>
            </a:r>
          </a:p>
          <a:p xmlns:a="http://schemas.openxmlformats.org/drawingml/2006/main">
            <a:pPr marL="241300" indent="-127000">
              <a:spcAft>
                <a:spcPts val="1100"/>
              </a:spcAft>
              <a:buChar char="•"/>
              <a:defRPr sz="2025" b="0">
                <a:solidFill>
                  <a:srgbClr val="354F62"/>
                </a:solidFill>
                <a:latin typeface="Noto Sans"/>
                <a:ea typeface="Noto Sans"/>
                <a:cs typeface="Noto Sans"/>
              </a:defRPr>
            </a:pPr>
            <a:r>
              <a:rPr sz="2025" b="0">
                <a:solidFill>
                  <a:srgbClr val="354F62"/>
                </a:solidFill>
                <a:latin typeface="Noto Sans"/>
                <a:ea typeface="Noto Sans"/>
                <a:cs typeface="Noto Sans"/>
              </a:rPr>
              <a:t>Oracle information gain is nonnegative for nested information sets.</a:t>
            </a:r>
          </a:p>
          <a:p xmlns:a="http://schemas.openxmlformats.org/drawingml/2006/main">
            <a:pPr marL="241300" indent="-127000">
              <a:spcAft>
                <a:spcPts val="1100"/>
              </a:spcAft>
              <a:buChar char="•"/>
              <a:defRPr sz="2025" b="0">
                <a:solidFill>
                  <a:srgbClr val="354F62"/>
                </a:solidFill>
                <a:latin typeface="Noto Sans"/>
                <a:ea typeface="Noto Sans"/>
                <a:cs typeface="Noto Sans"/>
              </a:defRPr>
            </a:pPr>
            <a:r>
              <a:rPr sz="2025" b="0">
                <a:solidFill>
                  <a:srgbClr val="354F62"/>
                </a:solidFill>
                <a:latin typeface="Noto Sans"/>
                <a:ea typeface="Noto Sans"/>
                <a:cs typeface="Noto Sans"/>
              </a:rPr>
              <a:t>Extra fitted-model error can outweigh information; a positive sample gain alone also does not establish population usefulness.</a:t>
            </a:r>
          </a:p>
        </p:txBody>
      </p:sp>
      <p:sp>
        <p:nvSpPr>
          <p:cNvPr id="5" name="Source exclusion in regime-gated forecasts">
            <a:extLst xmlns:a="http://schemas.openxmlformats.org/drawingml/2006/main">
              <a:ext uri="{FF2B5EF4-FFF2-40B4-BE49-F238E27FC236}">
                <a16:creationId xmlns:a16="http://schemas.microsoft.com/office/drawing/2014/main" id="{7D7F0D51-D4B4-4AD5-92C4-37ABC3B32D64}"/>
              </a:ext>
            </a:extLst>
          </p:cNvPr>
          <p:cNvSpPr>
            <a:spLocks xmlns:a="http://schemas.openxmlformats.org/drawingml/2006/main" noGrp="1"/>
          </p:cNvSpPr>
          <p:nvPr/>
        </p:nvSpPr>
        <p:spPr>
          <a:xfrm xmlns:a="http://schemas.openxmlformats.org/drawingml/2006/main">
            <a:off x="666750" y="6438900"/>
            <a:ext cx="10239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607D8B"/>
                </a:solidFill>
                <a:latin typeface="Noto Sans"/>
                <a:ea typeface="Noto Sans"/>
                <a:cs typeface="Noto Sans"/>
              </a:defRPr>
            </a:pPr>
            <a:r>
              <a:rPr sz="1200" b="0">
                <a:solidFill>
                  <a:srgbClr val="607D8B"/>
                </a:solidFill>
                <a:latin typeface="Noto Sans"/>
                <a:ea typeface="Noto Sans"/>
                <a:cs typeface="Noto Sans"/>
              </a:rPr>
              <a:t>Source exclusion in regime-gated forecasts</a:t>
            </a:r>
          </a:p>
        </p:txBody>
      </p:sp>
      <p:sp>
        <p:nvSpPr>
          <p:cNvPr id="6" name="04 / 10">
            <a:extLst xmlns:a="http://schemas.openxmlformats.org/drawingml/2006/main">
              <a:ext uri="{FF2B5EF4-FFF2-40B4-BE49-F238E27FC236}">
                <a16:creationId xmlns:a16="http://schemas.microsoft.com/office/drawing/2014/main" id="{F3EA843A-85C0-430B-972B-78946274C6EF}"/>
              </a:ext>
            </a:extLst>
          </p:cNvPr>
          <p:cNvSpPr>
            <a:spLocks xmlns:a="http://schemas.openxmlformats.org/drawingml/2006/main" noGrp="1"/>
          </p:cNvSpPr>
          <p:nvPr/>
        </p:nvSpPr>
        <p:spPr>
          <a:xfrm xmlns:a="http://schemas.openxmlformats.org/drawingml/2006/main">
            <a:off x="109537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b="0">
                <a:solidFill>
                  <a:srgbClr val="607D8B"/>
                </a:solidFill>
                <a:latin typeface="Noto Sans"/>
                <a:ea typeface="Noto Sans"/>
                <a:cs typeface="Noto Sans"/>
              </a:defRPr>
            </a:pPr>
            <a:r>
              <a:rPr sz="1200" b="0">
                <a:solidFill>
                  <a:srgbClr val="607D8B"/>
                </a:solidFill>
                <a:latin typeface="Noto Sans"/>
                <a:ea typeface="Noto Sans"/>
                <a:cs typeface="Noto Sans"/>
              </a:rPr>
              <a:t>04 / 10</a:t>
            </a:r>
          </a:p>
        </p:txBody>
      </p:sp>
    </p:spTree>
    <p:extLst>
      <p:ext uri="{BB962C8B-B14F-4D97-AF65-F5344CB8AC3E}">
        <p14:creationId xmlns:p14="http://schemas.microsoft.com/office/powerpoint/2010/main" val="211500860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Evaluate the complete cross-market task famil">
            <a:extLst xmlns:a="http://schemas.openxmlformats.org/drawingml/2006/main">
              <a:ext uri="{FF2B5EF4-FFF2-40B4-BE49-F238E27FC236}">
                <a16:creationId xmlns:a16="http://schemas.microsoft.com/office/drawing/2014/main" id="{FC49EEE9-C543-4FDA-B6E7-FC591F18C778}"/>
              </a:ext>
            </a:extLst>
          </p:cNvPr>
          <p:cNvSpPr>
            <a:spLocks xmlns:a="http://schemas.openxmlformats.org/drawingml/2006/main" noGrp="1"/>
          </p:cNvSpPr>
          <p:nvPr/>
        </p:nvSpPr>
        <p:spPr>
          <a:xfrm xmlns:a="http://schemas.openxmlformats.org/drawingml/2006/main">
            <a:off x="666750" y="4191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02A43"/>
                </a:solidFill>
                <a:latin typeface="Noto Sans"/>
                <a:ea typeface="Noto Sans"/>
                <a:cs typeface="Noto Sans"/>
              </a:defRPr>
            </a:pPr>
            <a:r>
              <a:rPr sz="3300" b="1">
                <a:solidFill>
                  <a:srgbClr val="102A43"/>
                </a:solidFill>
                <a:latin typeface="Noto Sans"/>
                <a:ea typeface="Noto Sans"/>
                <a:cs typeface="Noto Sans"/>
              </a:rPr>
              <a:t>Evaluate the complete cross-market task family</a:t>
            </a:r>
          </a:p>
        </p:txBody>
      </p:sp>
      <p:sp>
        <p:nvSpPr>
          <p:cNvPr id="2" name="Six factors, all 30 ordered directions, four ">
            <a:extLst xmlns:a="http://schemas.openxmlformats.org/drawingml/2006/main">
              <a:ext uri="{FF2B5EF4-FFF2-40B4-BE49-F238E27FC236}">
                <a16:creationId xmlns:a16="http://schemas.microsoft.com/office/drawing/2014/main" id="{8EE74823-6F9F-469F-8919-B7AD0112EAE9}"/>
              </a:ext>
            </a:extLst>
          </p:cNvPr>
          <p:cNvSpPr>
            <a:spLocks xmlns:a="http://schemas.openxmlformats.org/drawingml/2006/main" noGrp="1"/>
          </p:cNvSpPr>
          <p:nvPr/>
        </p:nvSpPr>
        <p:spPr>
          <a:xfrm xmlns:a="http://schemas.openxmlformats.org/drawingml/2006/main">
            <a:off x="666750" y="16764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15A92"/>
                </a:solidFill>
                <a:latin typeface="Noto Sans"/>
                <a:ea typeface="Noto Sans"/>
                <a:cs typeface="Noto Sans"/>
              </a:defRPr>
            </a:pPr>
            <a:r>
              <a:rPr sz="2175" b="0">
                <a:solidFill>
                  <a:srgbClr val="215A92"/>
                </a:solidFill>
                <a:latin typeface="Noto Sans"/>
                <a:ea typeface="Noto Sans"/>
                <a:cs typeface="Noto Sans"/>
              </a:rPr>
              <a:t>Six factors, all 30 ordered directions, four regional panels.</a:t>
            </a:r>
          </a:p>
        </p:txBody>
      </p:sp>
      <p:sp>
        <p:nvSpPr>
          <p:cNvPr id="3" name="Markets and outcomes">
            <a:extLst xmlns:a="http://schemas.openxmlformats.org/drawingml/2006/main">
              <a:ext uri="{FF2B5EF4-FFF2-40B4-BE49-F238E27FC236}">
                <a16:creationId xmlns:a16="http://schemas.microsoft.com/office/drawing/2014/main" id="{B005AF4C-21DD-4150-BCB3-3927117EB4B5}"/>
              </a:ext>
            </a:extLst>
          </p:cNvPr>
          <p:cNvSpPr>
            <a:spLocks xmlns:a="http://schemas.openxmlformats.org/drawingml/2006/main" noGrp="1"/>
          </p:cNvSpPr>
          <p:nvPr/>
        </p:nvSpPr>
        <p:spPr>
          <a:xfrm xmlns:a="http://schemas.openxmlformats.org/drawingml/2006/main">
            <a:off x="666750" y="2514600"/>
            <a:ext cx="3289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215A92"/>
                </a:solidFill>
                <a:latin typeface="Noto Sans"/>
                <a:ea typeface="Noto Sans"/>
                <a:cs typeface="Noto Sans"/>
              </a:defRPr>
            </a:pPr>
            <a:r>
              <a:rPr sz="2100" b="1">
                <a:solidFill>
                  <a:srgbClr val="215A92"/>
                </a:solidFill>
                <a:latin typeface="Noto Sans"/>
                <a:ea typeface="Noto Sans"/>
                <a:cs typeface="Noto Sans"/>
              </a:rPr>
              <a:t>Markets and outcomes</a:t>
            </a:r>
          </a:p>
        </p:txBody>
      </p:sp>
      <p:sp>
        <p:nvSpPr>
          <p:cNvPr id="4" name="US, Europe, Japan, and Asia Pacific excluding">
            <a:extLst xmlns:a="http://schemas.openxmlformats.org/drawingml/2006/main">
              <a:ext uri="{FF2B5EF4-FFF2-40B4-BE49-F238E27FC236}">
                <a16:creationId xmlns:a16="http://schemas.microsoft.com/office/drawing/2014/main" id="{E811C5EF-1D2A-42F1-8438-CAB5EB918244}"/>
              </a:ext>
            </a:extLst>
          </p:cNvPr>
          <p:cNvSpPr>
            <a:spLocks xmlns:a="http://schemas.openxmlformats.org/drawingml/2006/main" noGrp="1"/>
          </p:cNvSpPr>
          <p:nvPr/>
        </p:nvSpPr>
        <p:spPr>
          <a:xfrm xmlns:a="http://schemas.openxmlformats.org/drawingml/2006/main">
            <a:off x="666750" y="3276600"/>
            <a:ext cx="3289300" cy="1886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354F62"/>
                </a:solidFill>
                <a:latin typeface="Noto Sans"/>
                <a:ea typeface="Noto Sans"/>
                <a:cs typeface="Noto Sans"/>
              </a:defRPr>
            </a:pPr>
            <a:r>
              <a:rPr sz="1800" b="0">
                <a:solidFill>
                  <a:srgbClr val="354F62"/>
                </a:solidFill>
                <a:latin typeface="Noto Sans"/>
                <a:ea typeface="Noto Sans"/>
                <a:cs typeface="Noto Sans"/>
              </a:rPr>
              <a:t>US, Europe, Japan, and Asia Pacific excluding Japan. One-day mean-return forecasts; two lagged observations in the frozen expansion.</a:t>
            </a:r>
          </a:p>
        </p:txBody>
      </p:sp>
      <p:sp>
        <p:nvSpPr>
          <p:cNvPr id="5" name="Chronology">
            <a:extLst xmlns:a="http://schemas.openxmlformats.org/drawingml/2006/main">
              <a:ext uri="{FF2B5EF4-FFF2-40B4-BE49-F238E27FC236}">
                <a16:creationId xmlns:a16="http://schemas.microsoft.com/office/drawing/2014/main" id="{C44CBE4E-E65B-44D1-BBDE-E227E3862F6B}"/>
              </a:ext>
            </a:extLst>
          </p:cNvPr>
          <p:cNvSpPr>
            <a:spLocks xmlns:a="http://schemas.openxmlformats.org/drawingml/2006/main" noGrp="1"/>
          </p:cNvSpPr>
          <p:nvPr/>
        </p:nvSpPr>
        <p:spPr>
          <a:xfrm xmlns:a="http://schemas.openxmlformats.org/drawingml/2006/main">
            <a:off x="4451350" y="2514600"/>
            <a:ext cx="3289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215A92"/>
                </a:solidFill>
                <a:latin typeface="Noto Sans"/>
                <a:ea typeface="Noto Sans"/>
                <a:cs typeface="Noto Sans"/>
              </a:defRPr>
            </a:pPr>
            <a:r>
              <a:rPr sz="2100" b="1">
                <a:solidFill>
                  <a:srgbClr val="215A92"/>
                </a:solidFill>
                <a:latin typeface="Noto Sans"/>
                <a:ea typeface="Noto Sans"/>
                <a:cs typeface="Noto Sans"/>
              </a:rPr>
              <a:t>Chronology</a:t>
            </a:r>
          </a:p>
        </p:txBody>
      </p:sp>
      <p:sp>
        <p:nvSpPr>
          <p:cNvPr id="6" name="Train before 2005; validate 2005–2009; annual">
            <a:extLst xmlns:a="http://schemas.openxmlformats.org/drawingml/2006/main">
              <a:ext uri="{FF2B5EF4-FFF2-40B4-BE49-F238E27FC236}">
                <a16:creationId xmlns:a16="http://schemas.microsoft.com/office/drawing/2014/main" id="{BC529464-753A-4ED0-8C12-3BEEBA4899F8}"/>
              </a:ext>
            </a:extLst>
          </p:cNvPr>
          <p:cNvSpPr>
            <a:spLocks xmlns:a="http://schemas.openxmlformats.org/drawingml/2006/main" noGrp="1"/>
          </p:cNvSpPr>
          <p:nvPr/>
        </p:nvSpPr>
        <p:spPr>
          <a:xfrm xmlns:a="http://schemas.openxmlformats.org/drawingml/2006/main">
            <a:off x="4451350" y="3276600"/>
            <a:ext cx="3289300" cy="1584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354F62"/>
                </a:solidFill>
                <a:latin typeface="Noto Sans"/>
                <a:ea typeface="Noto Sans"/>
                <a:cs typeface="Noto Sans"/>
              </a:defRPr>
            </a:pPr>
            <a:r>
              <a:rPr sz="1800" b="0">
                <a:solidFill>
                  <a:srgbClr val="354F62"/>
                </a:solidFill>
                <a:latin typeface="Noto Sans"/>
                <a:ea typeface="Noto Sans"/>
                <a:cs typeface="Noto Sans"/>
              </a:rPr>
              <a:t>Train before 2005; validate 2005–2009; annually refit during evaluation. Report 2010–2024 and January 2025–August 2026 separately.</a:t>
            </a:r>
          </a:p>
        </p:txBody>
      </p:sp>
      <p:sp>
        <p:nvSpPr>
          <p:cNvPr id="7" name="Inference family">
            <a:extLst xmlns:a="http://schemas.openxmlformats.org/drawingml/2006/main">
              <a:ext uri="{FF2B5EF4-FFF2-40B4-BE49-F238E27FC236}">
                <a16:creationId xmlns:a16="http://schemas.microsoft.com/office/drawing/2014/main" id="{4606B09B-2881-454C-B6C7-7F8AE637E95D}"/>
              </a:ext>
            </a:extLst>
          </p:cNvPr>
          <p:cNvSpPr>
            <a:spLocks xmlns:a="http://schemas.openxmlformats.org/drawingml/2006/main" noGrp="1"/>
          </p:cNvSpPr>
          <p:nvPr/>
        </p:nvSpPr>
        <p:spPr>
          <a:xfrm xmlns:a="http://schemas.openxmlformats.org/drawingml/2006/main">
            <a:off x="8235950" y="2514600"/>
            <a:ext cx="3289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215A92"/>
                </a:solidFill>
                <a:latin typeface="Noto Sans"/>
                <a:ea typeface="Noto Sans"/>
                <a:cs typeface="Noto Sans"/>
              </a:defRPr>
            </a:pPr>
            <a:r>
              <a:rPr sz="2100" b="1">
                <a:solidFill>
                  <a:srgbClr val="215A92"/>
                </a:solidFill>
                <a:latin typeface="Noto Sans"/>
                <a:ea typeface="Noto Sans"/>
                <a:cs typeface="Noto Sans"/>
              </a:rPr>
              <a:t>Inference family</a:t>
            </a:r>
          </a:p>
        </p:txBody>
      </p:sp>
      <p:sp>
        <p:nvSpPr>
          <p:cNvPr id="8" name="4 regions × 30 directions × 5 procedure compa">
            <a:extLst xmlns:a="http://schemas.openxmlformats.org/drawingml/2006/main">
              <a:ext uri="{FF2B5EF4-FFF2-40B4-BE49-F238E27FC236}">
                <a16:creationId xmlns:a16="http://schemas.microsoft.com/office/drawing/2014/main" id="{83EAA931-C3B3-4388-9663-162BFC048EA9}"/>
              </a:ext>
            </a:extLst>
          </p:cNvPr>
          <p:cNvSpPr>
            <a:spLocks xmlns:a="http://schemas.openxmlformats.org/drawingml/2006/main" noGrp="1"/>
          </p:cNvSpPr>
          <p:nvPr/>
        </p:nvSpPr>
        <p:spPr>
          <a:xfrm xmlns:a="http://schemas.openxmlformats.org/drawingml/2006/main">
            <a:off x="8235950" y="3276600"/>
            <a:ext cx="3289300" cy="12832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354F62"/>
                </a:solidFill>
                <a:latin typeface="Noto Sans"/>
                <a:ea typeface="Noto Sans"/>
                <a:cs typeface="Noto Sans"/>
              </a:defRPr>
            </a:pPr>
            <a:r>
              <a:rPr sz="1800" b="0">
                <a:solidFill>
                  <a:srgbClr val="354F62"/>
                </a:solidFill>
                <a:latin typeface="Noto Sans"/>
                <a:ea typeface="Noto Sans"/>
                <a:cs typeface="Noto Sans"/>
              </a:rPr>
              <a:t>4 regions × 30 directions × 5 procedure comparisons × 4 weight choices = 2,400 temporal endpoints.</a:t>
            </a:r>
          </a:p>
        </p:txBody>
      </p:sp>
      <p:sp>
        <p:nvSpPr>
          <p:cNvPr id="9" name="">
            <a:extLst xmlns:a="http://schemas.openxmlformats.org/drawingml/2006/main">
              <a:ext uri="{FF2B5EF4-FFF2-40B4-BE49-F238E27FC236}">
                <a16:creationId xmlns:a16="http://schemas.microsoft.com/office/drawing/2014/main" id="{0B217AC4-357F-45F8-8E0B-964CA47DB6F0}"/>
              </a:ext>
            </a:extLst>
          </p:cNvPr>
          <p:cNvSpPr>
            <a:spLocks xmlns:a="http://schemas.openxmlformats.org/drawingml/2006/main" noGrp="1"/>
          </p:cNvSpPr>
          <p:nvPr/>
        </p:nvSpPr>
        <p:spPr>
          <a:xfrm xmlns:a="http://schemas.openxmlformats.org/drawingml/2006/main">
            <a:off x="666750" y="5277612"/>
            <a:ext cx="10858500" cy="9612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marL="241300" indent="-127000">
              <a:spcAft>
                <a:spcPts val="600"/>
              </a:spcAft>
              <a:buChar char="•"/>
              <a:defRPr sz="1725" b="0">
                <a:solidFill>
                  <a:srgbClr val="354F62"/>
                </a:solidFill>
                <a:latin typeface="Noto Sans"/>
                <a:ea typeface="Noto Sans"/>
                <a:cs typeface="Noto Sans"/>
              </a:defRPr>
            </a:pPr>
            <a:r>
              <a:rPr sz="1725" b="0">
                <a:solidFill>
                  <a:srgbClr val="354F62"/>
                </a:solidFill>
                <a:latin typeface="Noto Sans"/>
                <a:ea typeface="Noto Sans"/>
                <a:cs typeface="Noto Sans"/>
              </a:rPr>
              <a:t>The later era was outside earlier repository forecast evaluation; globally untouched exposure is unverified.</a:t>
            </a:r>
          </a:p>
          <a:p xmlns:a="http://schemas.openxmlformats.org/drawingml/2006/main">
            <a:pPr marL="241300" indent="-127000">
              <a:spcAft>
                <a:spcPts val="600"/>
              </a:spcAft>
              <a:buChar char="•"/>
              <a:defRPr sz="1725" b="0">
                <a:solidFill>
                  <a:srgbClr val="354F62"/>
                </a:solidFill>
                <a:latin typeface="Noto Sans"/>
                <a:ea typeface="Noto Sans"/>
                <a:cs typeface="Noto Sans"/>
              </a:defRPr>
            </a:pPr>
            <a:r>
              <a:rPr sz="1725" b="0">
                <a:solidFill>
                  <a:srgbClr val="354F62"/>
                </a:solidFill>
                <a:latin typeface="Noto Sans"/>
                <a:ea typeface="Noto Sans"/>
                <a:cs typeface="Noto Sans"/>
              </a:rPr>
              <a:t>Panels share shocks and a provider; they are not independent replications.</a:t>
            </a:r>
          </a:p>
        </p:txBody>
      </p:sp>
      <p:sp>
        <p:nvSpPr>
          <p:cNvPr id="10" name="Source exclusion in regime-gated forecasts">
            <a:extLst xmlns:a="http://schemas.openxmlformats.org/drawingml/2006/main">
              <a:ext uri="{FF2B5EF4-FFF2-40B4-BE49-F238E27FC236}">
                <a16:creationId xmlns:a16="http://schemas.microsoft.com/office/drawing/2014/main" id="{322DB311-9182-4BBB-902D-64721D7F4D50}"/>
              </a:ext>
            </a:extLst>
          </p:cNvPr>
          <p:cNvSpPr>
            <a:spLocks xmlns:a="http://schemas.openxmlformats.org/drawingml/2006/main" noGrp="1"/>
          </p:cNvSpPr>
          <p:nvPr/>
        </p:nvSpPr>
        <p:spPr>
          <a:xfrm xmlns:a="http://schemas.openxmlformats.org/drawingml/2006/main">
            <a:off x="666750" y="6438900"/>
            <a:ext cx="10239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607D8B"/>
                </a:solidFill>
                <a:latin typeface="Noto Sans"/>
                <a:ea typeface="Noto Sans"/>
                <a:cs typeface="Noto Sans"/>
              </a:defRPr>
            </a:pPr>
            <a:r>
              <a:rPr sz="1200" b="0">
                <a:solidFill>
                  <a:srgbClr val="607D8B"/>
                </a:solidFill>
                <a:latin typeface="Noto Sans"/>
                <a:ea typeface="Noto Sans"/>
                <a:cs typeface="Noto Sans"/>
              </a:rPr>
              <a:t>Source exclusion in regime-gated forecasts</a:t>
            </a:r>
          </a:p>
        </p:txBody>
      </p:sp>
      <p:sp>
        <p:nvSpPr>
          <p:cNvPr id="11" name="05 / 10">
            <a:extLst xmlns:a="http://schemas.openxmlformats.org/drawingml/2006/main">
              <a:ext uri="{FF2B5EF4-FFF2-40B4-BE49-F238E27FC236}">
                <a16:creationId xmlns:a16="http://schemas.microsoft.com/office/drawing/2014/main" id="{279A90AC-86E1-48A1-9A74-66364E3E4AF8}"/>
              </a:ext>
            </a:extLst>
          </p:cNvPr>
          <p:cNvSpPr>
            <a:spLocks xmlns:a="http://schemas.openxmlformats.org/drawingml/2006/main" noGrp="1"/>
          </p:cNvSpPr>
          <p:nvPr/>
        </p:nvSpPr>
        <p:spPr>
          <a:xfrm xmlns:a="http://schemas.openxmlformats.org/drawingml/2006/main">
            <a:off x="109537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b="0">
                <a:solidFill>
                  <a:srgbClr val="607D8B"/>
                </a:solidFill>
                <a:latin typeface="Noto Sans"/>
                <a:ea typeface="Noto Sans"/>
                <a:cs typeface="Noto Sans"/>
              </a:defRPr>
            </a:pPr>
            <a:r>
              <a:rPr sz="1200" b="0">
                <a:solidFill>
                  <a:srgbClr val="607D8B"/>
                </a:solidFill>
                <a:latin typeface="Noto Sans"/>
                <a:ea typeface="Noto Sans"/>
                <a:cs typeface="Noto Sans"/>
              </a:rPr>
              <a:t>05 / 10</a:t>
            </a:r>
          </a:p>
        </p:txBody>
      </p:sp>
    </p:spTree>
    <p:extLst>
      <p:ext uri="{BB962C8B-B14F-4D97-AF65-F5344CB8AC3E}">
        <p14:creationId xmlns:p14="http://schemas.microsoft.com/office/powerpoint/2010/main" val="183497744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Removal choice changes some point-estimate si">
            <a:extLst xmlns:a="http://schemas.openxmlformats.org/drawingml/2006/main">
              <a:ext uri="{FF2B5EF4-FFF2-40B4-BE49-F238E27FC236}">
                <a16:creationId xmlns:a16="http://schemas.microsoft.com/office/drawing/2014/main" id="{E96AC1A2-62A4-4A86-8B23-5C9BDCAB45C2}"/>
              </a:ext>
            </a:extLst>
          </p:cNvPr>
          <p:cNvSpPr>
            <a:spLocks xmlns:a="http://schemas.openxmlformats.org/drawingml/2006/main" noGrp="1"/>
          </p:cNvSpPr>
          <p:nvPr/>
        </p:nvSpPr>
        <p:spPr>
          <a:xfrm xmlns:a="http://schemas.openxmlformats.org/drawingml/2006/main">
            <a:off x="666750" y="4191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02A43"/>
                </a:solidFill>
                <a:latin typeface="Noto Sans"/>
                <a:ea typeface="Noto Sans"/>
                <a:cs typeface="Noto Sans"/>
              </a:defRPr>
            </a:pPr>
            <a:r>
              <a:rPr sz="3300" b="1">
                <a:solidFill>
                  <a:srgbClr val="102A43"/>
                </a:solidFill>
                <a:latin typeface="Noto Sans"/>
                <a:ea typeface="Noto Sans"/>
                <a:cs typeface="Noto Sans"/>
              </a:rPr>
              <a:t>Removal choice changes some point-estimate signs</a:t>
            </a:r>
          </a:p>
        </p:txBody>
      </p:sp>
      <p:sp>
        <p:nvSpPr>
          <p:cNvPr id="2" name="Temporal capped score = min(squared forecast ">
            <a:extLst xmlns:a="http://schemas.openxmlformats.org/drawingml/2006/main">
              <a:ext uri="{FF2B5EF4-FFF2-40B4-BE49-F238E27FC236}">
                <a16:creationId xmlns:a16="http://schemas.microsoft.com/office/drawing/2014/main" id="{8A3CB240-2671-4CC4-8E2A-2BAB61B0E502}"/>
              </a:ext>
            </a:extLst>
          </p:cNvPr>
          <p:cNvSpPr>
            <a:spLocks xmlns:a="http://schemas.openxmlformats.org/drawingml/2006/main" noGrp="1"/>
          </p:cNvSpPr>
          <p:nvPr/>
        </p:nvSpPr>
        <p:spPr>
          <a:xfrm xmlns:a="http://schemas.openxmlformats.org/drawingml/2006/main">
            <a:off x="666750" y="16764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15A92"/>
                </a:solidFill>
                <a:latin typeface="Noto Sans"/>
                <a:ea typeface="Noto Sans"/>
                <a:cs typeface="Noto Sans"/>
              </a:defRPr>
            </a:pPr>
            <a:r>
              <a:rPr sz="2175" b="0">
                <a:solidFill>
                  <a:srgbClr val="215A92"/>
                </a:solidFill>
                <a:latin typeface="Noto Sans"/>
                <a:ea typeface="Noto Sans"/>
                <a:cs typeface="Noto Sans"/>
              </a:rPr>
              <a:t>Temporal capped score = min(squared forecast error / c, 1); c is fixed from training.</a:t>
            </a:r>
          </a:p>
        </p:txBody>
      </p:sp>
      <p:graphicFrame>
        <p:nvGraphicFramePr>
          <p:cNvPr id="9" name=""/>
          <p:cNvGraphicFramePr/>
          <p:nvPr/>
        </p:nvGraphicFramePr>
        <p:xfrm>
          <a:off xmlns:a="http://schemas.openxmlformats.org/drawingml/2006/main" x="666750" y="2514600"/>
          <a:ext xmlns:a="http://schemas.openxmlformats.org/drawingml/2006/main" cx="10858500" cy="2540508"/>
        </p:xfrm>
        <a:graphic xmlns:a="http://schemas.openxmlformats.org/drawingml/2006/main">
          <a:graphicData uri="http://schemas.openxmlformats.org/drawingml/2006/table">
            <a:tbl>
              <a:tblPr firstRow="1" bandRow="0"/>
              <a:tblGrid>
                <a:gridCol w="4476750"/>
                <a:gridCol w="2095500"/>
                <a:gridCol w="4286250"/>
              </a:tblGrid>
              <a:tr h="483108">
                <a:tc>
                  <a:txBody>
                    <a:bodyPr/>
                    <a:lstStyle/>
                    <a:p>
                      <a:r>
                        <a:rPr sz="1800" b="1">
                          <a:solidFill>
                            <a:srgbClr val="FFFFFF"/>
                          </a:solidFill>
                          <a:latin typeface="Noto Sans"/>
                          <a:ea typeface="Noto Sans"/>
                          <a:cs typeface="Noto Sans"/>
                        </a:rPr>
                        <a:t>Quantity</a:t>
                      </a:r>
                    </a:p>
                  </a:txBody>
                  <a:tcPr marL="133350" marR="133350" marT="85725" marB="85725" anchor="ctr">
                    <a:solidFill>
                      <a:srgbClr val="102A43"/>
                    </a:solidFill>
                  </a:tcPr>
                </a:tc>
                <a:tc>
                  <a:txBody>
                    <a:bodyPr/>
                    <a:lstStyle/>
                    <a:p>
                      <a:r>
                        <a:rPr sz="1800" b="1">
                          <a:solidFill>
                            <a:srgbClr val="FFFFFF"/>
                          </a:solidFill>
                          <a:latin typeface="Noto Sans"/>
                          <a:ea typeface="Noto Sans"/>
                          <a:cs typeface="Noto Sans"/>
                        </a:rPr>
                        <a:t>Observed result</a:t>
                      </a:r>
                    </a:p>
                  </a:txBody>
                  <a:tcPr marL="133350" marR="133350" marT="85725" marB="85725" anchor="ctr">
                    <a:solidFill>
                      <a:srgbClr val="102A43"/>
                    </a:solidFill>
                  </a:tcPr>
                </a:tc>
                <a:tc>
                  <a:txBody>
                    <a:bodyPr/>
                    <a:lstStyle/>
                    <a:p>
                      <a:r>
                        <a:rPr sz="1800" b="1">
                          <a:solidFill>
                            <a:srgbClr val="FFFFFF"/>
                          </a:solidFill>
                          <a:latin typeface="Noto Sans"/>
                          <a:ea typeface="Noto Sans"/>
                          <a:cs typeface="Noto Sans"/>
                        </a:rPr>
                        <a:t>Interpretation</a:t>
                      </a:r>
                    </a:p>
                  </a:txBody>
                  <a:tcPr marL="133350" marR="133350" marT="85725" marB="85725" anchor="ctr">
                    <a:solidFill>
                      <a:srgbClr val="102A43"/>
                    </a:solidFill>
                  </a:tcPr>
                </a:tc>
              </a:tr>
              <a:tr h="514350">
                <a:tc>
                  <a:txBody>
                    <a:bodyPr/>
                    <a:lstStyle/>
                    <a:p>
                      <a:r>
                        <a:rPr sz="1800" b="0">
                          <a:solidFill>
                            <a:srgbClr val="354F62"/>
                          </a:solidFill>
                          <a:latin typeface="Noto Sans"/>
                          <a:ea typeface="Noto Sans"/>
                          <a:cs typeface="Noto Sans"/>
                        </a:rPr>
                        <a:t>Unweighted HMM sign disagreements</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42 / 240</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Descriptive removal sensitivity</a:t>
                      </a:r>
                    </a:p>
                  </a:txBody>
                  <a:tcPr marL="133350" marR="133350" marT="85725" marB="85725" anchor="ctr">
                    <a:solidFill>
                      <a:srgbClr val="FFFFFF"/>
                    </a:solidFill>
                  </a:tcPr>
                </a:tc>
              </a:tr>
              <a:tr h="514350">
                <a:tc>
                  <a:txBody>
                    <a:bodyPr/>
                    <a:lstStyle/>
                    <a:p>
                      <a:r>
                        <a:rPr sz="1800" b="0">
                          <a:solidFill>
                            <a:srgbClr val="354F62"/>
                          </a:solidFill>
                          <a:latin typeface="Noto Sans"/>
                          <a:ea typeface="Noto Sans"/>
                          <a:cs typeface="Noto Sans"/>
                        </a:rPr>
                        <a:t>Directional temporal endpoints</a:t>
                      </a:r>
                    </a:p>
                  </a:txBody>
                  <a:tcPr marL="133350" marR="133350" marT="85725" marB="85725" anchor="ctr">
                    <a:solidFill>
                      <a:srgbClr val="F1F6F8"/>
                    </a:solidFill>
                  </a:tcPr>
                </a:tc>
                <a:tc>
                  <a:txBody>
                    <a:bodyPr/>
                    <a:lstStyle/>
                    <a:p>
                      <a:r>
                        <a:rPr sz="1800" b="0">
                          <a:solidFill>
                            <a:srgbClr val="354F62"/>
                          </a:solidFill>
                          <a:latin typeface="Noto Sans"/>
                          <a:ea typeface="Noto Sans"/>
                          <a:cs typeface="Noto Sans"/>
                        </a:rPr>
                        <a:t>0 / 2,400</a:t>
                      </a:r>
                    </a:p>
                  </a:txBody>
                  <a:tcPr marL="133350" marR="133350" marT="85725" marB="85725" anchor="ctr">
                    <a:solidFill>
                      <a:srgbClr val="F1F6F8"/>
                    </a:solidFill>
                  </a:tcPr>
                </a:tc>
                <a:tc>
                  <a:txBody>
                    <a:bodyPr/>
                    <a:lstStyle/>
                    <a:p>
                      <a:r>
                        <a:rPr sz="1800" b="0">
                          <a:solidFill>
                            <a:srgbClr val="354F62"/>
                          </a:solidFill>
                          <a:latin typeface="Noto Sans"/>
                          <a:ea typeface="Noto Sans"/>
                          <a:cs typeface="Noto Sans"/>
                        </a:rPr>
                        <a:t>No simultaneous directional crossing</a:t>
                      </a:r>
                    </a:p>
                  </a:txBody>
                  <a:tcPr marL="133350" marR="133350" marT="85725" marB="85725" anchor="ctr">
                    <a:solidFill>
                      <a:srgbClr val="F1F6F8"/>
                    </a:solidFill>
                  </a:tcPr>
                </a:tc>
              </a:tr>
              <a:tr h="514350">
                <a:tc>
                  <a:txBody>
                    <a:bodyPr/>
                    <a:lstStyle/>
                    <a:p>
                      <a:r>
                        <a:rPr sz="1800" b="0">
                          <a:solidFill>
                            <a:srgbClr val="354F62"/>
                          </a:solidFill>
                          <a:latin typeface="Noto Sans"/>
                          <a:ea typeface="Noto Sans"/>
                          <a:cs typeface="Noto Sans"/>
                        </a:rPr>
                        <a:t>Intervals within ±0.005</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776 / 2,400</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All explained by forecast proximity</a:t>
                      </a:r>
                    </a:p>
                  </a:txBody>
                  <a:tcPr marL="133350" marR="133350" marT="85725" marB="85725" anchor="ctr">
                    <a:solidFill>
                      <a:srgbClr val="FFFFFF"/>
                    </a:solidFill>
                  </a:tcPr>
                </a:tc>
              </a:tr>
              <a:tr h="514350">
                <a:tc>
                  <a:txBody>
                    <a:bodyPr/>
                    <a:lstStyle/>
                    <a:p>
                      <a:r>
                        <a:rPr sz="1800" b="0">
                          <a:solidFill>
                            <a:srgbClr val="354F62"/>
                          </a:solidFill>
                          <a:latin typeface="Noto Sans"/>
                          <a:ea typeface="Noto Sans"/>
                          <a:cs typeface="Noto Sans"/>
                        </a:rPr>
                        <a:t>Exact matches among those 776</a:t>
                      </a:r>
                    </a:p>
                  </a:txBody>
                  <a:tcPr marL="133350" marR="133350" marT="85725" marB="85725" anchor="ctr">
                    <a:solidFill>
                      <a:srgbClr val="F1F6F8"/>
                    </a:solidFill>
                  </a:tcPr>
                </a:tc>
                <a:tc>
                  <a:txBody>
                    <a:bodyPr/>
                    <a:lstStyle/>
                    <a:p>
                      <a:r>
                        <a:rPr sz="1800" b="0">
                          <a:solidFill>
                            <a:srgbClr val="354F62"/>
                          </a:solidFill>
                          <a:latin typeface="Noto Sans"/>
                          <a:ea typeface="Noto Sans"/>
                          <a:cs typeface="Noto Sans"/>
                        </a:rPr>
                        <a:t>196</a:t>
                      </a:r>
                    </a:p>
                  </a:txBody>
                  <a:tcPr marL="133350" marR="133350" marT="85725" marB="85725" anchor="ctr">
                    <a:solidFill>
                      <a:srgbClr val="F1F6F8"/>
                    </a:solidFill>
                  </a:tcPr>
                </a:tc>
                <a:tc>
                  <a:txBody>
                    <a:bodyPr/>
                    <a:lstStyle/>
                    <a:p>
                      <a:r>
                        <a:rPr sz="1800" b="0">
                          <a:solidFill>
                            <a:srgbClr val="354F62"/>
                          </a:solidFill>
                          <a:latin typeface="Noto Sans"/>
                          <a:ea typeface="Noto Sans"/>
                          <a:cs typeface="Noto Sans"/>
                        </a:rPr>
                        <a:t>Zero paired loss</a:t>
                      </a:r>
                    </a:p>
                  </a:txBody>
                  <a:tcPr marL="133350" marR="133350" marT="85725" marB="85725" anchor="ctr">
                    <a:solidFill>
                      <a:srgbClr val="F1F6F8"/>
                    </a:solidFill>
                  </a:tcPr>
                </a:tc>
              </a:tr>
            </a:tbl>
          </a:graphicData>
        </a:graphic>
      </p:graphicFrame>
      <p:sp>
        <p:nvSpPr>
          <p:cNvPr id="4" name="">
            <a:extLst xmlns:a="http://schemas.openxmlformats.org/drawingml/2006/main">
              <a:ext uri="{FF2B5EF4-FFF2-40B4-BE49-F238E27FC236}">
                <a16:creationId xmlns:a16="http://schemas.microsoft.com/office/drawing/2014/main" id="{A26C60EF-82BF-4729-91C3-A7237BCD4E38}"/>
              </a:ext>
            </a:extLst>
          </p:cNvPr>
          <p:cNvSpPr>
            <a:spLocks xmlns:a="http://schemas.openxmlformats.org/drawingml/2006/main" noGrp="1"/>
          </p:cNvSpPr>
          <p:nvPr/>
        </p:nvSpPr>
        <p:spPr>
          <a:xfrm xmlns:a="http://schemas.openxmlformats.org/drawingml/2006/main">
            <a:off x="666750" y="5226558"/>
            <a:ext cx="10858500" cy="11742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marL="241300" indent="-127000">
              <a:spcAft>
                <a:spcPts val="600"/>
              </a:spcAft>
              <a:buChar char="•"/>
              <a:defRPr sz="1725" b="0">
                <a:solidFill>
                  <a:srgbClr val="354F62"/>
                </a:solidFill>
                <a:latin typeface="Noto Sans"/>
                <a:ea typeface="Noto Sans"/>
                <a:cs typeface="Noto Sans"/>
              </a:defRPr>
            </a:pPr>
            <a:r>
              <a:rPr sz="1725" b="0">
                <a:solidFill>
                  <a:srgbClr val="354F62"/>
                </a:solidFill>
                <a:latin typeface="Noto Sans"/>
                <a:ea typeface="Noto Sans"/>
                <a:cs typeface="Noto Sans"/>
              </a:rPr>
              <a:t>Gain = restricted loss − source-included loss. Positive favors inclusion.</a:t>
            </a:r>
          </a:p>
          <a:p xmlns:a="http://schemas.openxmlformats.org/drawingml/2006/main">
            <a:pPr marL="241300" indent="-127000">
              <a:spcAft>
                <a:spcPts val="600"/>
              </a:spcAft>
              <a:buChar char="•"/>
              <a:defRPr sz="1725" b="0">
                <a:solidFill>
                  <a:srgbClr val="354F62"/>
                </a:solidFill>
                <a:latin typeface="Noto Sans"/>
                <a:ea typeface="Noto Sans"/>
                <a:cs typeface="Noto Sans"/>
              </a:defRPr>
            </a:pPr>
            <a:r>
              <a:rPr sz="1725" b="0">
                <a:solidFill>
                  <a:srgbClr val="354F62"/>
                </a:solidFill>
                <a:latin typeface="Noto Sans"/>
                <a:ea typeface="Noto Sans"/>
                <a:cs typeface="Noto Sans"/>
              </a:rPr>
              <a:t>In all 42 sign disagreements, both component gains lie within ±0.005. Median absolute direct contrast: 0.000341.</a:t>
            </a:r>
          </a:p>
        </p:txBody>
      </p:sp>
      <p:sp>
        <p:nvSpPr>
          <p:cNvPr id="5" name="Source exclusion in regime-gated forecasts">
            <a:extLst xmlns:a="http://schemas.openxmlformats.org/drawingml/2006/main">
              <a:ext uri="{FF2B5EF4-FFF2-40B4-BE49-F238E27FC236}">
                <a16:creationId xmlns:a16="http://schemas.microsoft.com/office/drawing/2014/main" id="{8DF5947B-386D-46B6-A086-AAD1591E7693}"/>
              </a:ext>
            </a:extLst>
          </p:cNvPr>
          <p:cNvSpPr>
            <a:spLocks xmlns:a="http://schemas.openxmlformats.org/drawingml/2006/main" noGrp="1"/>
          </p:cNvSpPr>
          <p:nvPr/>
        </p:nvSpPr>
        <p:spPr>
          <a:xfrm xmlns:a="http://schemas.openxmlformats.org/drawingml/2006/main">
            <a:off x="666750" y="6438900"/>
            <a:ext cx="10239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607D8B"/>
                </a:solidFill>
                <a:latin typeface="Noto Sans"/>
                <a:ea typeface="Noto Sans"/>
                <a:cs typeface="Noto Sans"/>
              </a:defRPr>
            </a:pPr>
            <a:r>
              <a:rPr sz="1200" b="0">
                <a:solidFill>
                  <a:srgbClr val="607D8B"/>
                </a:solidFill>
                <a:latin typeface="Noto Sans"/>
                <a:ea typeface="Noto Sans"/>
                <a:cs typeface="Noto Sans"/>
              </a:rPr>
              <a:t>Source exclusion in regime-gated forecasts</a:t>
            </a:r>
          </a:p>
        </p:txBody>
      </p:sp>
      <p:sp>
        <p:nvSpPr>
          <p:cNvPr id="6" name="06 / 10">
            <a:extLst xmlns:a="http://schemas.openxmlformats.org/drawingml/2006/main">
              <a:ext uri="{FF2B5EF4-FFF2-40B4-BE49-F238E27FC236}">
                <a16:creationId xmlns:a16="http://schemas.microsoft.com/office/drawing/2014/main" id="{65FC7D5B-F076-4103-88C1-9A714A9D62E0}"/>
              </a:ext>
            </a:extLst>
          </p:cNvPr>
          <p:cNvSpPr>
            <a:spLocks xmlns:a="http://schemas.openxmlformats.org/drawingml/2006/main" noGrp="1"/>
          </p:cNvSpPr>
          <p:nvPr/>
        </p:nvSpPr>
        <p:spPr>
          <a:xfrm xmlns:a="http://schemas.openxmlformats.org/drawingml/2006/main">
            <a:off x="109537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b="0">
                <a:solidFill>
                  <a:srgbClr val="607D8B"/>
                </a:solidFill>
                <a:latin typeface="Noto Sans"/>
                <a:ea typeface="Noto Sans"/>
                <a:cs typeface="Noto Sans"/>
              </a:defRPr>
            </a:pPr>
            <a:r>
              <a:rPr sz="1200" b="0">
                <a:solidFill>
                  <a:srgbClr val="607D8B"/>
                </a:solidFill>
                <a:latin typeface="Noto Sans"/>
                <a:ea typeface="Noto Sans"/>
                <a:cs typeface="Noto Sans"/>
              </a:rPr>
              <a:t>06 / 10</a:t>
            </a:r>
          </a:p>
        </p:txBody>
      </p:sp>
    </p:spTree>
    <p:extLst>
      <p:ext uri="{BB962C8B-B14F-4D97-AF65-F5344CB8AC3E}">
        <p14:creationId xmlns:p14="http://schemas.microsoft.com/office/powerpoint/2010/main" val="95376136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he original HML → SMB reconstruction is unfa">
            <a:extLst xmlns:a="http://schemas.openxmlformats.org/drawingml/2006/main">
              <a:ext uri="{FF2B5EF4-FFF2-40B4-BE49-F238E27FC236}">
                <a16:creationId xmlns:a16="http://schemas.microsoft.com/office/drawing/2014/main" id="{A113B67F-3B10-4737-906E-30374798239F}"/>
              </a:ext>
            </a:extLst>
          </p:cNvPr>
          <p:cNvSpPr>
            <a:spLocks xmlns:a="http://schemas.openxmlformats.org/drawingml/2006/main" noGrp="1"/>
          </p:cNvSpPr>
          <p:nvPr/>
        </p:nvSpPr>
        <p:spPr>
          <a:xfrm xmlns:a="http://schemas.openxmlformats.org/drawingml/2006/main">
            <a:off x="666750" y="4191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02A43"/>
                </a:solidFill>
                <a:latin typeface="Noto Sans"/>
                <a:ea typeface="Noto Sans"/>
                <a:cs typeface="Noto Sans"/>
              </a:defRPr>
            </a:pPr>
            <a:r>
              <a:rPr sz="3300" b="1">
                <a:solidFill>
                  <a:srgbClr val="102A43"/>
                </a:solidFill>
                <a:latin typeface="Noto Sans"/>
                <a:ea typeface="Noto Sans"/>
                <a:cs typeface="Noto Sans"/>
              </a:rPr>
              <a:t>The original HML → SMB reconstruction is unfavorable</a:t>
            </a:r>
          </a:p>
        </p:txBody>
      </p:sp>
      <p:sp>
        <p:nvSpPr>
          <p:cNvPr id="2" name="2010–2024, 3,774 matched dates; two-lag RMSE ">
            <a:extLst xmlns:a="http://schemas.openxmlformats.org/drawingml/2006/main">
              <a:ext uri="{FF2B5EF4-FFF2-40B4-BE49-F238E27FC236}">
                <a16:creationId xmlns:a16="http://schemas.microsoft.com/office/drawing/2014/main" id="{9D02BBC5-8279-4E5E-8FAD-F0A086952768}"/>
              </a:ext>
            </a:extLst>
          </p:cNvPr>
          <p:cNvSpPr>
            <a:spLocks xmlns:a="http://schemas.openxmlformats.org/drawingml/2006/main" noGrp="1"/>
          </p:cNvSpPr>
          <p:nvPr/>
        </p:nvSpPr>
        <p:spPr>
          <a:xfrm xmlns:a="http://schemas.openxmlformats.org/drawingml/2006/main">
            <a:off x="666750" y="16764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15A92"/>
                </a:solidFill>
                <a:latin typeface="Noto Sans"/>
                <a:ea typeface="Noto Sans"/>
                <a:cs typeface="Noto Sans"/>
              </a:defRPr>
            </a:pPr>
            <a:r>
              <a:rPr sz="2175" b="0">
                <a:solidFill>
                  <a:srgbClr val="215A92"/>
                </a:solidFill>
                <a:latin typeface="Noto Sans"/>
                <a:ea typeface="Noto Sans"/>
                <a:cs typeface="Noto Sans"/>
              </a:rPr>
              <a:t>2010–2024, 3,774 matched dates; two-lag RMSE in basis points, lower is better.</a:t>
            </a:r>
          </a:p>
        </p:txBody>
      </p:sp>
      <p:graphicFrame>
        <p:nvGraphicFramePr>
          <p:cNvPr id="9" name=""/>
          <p:cNvGraphicFramePr/>
          <p:nvPr/>
        </p:nvGraphicFramePr>
        <p:xfrm>
          <a:off xmlns:a="http://schemas.openxmlformats.org/drawingml/2006/main" x="666750" y="2514600"/>
          <a:ext xmlns:a="http://schemas.openxmlformats.org/drawingml/2006/main" cx="10858500" cy="2540508"/>
        </p:xfrm>
        <a:graphic xmlns:a="http://schemas.openxmlformats.org/drawingml/2006/main">
          <a:graphicData uri="http://schemas.openxmlformats.org/drawingml/2006/table">
            <a:tbl>
              <a:tblPr firstRow="1" bandRow="0"/>
              <a:tblGrid>
                <a:gridCol w="4436579"/>
                <a:gridCol w="3210960"/>
                <a:gridCol w="3210960"/>
              </a:tblGrid>
              <a:tr h="483108">
                <a:tc>
                  <a:txBody>
                    <a:bodyPr/>
                    <a:lstStyle/>
                    <a:p>
                      <a:r>
                        <a:rPr sz="1800" b="1">
                          <a:solidFill>
                            <a:srgbClr val="FFFFFF"/>
                          </a:solidFill>
                          <a:latin typeface="Noto Sans"/>
                          <a:ea typeface="Noto Sans"/>
                          <a:cs typeface="Noto Sans"/>
                        </a:rPr>
                        <a:t>Procedure</a:t>
                      </a:r>
                    </a:p>
                  </a:txBody>
                  <a:tcPr marL="133350" marR="133350" marT="85725" marB="85725" anchor="ctr">
                    <a:solidFill>
                      <a:srgbClr val="102A43"/>
                    </a:solidFill>
                  </a:tcPr>
                </a:tc>
                <a:tc>
                  <a:txBody>
                    <a:bodyPr/>
                    <a:lstStyle/>
                    <a:p>
                      <a:r>
                        <a:rPr sz="1800" b="1">
                          <a:solidFill>
                            <a:srgbClr val="FFFFFF"/>
                          </a:solidFill>
                          <a:latin typeface="Noto Sans"/>
                          <a:ea typeface="Noto Sans"/>
                          <a:cs typeface="Noto Sans"/>
                        </a:rPr>
                        <a:t>Exclude HML</a:t>
                      </a:r>
                    </a:p>
                  </a:txBody>
                  <a:tcPr marL="133350" marR="133350" marT="85725" marB="85725" anchor="ctr">
                    <a:solidFill>
                      <a:srgbClr val="102A43"/>
                    </a:solidFill>
                  </a:tcPr>
                </a:tc>
                <a:tc>
                  <a:txBody>
                    <a:bodyPr/>
                    <a:lstStyle/>
                    <a:p>
                      <a:r>
                        <a:rPr sz="1800" b="1">
                          <a:solidFill>
                            <a:srgbClr val="FFFFFF"/>
                          </a:solidFill>
                          <a:latin typeface="Noto Sans"/>
                          <a:ea typeface="Noto Sans"/>
                          <a:cs typeface="Noto Sans"/>
                        </a:rPr>
                        <a:t>Include HML</a:t>
                      </a:r>
                    </a:p>
                  </a:txBody>
                  <a:tcPr marL="133350" marR="133350" marT="85725" marB="85725" anchor="ctr">
                    <a:solidFill>
                      <a:srgbClr val="102A43"/>
                    </a:solidFill>
                  </a:tcPr>
                </a:tc>
              </a:tr>
              <a:tr h="514350">
                <a:tc>
                  <a:txBody>
                    <a:bodyPr/>
                    <a:lstStyle/>
                    <a:p>
                      <a:r>
                        <a:rPr sz="1800" b="0">
                          <a:solidFill>
                            <a:srgbClr val="354F62"/>
                          </a:solidFill>
                          <a:latin typeface="Noto Sans"/>
                          <a:ea typeface="Noto Sans"/>
                          <a:cs typeface="Noto Sans"/>
                        </a:rPr>
                        <a:t>Pooled ridge</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64.177</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64.248</a:t>
                      </a:r>
                    </a:p>
                  </a:txBody>
                  <a:tcPr marL="133350" marR="133350" marT="85725" marB="85725" anchor="ctr">
                    <a:solidFill>
                      <a:srgbClr val="FFFFFF"/>
                    </a:solidFill>
                  </a:tcPr>
                </a:tc>
              </a:tr>
              <a:tr h="514350">
                <a:tc>
                  <a:txBody>
                    <a:bodyPr/>
                    <a:lstStyle/>
                    <a:p>
                      <a:r>
                        <a:rPr sz="1800" b="0">
                          <a:solidFill>
                            <a:srgbClr val="354F62"/>
                          </a:solidFill>
                          <a:latin typeface="Noto Sans"/>
                          <a:ea typeface="Noto Sans"/>
                          <a:cs typeface="Noto Sans"/>
                        </a:rPr>
                        <a:t>Gaussian HMM</a:t>
                      </a:r>
                    </a:p>
                  </a:txBody>
                  <a:tcPr marL="133350" marR="133350" marT="85725" marB="85725" anchor="ctr">
                    <a:solidFill>
                      <a:srgbClr val="F1F6F8"/>
                    </a:solidFill>
                  </a:tcPr>
                </a:tc>
                <a:tc>
                  <a:txBody>
                    <a:bodyPr/>
                    <a:lstStyle/>
                    <a:p>
                      <a:r>
                        <a:rPr sz="1800" b="0">
                          <a:solidFill>
                            <a:srgbClr val="354F62"/>
                          </a:solidFill>
                          <a:latin typeface="Noto Sans"/>
                          <a:ea typeface="Noto Sans"/>
                          <a:cs typeface="Noto Sans"/>
                        </a:rPr>
                        <a:t>64.319</a:t>
                      </a:r>
                    </a:p>
                  </a:txBody>
                  <a:tcPr marL="133350" marR="133350" marT="85725" marB="85725" anchor="ctr">
                    <a:solidFill>
                      <a:srgbClr val="F1F6F8"/>
                    </a:solidFill>
                  </a:tcPr>
                </a:tc>
                <a:tc>
                  <a:txBody>
                    <a:bodyPr/>
                    <a:lstStyle/>
                    <a:p>
                      <a:r>
                        <a:rPr sz="1800" b="0">
                          <a:solidFill>
                            <a:srgbClr val="354F62"/>
                          </a:solidFill>
                          <a:latin typeface="Noto Sans"/>
                          <a:ea typeface="Noto Sans"/>
                          <a:cs typeface="Noto Sans"/>
                        </a:rPr>
                        <a:t>64.403</a:t>
                      </a:r>
                    </a:p>
                  </a:txBody>
                  <a:tcPr marL="133350" marR="133350" marT="85725" marB="85725" anchor="ctr">
                    <a:solidFill>
                      <a:srgbClr val="F1F6F8"/>
                    </a:solidFill>
                  </a:tcPr>
                </a:tc>
              </a:tr>
              <a:tr h="514350">
                <a:tc>
                  <a:txBody>
                    <a:bodyPr/>
                    <a:lstStyle/>
                    <a:p>
                      <a:r>
                        <a:rPr sz="1800" b="0">
                          <a:solidFill>
                            <a:srgbClr val="354F62"/>
                          </a:solidFill>
                          <a:latin typeface="Noto Sans"/>
                          <a:ea typeface="Noto Sans"/>
                          <a:cs typeface="Noto Sans"/>
                        </a:rPr>
                        <a:t>Student-t HMM</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64.257</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64.322</a:t>
                      </a:r>
                    </a:p>
                  </a:txBody>
                  <a:tcPr marL="133350" marR="133350" marT="85725" marB="85725" anchor="ctr">
                    <a:solidFill>
                      <a:srgbClr val="FFFFFF"/>
                    </a:solidFill>
                  </a:tcPr>
                </a:tc>
              </a:tr>
              <a:tr h="514350">
                <a:tc>
                  <a:txBody>
                    <a:bodyPr/>
                    <a:lstStyle/>
                    <a:p>
                      <a:r>
                        <a:rPr sz="1800" b="0">
                          <a:solidFill>
                            <a:srgbClr val="354F62"/>
                          </a:solidFill>
                          <a:latin typeface="Noto Sans"/>
                          <a:ea typeface="Noto Sans"/>
                          <a:cs typeface="Noto Sans"/>
                        </a:rPr>
                        <a:t>Zero-return benchmark</a:t>
                      </a:r>
                    </a:p>
                  </a:txBody>
                  <a:tcPr marL="133350" marR="133350" marT="85725" marB="85725" anchor="ctr">
                    <a:solidFill>
                      <a:srgbClr val="F1F6F8"/>
                    </a:solidFill>
                  </a:tcPr>
                </a:tc>
                <a:tc>
                  <a:txBody>
                    <a:bodyPr/>
                    <a:lstStyle/>
                    <a:p>
                      <a:r>
                        <a:rPr sz="1800" b="0">
                          <a:solidFill>
                            <a:srgbClr val="354F62"/>
                          </a:solidFill>
                          <a:latin typeface="Noto Sans"/>
                          <a:ea typeface="Noto Sans"/>
                          <a:cs typeface="Noto Sans"/>
                        </a:rPr>
                        <a:t>63.948</a:t>
                      </a:r>
                    </a:p>
                  </a:txBody>
                  <a:tcPr marL="133350" marR="133350" marT="85725" marB="85725" anchor="ctr">
                    <a:solidFill>
                      <a:srgbClr val="F1F6F8"/>
                    </a:solidFill>
                  </a:tcPr>
                </a:tc>
                <a:tc>
                  <a:txBody>
                    <a:bodyPr/>
                    <a:lstStyle/>
                    <a:p>
                      <a:r>
                        <a:rPr sz="1800" b="0">
                          <a:solidFill>
                            <a:srgbClr val="354F62"/>
                          </a:solidFill>
                          <a:latin typeface="Noto Sans"/>
                          <a:ea typeface="Noto Sans"/>
                          <a:cs typeface="Noto Sans"/>
                        </a:rPr>
                        <a:t>63.948</a:t>
                      </a:r>
                    </a:p>
                  </a:txBody>
                  <a:tcPr marL="133350" marR="133350" marT="85725" marB="85725" anchor="ctr">
                    <a:solidFill>
                      <a:srgbClr val="F1F6F8"/>
                    </a:solidFill>
                  </a:tcPr>
                </a:tc>
              </a:tr>
            </a:tbl>
          </a:graphicData>
        </a:graphic>
      </p:graphicFrame>
      <p:sp>
        <p:nvSpPr>
          <p:cNvPr id="4" name="">
            <a:extLst xmlns:a="http://schemas.openxmlformats.org/drawingml/2006/main">
              <a:ext uri="{FF2B5EF4-FFF2-40B4-BE49-F238E27FC236}">
                <a16:creationId xmlns:a16="http://schemas.microsoft.com/office/drawing/2014/main" id="{FADD6FC2-C778-4450-9C48-2FC3785FA8CB}"/>
              </a:ext>
            </a:extLst>
          </p:cNvPr>
          <p:cNvSpPr>
            <a:spLocks xmlns:a="http://schemas.openxmlformats.org/drawingml/2006/main" noGrp="1"/>
          </p:cNvSpPr>
          <p:nvPr/>
        </p:nvSpPr>
        <p:spPr>
          <a:xfrm xmlns:a="http://schemas.openxmlformats.org/drawingml/2006/main">
            <a:off x="666750" y="5226558"/>
            <a:ext cx="10858500" cy="11742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marL="241300" indent="-127000">
              <a:spcAft>
                <a:spcPts val="600"/>
              </a:spcAft>
              <a:buChar char="•"/>
              <a:defRPr sz="1725" b="0">
                <a:solidFill>
                  <a:srgbClr val="354F62"/>
                </a:solidFill>
                <a:latin typeface="Noto Sans"/>
                <a:ea typeface="Noto Sans"/>
                <a:cs typeface="Noto Sans"/>
              </a:defRPr>
            </a:pPr>
            <a:r>
              <a:rPr sz="1725" b="0">
                <a:solidFill>
                  <a:srgbClr val="354F62"/>
                </a:solidFill>
                <a:latin typeface="Noto Sans"/>
                <a:ea typeface="Noto Sans"/>
                <a:cs typeface="Noto Sans"/>
              </a:rPr>
              <a:t>HML: value-minus-growth spread; SMB: small-minus-big spread.</a:t>
            </a:r>
          </a:p>
          <a:p xmlns:a="http://schemas.openxmlformats.org/drawingml/2006/main">
            <a:pPr marL="241300" indent="-127000">
              <a:spcAft>
                <a:spcPts val="600"/>
              </a:spcAft>
              <a:buChar char="•"/>
              <a:defRPr sz="1725" b="0">
                <a:solidFill>
                  <a:srgbClr val="354F62"/>
                </a:solidFill>
                <a:latin typeface="Noto Sans"/>
                <a:ea typeface="Noto Sans"/>
                <a:cs typeface="Noto Sans"/>
              </a:defRPr>
            </a:pPr>
            <a:r>
              <a:rPr sz="1725" b="0">
                <a:solidFill>
                  <a:srgbClr val="354F62"/>
                </a:solidFill>
                <a:latin typeface="Noto Sans"/>
                <a:ea typeface="Noto Sans"/>
                <a:cs typeface="Noto Sans"/>
              </a:rPr>
              <a:t>This current-vintage reconstruction is not an exact reproduction of the earlier study.</a:t>
            </a:r>
          </a:p>
          <a:p xmlns:a="http://schemas.openxmlformats.org/drawingml/2006/main">
            <a:pPr marL="241300" indent="-127000">
              <a:spcAft>
                <a:spcPts val="600"/>
              </a:spcAft>
              <a:buChar char="•"/>
              <a:defRPr sz="1725" b="0">
                <a:solidFill>
                  <a:srgbClr val="354F62"/>
                </a:solidFill>
                <a:latin typeface="Noto Sans"/>
                <a:ea typeface="Noto Sans"/>
                <a:cs typeface="Noto Sans"/>
              </a:defRPr>
            </a:pPr>
            <a:r>
              <a:rPr sz="1725" b="0">
                <a:solidFill>
                  <a:srgbClr val="354F62"/>
                </a:solidFill>
                <a:latin typeface="Noto Sans"/>
                <a:ea typeface="Noto Sans"/>
                <a:cs typeface="Noto Sans"/>
              </a:rPr>
              <a:t>A lag count does not establish an advance-warning horizon.</a:t>
            </a:r>
          </a:p>
        </p:txBody>
      </p:sp>
      <p:sp>
        <p:nvSpPr>
          <p:cNvPr id="5" name="Source exclusion in regime-gated forecasts">
            <a:extLst xmlns:a="http://schemas.openxmlformats.org/drawingml/2006/main">
              <a:ext uri="{FF2B5EF4-FFF2-40B4-BE49-F238E27FC236}">
                <a16:creationId xmlns:a16="http://schemas.microsoft.com/office/drawing/2014/main" id="{2B632424-1ED5-4984-A45A-54104F71902D}"/>
              </a:ext>
            </a:extLst>
          </p:cNvPr>
          <p:cNvSpPr>
            <a:spLocks xmlns:a="http://schemas.openxmlformats.org/drawingml/2006/main" noGrp="1"/>
          </p:cNvSpPr>
          <p:nvPr/>
        </p:nvSpPr>
        <p:spPr>
          <a:xfrm xmlns:a="http://schemas.openxmlformats.org/drawingml/2006/main">
            <a:off x="666750" y="6438900"/>
            <a:ext cx="10239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607D8B"/>
                </a:solidFill>
                <a:latin typeface="Noto Sans"/>
                <a:ea typeface="Noto Sans"/>
                <a:cs typeface="Noto Sans"/>
              </a:defRPr>
            </a:pPr>
            <a:r>
              <a:rPr sz="1200" b="0">
                <a:solidFill>
                  <a:srgbClr val="607D8B"/>
                </a:solidFill>
                <a:latin typeface="Noto Sans"/>
                <a:ea typeface="Noto Sans"/>
                <a:cs typeface="Noto Sans"/>
              </a:rPr>
              <a:t>Source exclusion in regime-gated forecasts</a:t>
            </a:r>
          </a:p>
        </p:txBody>
      </p:sp>
      <p:sp>
        <p:nvSpPr>
          <p:cNvPr id="6" name="07 / 10">
            <a:extLst xmlns:a="http://schemas.openxmlformats.org/drawingml/2006/main">
              <a:ext uri="{FF2B5EF4-FFF2-40B4-BE49-F238E27FC236}">
                <a16:creationId xmlns:a16="http://schemas.microsoft.com/office/drawing/2014/main" id="{8BD94A23-BAC3-41AA-A2E0-DA05A63A45BB}"/>
              </a:ext>
            </a:extLst>
          </p:cNvPr>
          <p:cNvSpPr>
            <a:spLocks xmlns:a="http://schemas.openxmlformats.org/drawingml/2006/main" noGrp="1"/>
          </p:cNvSpPr>
          <p:nvPr/>
        </p:nvSpPr>
        <p:spPr>
          <a:xfrm xmlns:a="http://schemas.openxmlformats.org/drawingml/2006/main">
            <a:off x="109537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b="0">
                <a:solidFill>
                  <a:srgbClr val="607D8B"/>
                </a:solidFill>
                <a:latin typeface="Noto Sans"/>
                <a:ea typeface="Noto Sans"/>
                <a:cs typeface="Noto Sans"/>
              </a:defRPr>
            </a:pPr>
            <a:r>
              <a:rPr sz="1200" b="0">
                <a:solidFill>
                  <a:srgbClr val="607D8B"/>
                </a:solidFill>
                <a:latin typeface="Noto Sans"/>
                <a:ea typeface="Noto Sans"/>
                <a:cs typeface="Noto Sans"/>
              </a:rPr>
              <a:t>07 / 10</a:t>
            </a:r>
          </a:p>
        </p:txBody>
      </p:sp>
    </p:spTree>
    <p:extLst>
      <p:ext uri="{BB962C8B-B14F-4D97-AF65-F5344CB8AC3E}">
        <p14:creationId xmlns:p14="http://schemas.microsoft.com/office/powerpoint/2010/main" val="63431523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A controlled example separates pathways from ">
            <a:extLst xmlns:a="http://schemas.openxmlformats.org/drawingml/2006/main">
              <a:ext uri="{FF2B5EF4-FFF2-40B4-BE49-F238E27FC236}">
                <a16:creationId xmlns:a16="http://schemas.microsoft.com/office/drawing/2014/main" id="{024B5793-D123-4C35-880A-408C0EC714DC}"/>
              </a:ext>
            </a:extLst>
          </p:cNvPr>
          <p:cNvSpPr>
            <a:spLocks xmlns:a="http://schemas.openxmlformats.org/drawingml/2006/main" noGrp="1"/>
          </p:cNvSpPr>
          <p:nvPr/>
        </p:nvSpPr>
        <p:spPr>
          <a:xfrm xmlns:a="http://schemas.openxmlformats.org/drawingml/2006/main">
            <a:off x="666750" y="4191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02A43"/>
                </a:solidFill>
                <a:latin typeface="Noto Sans"/>
                <a:ea typeface="Noto Sans"/>
                <a:cs typeface="Noto Sans"/>
              </a:defRPr>
            </a:pPr>
            <a:r>
              <a:rPr sz="3300" b="1">
                <a:solidFill>
                  <a:srgbClr val="102A43"/>
                </a:solidFill>
                <a:latin typeface="Noto Sans"/>
                <a:ea typeface="Noto Sans"/>
                <a:cs typeface="Noto Sans"/>
              </a:rPr>
              <a:t>A controlled example separates pathways from fitting costs</a:t>
            </a:r>
          </a:p>
        </p:txBody>
      </p:sp>
      <p:sp>
        <p:nvSpPr>
          <p:cNvPr id="2" name="Simulation: uncapped conditional squared-loss">
            <a:extLst xmlns:a="http://schemas.openxmlformats.org/drawingml/2006/main">
              <a:ext uri="{FF2B5EF4-FFF2-40B4-BE49-F238E27FC236}">
                <a16:creationId xmlns:a16="http://schemas.microsoft.com/office/drawing/2014/main" id="{CA2C7EF7-417F-409D-AFBB-68ED9163DF69}"/>
              </a:ext>
            </a:extLst>
          </p:cNvPr>
          <p:cNvSpPr>
            <a:spLocks xmlns:a="http://schemas.openxmlformats.org/drawingml/2006/main" noGrp="1"/>
          </p:cNvSpPr>
          <p:nvPr/>
        </p:nvSpPr>
        <p:spPr>
          <a:xfrm xmlns:a="http://schemas.openxmlformats.org/drawingml/2006/main">
            <a:off x="666750" y="16764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15A92"/>
                </a:solidFill>
                <a:latin typeface="Noto Sans"/>
                <a:ea typeface="Noto Sans"/>
                <a:cs typeface="Noto Sans"/>
              </a:defRPr>
            </a:pPr>
            <a:r>
              <a:rPr sz="2175" b="0">
                <a:solidFill>
                  <a:srgbClr val="215A92"/>
                </a:solidFill>
                <a:latin typeface="Noto Sans"/>
                <a:ea typeface="Noto Sans"/>
                <a:cs typeface="Noto Sans"/>
              </a:rPr>
              <a:t>Simulation: uncapped conditional squared-loss gains, in target-squared units; mean across 100 seeds.</a:t>
            </a:r>
          </a:p>
        </p:txBody>
      </p:sp>
      <p:graphicFrame>
        <p:nvGraphicFramePr>
          <p:cNvPr id="9" name=""/>
          <p:cNvGraphicFramePr/>
          <p:nvPr/>
        </p:nvGraphicFramePr>
        <p:xfrm>
          <a:off xmlns:a="http://schemas.openxmlformats.org/drawingml/2006/main" x="666750" y="2514600"/>
          <a:ext xmlns:a="http://schemas.openxmlformats.org/drawingml/2006/main" cx="10858500" cy="2026158"/>
        </p:xfrm>
        <a:graphic xmlns:a="http://schemas.openxmlformats.org/drawingml/2006/main">
          <a:graphicData uri="http://schemas.openxmlformats.org/drawingml/2006/table">
            <a:tbl>
              <a:tblPr firstRow="1" bandRow="0"/>
              <a:tblGrid>
                <a:gridCol w="3240584"/>
                <a:gridCol w="4153586"/>
                <a:gridCol w="3464330"/>
              </a:tblGrid>
              <a:tr h="483108">
                <a:tc>
                  <a:txBody>
                    <a:bodyPr/>
                    <a:lstStyle/>
                    <a:p>
                      <a:r>
                        <a:rPr sz="1800" b="1">
                          <a:solidFill>
                            <a:srgbClr val="FFFFFF"/>
                          </a:solidFill>
                          <a:latin typeface="Noto Sans"/>
                          <a:ea typeface="Noto Sans"/>
                          <a:cs typeface="Noto Sans"/>
                        </a:rPr>
                        <a:t>Procedure</a:t>
                      </a:r>
                    </a:p>
                  </a:txBody>
                  <a:tcPr marL="133350" marR="133350" marT="85725" marB="85725" anchor="ctr">
                    <a:solidFill>
                      <a:srgbClr val="102A43"/>
                    </a:solidFill>
                  </a:tcPr>
                </a:tc>
                <a:tc>
                  <a:txBody>
                    <a:bodyPr/>
                    <a:lstStyle/>
                    <a:p>
                      <a:r>
                        <a:rPr sz="1800" b="1">
                          <a:solidFill>
                            <a:srgbClr val="FFFFFF"/>
                          </a:solidFill>
                          <a:latin typeface="Noto Sans"/>
                          <a:ea typeface="Noto Sans"/>
                          <a:cs typeface="Noto Sans"/>
                        </a:rPr>
                        <a:t>Complete-exclusion gain</a:t>
                      </a:r>
                    </a:p>
                  </a:txBody>
                  <a:tcPr marL="133350" marR="133350" marT="85725" marB="85725" anchor="ctr">
                    <a:solidFill>
                      <a:srgbClr val="102A43"/>
                    </a:solidFill>
                  </a:tcPr>
                </a:tc>
                <a:tc>
                  <a:txBody>
                    <a:bodyPr/>
                    <a:lstStyle/>
                    <a:p>
                      <a:r>
                        <a:rPr sz="1800" b="1">
                          <a:solidFill>
                            <a:srgbClr val="FFFFFF"/>
                          </a:solidFill>
                          <a:latin typeface="Noto Sans"/>
                          <a:ea typeface="Noto Sans"/>
                          <a:cs typeface="Noto Sans"/>
                        </a:rPr>
                        <a:t>Shared-gate gain</a:t>
                      </a:r>
                    </a:p>
                  </a:txBody>
                  <a:tcPr marL="133350" marR="133350" marT="85725" marB="85725" anchor="ctr">
                    <a:solidFill>
                      <a:srgbClr val="102A43"/>
                    </a:solidFill>
                  </a:tcPr>
                </a:tc>
              </a:tr>
              <a:tr h="514350">
                <a:tc>
                  <a:txBody>
                    <a:bodyPr/>
                    <a:lstStyle/>
                    <a:p>
                      <a:r>
                        <a:rPr sz="1800" b="0">
                          <a:solidFill>
                            <a:srgbClr val="354F62"/>
                          </a:solidFill>
                          <a:latin typeface="Noto Sans"/>
                          <a:ea typeface="Noto Sans"/>
                          <a:cs typeface="Noto Sans"/>
                        </a:rPr>
                        <a:t>Exact oracle</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0.1301</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0.0000</a:t>
                      </a:r>
                    </a:p>
                  </a:txBody>
                  <a:tcPr marL="133350" marR="133350" marT="85725" marB="85725" anchor="ctr">
                    <a:solidFill>
                      <a:srgbClr val="FFFFFF"/>
                    </a:solidFill>
                  </a:tcPr>
                </a:tc>
              </a:tr>
              <a:tr h="514350">
                <a:tc>
                  <a:txBody>
                    <a:bodyPr/>
                    <a:lstStyle/>
                    <a:p>
                      <a:r>
                        <a:rPr sz="1800" b="0">
                          <a:solidFill>
                            <a:srgbClr val="354F62"/>
                          </a:solidFill>
                          <a:latin typeface="Noto Sans"/>
                          <a:ea typeface="Noto Sans"/>
                          <a:cs typeface="Noto Sans"/>
                        </a:rPr>
                        <a:t>Gaussian gate</a:t>
                      </a:r>
                    </a:p>
                  </a:txBody>
                  <a:tcPr marL="133350" marR="133350" marT="85725" marB="85725" anchor="ctr">
                    <a:solidFill>
                      <a:srgbClr val="F1F6F8"/>
                    </a:solidFill>
                  </a:tcPr>
                </a:tc>
                <a:tc>
                  <a:txBody>
                    <a:bodyPr/>
                    <a:lstStyle/>
                    <a:p>
                      <a:r>
                        <a:rPr sz="1800" b="0">
                          <a:solidFill>
                            <a:srgbClr val="354F62"/>
                          </a:solidFill>
                          <a:latin typeface="Noto Sans"/>
                          <a:ea typeface="Noto Sans"/>
                          <a:cs typeface="Noto Sans"/>
                        </a:rPr>
                        <a:t>0.1345</a:t>
                      </a:r>
                    </a:p>
                  </a:txBody>
                  <a:tcPr marL="133350" marR="133350" marT="85725" marB="85725" anchor="ctr">
                    <a:solidFill>
                      <a:srgbClr val="F1F6F8"/>
                    </a:solidFill>
                  </a:tcPr>
                </a:tc>
                <a:tc>
                  <a:txBody>
                    <a:bodyPr/>
                    <a:lstStyle/>
                    <a:p>
                      <a:r>
                        <a:rPr sz="1800" b="0">
                          <a:solidFill>
                            <a:srgbClr val="354F62"/>
                          </a:solidFill>
                          <a:latin typeface="Noto Sans"/>
                          <a:ea typeface="Noto Sans"/>
                          <a:cs typeface="Noto Sans"/>
                        </a:rPr>
                        <a:t>−0.0036</a:t>
                      </a:r>
                    </a:p>
                  </a:txBody>
                  <a:tcPr marL="133350" marR="133350" marT="85725" marB="85725" anchor="ctr">
                    <a:solidFill>
                      <a:srgbClr val="F1F6F8"/>
                    </a:solidFill>
                  </a:tcPr>
                </a:tc>
              </a:tr>
              <a:tr h="514350">
                <a:tc>
                  <a:txBody>
                    <a:bodyPr/>
                    <a:lstStyle/>
                    <a:p>
                      <a:r>
                        <a:rPr sz="1800" b="0">
                          <a:solidFill>
                            <a:srgbClr val="354F62"/>
                          </a:solidFill>
                          <a:latin typeface="Noto Sans"/>
                          <a:ea typeface="Noto Sans"/>
                          <a:cs typeface="Noto Sans"/>
                        </a:rPr>
                        <a:t>Student-t gate</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0.1374</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−0.0036</a:t>
                      </a:r>
                    </a:p>
                  </a:txBody>
                  <a:tcPr marL="133350" marR="133350" marT="85725" marB="8572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EA46C4A9-922E-4B9F-AC3B-FBE7CCE08447}"/>
              </a:ext>
            </a:extLst>
          </p:cNvPr>
          <p:cNvSpPr>
            <a:spLocks xmlns:a="http://schemas.openxmlformats.org/drawingml/2006/main" noGrp="1"/>
          </p:cNvSpPr>
          <p:nvPr/>
        </p:nvSpPr>
        <p:spPr>
          <a:xfrm xmlns:a="http://schemas.openxmlformats.org/drawingml/2006/main">
            <a:off x="666750" y="4712208"/>
            <a:ext cx="10858500" cy="16885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marL="241300" indent="-127000">
              <a:spcAft>
                <a:spcPts val="600"/>
              </a:spcAft>
              <a:buChar char="•"/>
              <a:defRPr sz="1725" b="0">
                <a:solidFill>
                  <a:srgbClr val="354F62"/>
                </a:solidFill>
                <a:latin typeface="Noto Sans"/>
                <a:ea typeface="Noto Sans"/>
                <a:cs typeface="Noto Sans"/>
              </a:defRPr>
            </a:pPr>
            <a:r>
              <a:rPr sz="1725" b="0">
                <a:solidFill>
                  <a:srgbClr val="354F62"/>
                </a:solidFill>
                <a:latin typeface="Noto Sans"/>
                <a:ea typeface="Noto Sans"/>
                <a:cs typeface="Noto Sans"/>
              </a:rPr>
              <a:t>The source carries information through a constructed state pathway.</a:t>
            </a:r>
          </a:p>
          <a:p xmlns:a="http://schemas.openxmlformats.org/drawingml/2006/main">
            <a:pPr marL="241300" indent="-127000">
              <a:spcAft>
                <a:spcPts val="600"/>
              </a:spcAft>
              <a:buChar char="•"/>
              <a:defRPr sz="1725" b="0">
                <a:solidFill>
                  <a:srgbClr val="354F62"/>
                </a:solidFill>
                <a:latin typeface="Noto Sans"/>
                <a:ea typeface="Noto Sans"/>
                <a:cs typeface="Noto Sans"/>
              </a:defRPr>
            </a:pPr>
            <a:r>
              <a:rPr sz="1725" b="0">
                <a:solidFill>
                  <a:srgbClr val="354F62"/>
                </a:solidFill>
                <a:latin typeface="Noto Sans"/>
                <a:ea typeface="Noto Sans"/>
                <a:cs typeface="Noto Sans"/>
              </a:rPr>
              <a:t>Keeping that pathway makes exact shared-gate gain zero.</a:t>
            </a:r>
          </a:p>
          <a:p xmlns:a="http://schemas.openxmlformats.org/drawingml/2006/main">
            <a:pPr marL="241300" indent="-127000">
              <a:spcAft>
                <a:spcPts val="600"/>
              </a:spcAft>
              <a:buChar char="•"/>
              <a:defRPr sz="1725" b="0">
                <a:solidFill>
                  <a:srgbClr val="354F62"/>
                </a:solidFill>
                <a:latin typeface="Noto Sans"/>
                <a:ea typeface="Noto Sans"/>
                <a:cs typeface="Noto Sans"/>
              </a:defRPr>
            </a:pPr>
            <a:r>
              <a:rPr sz="1725" b="0">
                <a:solidFill>
                  <a:srgbClr val="354F62"/>
                </a:solidFill>
                <a:latin typeface="Noto Sans"/>
                <a:ea typeface="Noto Sans"/>
                <a:cs typeface="Noto Sans"/>
              </a:rPr>
              <a:t>Small negative fitted shared-gate gains reflect procedure costs, not negative information.</a:t>
            </a:r>
          </a:p>
        </p:txBody>
      </p:sp>
      <p:sp>
        <p:nvSpPr>
          <p:cNvPr id="5" name="Source exclusion in regime-gated forecasts">
            <a:extLst xmlns:a="http://schemas.openxmlformats.org/drawingml/2006/main">
              <a:ext uri="{FF2B5EF4-FFF2-40B4-BE49-F238E27FC236}">
                <a16:creationId xmlns:a16="http://schemas.microsoft.com/office/drawing/2014/main" id="{E37B8FAC-A338-47F4-8A74-14B01D46CC93}"/>
              </a:ext>
            </a:extLst>
          </p:cNvPr>
          <p:cNvSpPr>
            <a:spLocks xmlns:a="http://schemas.openxmlformats.org/drawingml/2006/main" noGrp="1"/>
          </p:cNvSpPr>
          <p:nvPr/>
        </p:nvSpPr>
        <p:spPr>
          <a:xfrm xmlns:a="http://schemas.openxmlformats.org/drawingml/2006/main">
            <a:off x="666750" y="6438900"/>
            <a:ext cx="10239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607D8B"/>
                </a:solidFill>
                <a:latin typeface="Noto Sans"/>
                <a:ea typeface="Noto Sans"/>
                <a:cs typeface="Noto Sans"/>
              </a:defRPr>
            </a:pPr>
            <a:r>
              <a:rPr sz="1200" b="0">
                <a:solidFill>
                  <a:srgbClr val="607D8B"/>
                </a:solidFill>
                <a:latin typeface="Noto Sans"/>
                <a:ea typeface="Noto Sans"/>
                <a:cs typeface="Noto Sans"/>
              </a:rPr>
              <a:t>Source exclusion in regime-gated forecasts</a:t>
            </a:r>
          </a:p>
        </p:txBody>
      </p:sp>
      <p:sp>
        <p:nvSpPr>
          <p:cNvPr id="6" name="08 / 10">
            <a:extLst xmlns:a="http://schemas.openxmlformats.org/drawingml/2006/main">
              <a:ext uri="{FF2B5EF4-FFF2-40B4-BE49-F238E27FC236}">
                <a16:creationId xmlns:a16="http://schemas.microsoft.com/office/drawing/2014/main" id="{15B9900C-E619-42AD-848C-B39141C0BB70}"/>
              </a:ext>
            </a:extLst>
          </p:cNvPr>
          <p:cNvSpPr>
            <a:spLocks xmlns:a="http://schemas.openxmlformats.org/drawingml/2006/main" noGrp="1"/>
          </p:cNvSpPr>
          <p:nvPr/>
        </p:nvSpPr>
        <p:spPr>
          <a:xfrm xmlns:a="http://schemas.openxmlformats.org/drawingml/2006/main">
            <a:off x="109537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b="0">
                <a:solidFill>
                  <a:srgbClr val="607D8B"/>
                </a:solidFill>
                <a:latin typeface="Noto Sans"/>
                <a:ea typeface="Noto Sans"/>
                <a:cs typeface="Noto Sans"/>
              </a:defRPr>
            </a:pPr>
            <a:r>
              <a:rPr sz="1200" b="0">
                <a:solidFill>
                  <a:srgbClr val="607D8B"/>
                </a:solidFill>
                <a:latin typeface="Noto Sans"/>
                <a:ea typeface="Noto Sans"/>
                <a:cs typeface="Noto Sans"/>
              </a:rPr>
              <a:t>08 / 10</a:t>
            </a:r>
          </a:p>
        </p:txBody>
      </p:sp>
    </p:spTree>
    <p:extLst>
      <p:ext uri="{BB962C8B-B14F-4D97-AF65-F5344CB8AC3E}">
        <p14:creationId xmlns:p14="http://schemas.microsoft.com/office/powerpoint/2010/main" val="148096474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An informative noisy source can still hurt fi">
            <a:extLst xmlns:a="http://schemas.openxmlformats.org/drawingml/2006/main">
              <a:ext uri="{FF2B5EF4-FFF2-40B4-BE49-F238E27FC236}">
                <a16:creationId xmlns:a16="http://schemas.microsoft.com/office/drawing/2014/main" id="{9062DF78-A704-40C6-8A23-71BCA4AA7B9B}"/>
              </a:ext>
            </a:extLst>
          </p:cNvPr>
          <p:cNvSpPr>
            <a:spLocks xmlns:a="http://schemas.openxmlformats.org/drawingml/2006/main" noGrp="1"/>
          </p:cNvSpPr>
          <p:nvPr/>
        </p:nvSpPr>
        <p:spPr>
          <a:xfrm xmlns:a="http://schemas.openxmlformats.org/drawingml/2006/main">
            <a:off x="666750" y="4191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02A43"/>
                </a:solidFill>
                <a:latin typeface="Noto Sans"/>
                <a:ea typeface="Noto Sans"/>
                <a:cs typeface="Noto Sans"/>
              </a:defRPr>
            </a:pPr>
            <a:r>
              <a:rPr sz="3300" b="1">
                <a:solidFill>
                  <a:srgbClr val="102A43"/>
                </a:solidFill>
                <a:latin typeface="Noto Sans"/>
                <a:ea typeface="Noto Sans"/>
                <a:cs typeface="Noto Sans"/>
              </a:rPr>
              <a:t>An informative noisy source can still hurt fitted HMMs</a:t>
            </a:r>
          </a:p>
        </p:txBody>
      </p:sp>
      <p:sp>
        <p:nvSpPr>
          <p:cNvPr id="2" name="Simulation: uncapped conditional squared-loss">
            <a:extLst xmlns:a="http://schemas.openxmlformats.org/drawingml/2006/main">
              <a:ext uri="{FF2B5EF4-FFF2-40B4-BE49-F238E27FC236}">
                <a16:creationId xmlns:a16="http://schemas.microsoft.com/office/drawing/2014/main" id="{2C68E8B0-02E2-4625-A221-A5BD909354DA}"/>
              </a:ext>
            </a:extLst>
          </p:cNvPr>
          <p:cNvSpPr>
            <a:spLocks xmlns:a="http://schemas.openxmlformats.org/drawingml/2006/main" noGrp="1"/>
          </p:cNvSpPr>
          <p:nvPr/>
        </p:nvSpPr>
        <p:spPr>
          <a:xfrm xmlns:a="http://schemas.openxmlformats.org/drawingml/2006/main">
            <a:off x="666750" y="16764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15A92"/>
                </a:solidFill>
                <a:latin typeface="Noto Sans"/>
                <a:ea typeface="Noto Sans"/>
                <a:cs typeface="Noto Sans"/>
              </a:defRPr>
            </a:pPr>
            <a:r>
              <a:rPr sz="2175" b="0">
                <a:solidFill>
                  <a:srgbClr val="215A92"/>
                </a:solidFill>
                <a:latin typeface="Noto Sans"/>
                <a:ea typeface="Noto Sans"/>
                <a:cs typeface="Noto Sans"/>
              </a:rPr>
              <a:t>Simulation: uncapped conditional squared-loss gains, in target-squared units; positive favors inclusion.</a:t>
            </a:r>
          </a:p>
        </p:txBody>
      </p:sp>
      <p:graphicFrame>
        <p:nvGraphicFramePr>
          <p:cNvPr id="9" name=""/>
          <p:cNvGraphicFramePr/>
          <p:nvPr/>
        </p:nvGraphicFramePr>
        <p:xfrm>
          <a:off xmlns:a="http://schemas.openxmlformats.org/drawingml/2006/main" x="666750" y="2514600"/>
          <a:ext xmlns:a="http://schemas.openxmlformats.org/drawingml/2006/main" cx="10858500" cy="2533650"/>
        </p:xfrm>
        <a:graphic xmlns:a="http://schemas.openxmlformats.org/drawingml/2006/main">
          <a:graphicData uri="http://schemas.openxmlformats.org/drawingml/2006/table">
            <a:tbl>
              <a:tblPr firstRow="1" bandRow="0"/>
              <a:tblGrid>
                <a:gridCol w="3160268"/>
                <a:gridCol w="2185528"/>
                <a:gridCol w="2716968"/>
                <a:gridCol w="2795737"/>
              </a:tblGrid>
              <a:tr h="476250">
                <a:tc>
                  <a:txBody>
                    <a:bodyPr/>
                    <a:lstStyle/>
                    <a:p>
                      <a:r>
                        <a:rPr sz="1650" b="1">
                          <a:solidFill>
                            <a:srgbClr val="FFFFFF"/>
                          </a:solidFill>
                          <a:latin typeface="Noto Sans"/>
                          <a:ea typeface="Noto Sans"/>
                          <a:cs typeface="Noto Sans"/>
                        </a:rPr>
                        <a:t>Source flip probability</a:t>
                      </a:r>
                    </a:p>
                  </a:txBody>
                  <a:tcPr marL="133350" marR="133350" marT="85725" marB="85725" anchor="ctr">
                    <a:solidFill>
                      <a:srgbClr val="102A43"/>
                    </a:solidFill>
                  </a:tcPr>
                </a:tc>
                <a:tc>
                  <a:txBody>
                    <a:bodyPr/>
                    <a:lstStyle/>
                    <a:p>
                      <a:r>
                        <a:rPr sz="1650" b="1">
                          <a:solidFill>
                            <a:srgbClr val="FFFFFF"/>
                          </a:solidFill>
                          <a:latin typeface="Noto Sans"/>
                          <a:ea typeface="Noto Sans"/>
                          <a:cs typeface="Noto Sans"/>
                        </a:rPr>
                        <a:t>Oracle gain</a:t>
                      </a:r>
                    </a:p>
                  </a:txBody>
                  <a:tcPr marL="133350" marR="133350" marT="85725" marB="85725" anchor="ctr">
                    <a:solidFill>
                      <a:srgbClr val="102A43"/>
                    </a:solidFill>
                  </a:tcPr>
                </a:tc>
                <a:tc>
                  <a:txBody>
                    <a:bodyPr/>
                    <a:lstStyle/>
                    <a:p>
                      <a:r>
                        <a:rPr sz="1650" b="1">
                          <a:solidFill>
                            <a:srgbClr val="FFFFFF"/>
                          </a:solidFill>
                          <a:latin typeface="Noto Sans"/>
                          <a:ea typeface="Noto Sans"/>
                          <a:cs typeface="Noto Sans"/>
                        </a:rPr>
                        <a:t>Gaussian-HMM gain</a:t>
                      </a:r>
                    </a:p>
                  </a:txBody>
                  <a:tcPr marL="133350" marR="133350" marT="85725" marB="85725" anchor="ctr">
                    <a:solidFill>
                      <a:srgbClr val="102A43"/>
                    </a:solidFill>
                  </a:tcPr>
                </a:tc>
                <a:tc>
                  <a:txBody>
                    <a:bodyPr/>
                    <a:lstStyle/>
                    <a:p>
                      <a:r>
                        <a:rPr sz="1650" b="1">
                          <a:solidFill>
                            <a:srgbClr val="FFFFFF"/>
                          </a:solidFill>
                          <a:latin typeface="Noto Sans"/>
                          <a:ea typeface="Noto Sans"/>
                          <a:cs typeface="Noto Sans"/>
                        </a:rPr>
                        <a:t>Student-t-HMM gain</a:t>
                      </a:r>
                    </a:p>
                  </a:txBody>
                  <a:tcPr marL="133350" marR="133350" marT="85725" marB="85725" anchor="ctr">
                    <a:solidFill>
                      <a:srgbClr val="102A43"/>
                    </a:solidFill>
                  </a:tcPr>
                </a:tc>
              </a:tr>
              <a:tr h="514350">
                <a:tc>
                  <a:txBody>
                    <a:bodyPr/>
                    <a:lstStyle/>
                    <a:p>
                      <a:r>
                        <a:rPr sz="1650" b="0">
                          <a:solidFill>
                            <a:srgbClr val="354F62"/>
                          </a:solidFill>
                          <a:latin typeface="Noto Sans"/>
                          <a:ea typeface="Noto Sans"/>
                          <a:cs typeface="Noto Sans"/>
                        </a:rPr>
                        <a:t>0.0</a:t>
                      </a:r>
                    </a:p>
                  </a:txBody>
                  <a:tcPr marL="133350" marR="133350" marT="85725" marB="85725" anchor="ctr">
                    <a:solidFill>
                      <a:srgbClr val="FFFFFF"/>
                    </a:solidFill>
                  </a:tcPr>
                </a:tc>
                <a:tc>
                  <a:txBody>
                    <a:bodyPr/>
                    <a:lstStyle/>
                    <a:p>
                      <a:r>
                        <a:rPr sz="1650" b="0">
                          <a:solidFill>
                            <a:srgbClr val="354F62"/>
                          </a:solidFill>
                          <a:latin typeface="Noto Sans"/>
                          <a:ea typeface="Noto Sans"/>
                          <a:cs typeface="Noto Sans"/>
                        </a:rPr>
                        <a:t>0.1336</a:t>
                      </a:r>
                    </a:p>
                  </a:txBody>
                  <a:tcPr marL="133350" marR="133350" marT="85725" marB="85725" anchor="ctr">
                    <a:solidFill>
                      <a:srgbClr val="FFFFFF"/>
                    </a:solidFill>
                  </a:tcPr>
                </a:tc>
                <a:tc>
                  <a:txBody>
                    <a:bodyPr/>
                    <a:lstStyle/>
                    <a:p>
                      <a:r>
                        <a:rPr sz="1650" b="0">
                          <a:solidFill>
                            <a:srgbClr val="354F62"/>
                          </a:solidFill>
                          <a:latin typeface="Noto Sans"/>
                          <a:ea typeface="Noto Sans"/>
                          <a:cs typeface="Noto Sans"/>
                        </a:rPr>
                        <a:t>0.1386</a:t>
                      </a:r>
                    </a:p>
                  </a:txBody>
                  <a:tcPr marL="133350" marR="133350" marT="85725" marB="85725" anchor="ctr">
                    <a:solidFill>
                      <a:srgbClr val="FFFFFF"/>
                    </a:solidFill>
                  </a:tcPr>
                </a:tc>
                <a:tc>
                  <a:txBody>
                    <a:bodyPr/>
                    <a:lstStyle/>
                    <a:p>
                      <a:r>
                        <a:rPr sz="1650" b="0">
                          <a:solidFill>
                            <a:srgbClr val="354F62"/>
                          </a:solidFill>
                          <a:latin typeface="Noto Sans"/>
                          <a:ea typeface="Noto Sans"/>
                          <a:cs typeface="Noto Sans"/>
                        </a:rPr>
                        <a:t>0.1419</a:t>
                      </a:r>
                    </a:p>
                  </a:txBody>
                  <a:tcPr marL="133350" marR="133350" marT="85725" marB="85725" anchor="ctr">
                    <a:solidFill>
                      <a:srgbClr val="FFFFFF"/>
                    </a:solidFill>
                  </a:tcPr>
                </a:tc>
              </a:tr>
              <a:tr h="514350">
                <a:tc>
                  <a:txBody>
                    <a:bodyPr/>
                    <a:lstStyle/>
                    <a:p>
                      <a:r>
                        <a:rPr sz="1650" b="0">
                          <a:solidFill>
                            <a:srgbClr val="354F62"/>
                          </a:solidFill>
                          <a:latin typeface="Noto Sans"/>
                          <a:ea typeface="Noto Sans"/>
                          <a:cs typeface="Noto Sans"/>
                        </a:rPr>
                        <a:t>0.1</a:t>
                      </a:r>
                    </a:p>
                  </a:txBody>
                  <a:tcPr marL="133350" marR="133350" marT="85725" marB="85725" anchor="ctr">
                    <a:solidFill>
                      <a:srgbClr val="F1F6F8"/>
                    </a:solidFill>
                  </a:tcPr>
                </a:tc>
                <a:tc>
                  <a:txBody>
                    <a:bodyPr/>
                    <a:lstStyle/>
                    <a:p>
                      <a:r>
                        <a:rPr sz="1650" b="0">
                          <a:solidFill>
                            <a:srgbClr val="354F62"/>
                          </a:solidFill>
                          <a:latin typeface="Noto Sans"/>
                          <a:ea typeface="Noto Sans"/>
                          <a:cs typeface="Noto Sans"/>
                        </a:rPr>
                        <a:t>0.0708</a:t>
                      </a:r>
                    </a:p>
                  </a:txBody>
                  <a:tcPr marL="133350" marR="133350" marT="85725" marB="85725" anchor="ctr">
                    <a:solidFill>
                      <a:srgbClr val="F1F6F8"/>
                    </a:solidFill>
                  </a:tcPr>
                </a:tc>
                <a:tc>
                  <a:txBody>
                    <a:bodyPr/>
                    <a:lstStyle/>
                    <a:p>
                      <a:r>
                        <a:rPr sz="1650" b="0">
                          <a:solidFill>
                            <a:srgbClr val="354F62"/>
                          </a:solidFill>
                          <a:latin typeface="Noto Sans"/>
                          <a:ea typeface="Noto Sans"/>
                          <a:cs typeface="Noto Sans"/>
                        </a:rPr>
                        <a:t>−0.0494</a:t>
                      </a:r>
                    </a:p>
                  </a:txBody>
                  <a:tcPr marL="133350" marR="133350" marT="85725" marB="85725" anchor="ctr">
                    <a:solidFill>
                      <a:srgbClr val="F1F6F8"/>
                    </a:solidFill>
                  </a:tcPr>
                </a:tc>
                <a:tc>
                  <a:txBody>
                    <a:bodyPr/>
                    <a:lstStyle/>
                    <a:p>
                      <a:r>
                        <a:rPr sz="1650" b="0">
                          <a:solidFill>
                            <a:srgbClr val="354F62"/>
                          </a:solidFill>
                          <a:latin typeface="Noto Sans"/>
                          <a:ea typeface="Noto Sans"/>
                          <a:cs typeface="Noto Sans"/>
                        </a:rPr>
                        <a:t>−0.0486</a:t>
                      </a:r>
                    </a:p>
                  </a:txBody>
                  <a:tcPr marL="133350" marR="133350" marT="85725" marB="85725" anchor="ctr">
                    <a:solidFill>
                      <a:srgbClr val="F1F6F8"/>
                    </a:solidFill>
                  </a:tcPr>
                </a:tc>
              </a:tr>
              <a:tr h="514350">
                <a:tc>
                  <a:txBody>
                    <a:bodyPr/>
                    <a:lstStyle/>
                    <a:p>
                      <a:r>
                        <a:rPr sz="1650" b="0">
                          <a:solidFill>
                            <a:srgbClr val="354F62"/>
                          </a:solidFill>
                          <a:latin typeface="Noto Sans"/>
                          <a:ea typeface="Noto Sans"/>
                          <a:cs typeface="Noto Sans"/>
                        </a:rPr>
                        <a:t>0.3</a:t>
                      </a:r>
                    </a:p>
                  </a:txBody>
                  <a:tcPr marL="133350" marR="133350" marT="85725" marB="85725" anchor="ctr">
                    <a:solidFill>
                      <a:srgbClr val="FFFFFF"/>
                    </a:solidFill>
                  </a:tcPr>
                </a:tc>
                <a:tc>
                  <a:txBody>
                    <a:bodyPr/>
                    <a:lstStyle/>
                    <a:p>
                      <a:r>
                        <a:rPr sz="1650" b="0">
                          <a:solidFill>
                            <a:srgbClr val="354F62"/>
                          </a:solidFill>
                          <a:latin typeface="Noto Sans"/>
                          <a:ea typeface="Noto Sans"/>
                          <a:cs typeface="Noto Sans"/>
                        </a:rPr>
                        <a:t>0.0174</a:t>
                      </a:r>
                    </a:p>
                  </a:txBody>
                  <a:tcPr marL="133350" marR="133350" marT="85725" marB="85725" anchor="ctr">
                    <a:solidFill>
                      <a:srgbClr val="FFFFFF"/>
                    </a:solidFill>
                  </a:tcPr>
                </a:tc>
                <a:tc>
                  <a:txBody>
                    <a:bodyPr/>
                    <a:lstStyle/>
                    <a:p>
                      <a:r>
                        <a:rPr sz="1650" b="0">
                          <a:solidFill>
                            <a:srgbClr val="354F62"/>
                          </a:solidFill>
                          <a:latin typeface="Noto Sans"/>
                          <a:ea typeface="Noto Sans"/>
                          <a:cs typeface="Noto Sans"/>
                        </a:rPr>
                        <a:t>−0.0216</a:t>
                      </a:r>
                    </a:p>
                  </a:txBody>
                  <a:tcPr marL="133350" marR="133350" marT="85725" marB="85725" anchor="ctr">
                    <a:solidFill>
                      <a:srgbClr val="FFFFFF"/>
                    </a:solidFill>
                  </a:tcPr>
                </a:tc>
                <a:tc>
                  <a:txBody>
                    <a:bodyPr/>
                    <a:lstStyle/>
                    <a:p>
                      <a:r>
                        <a:rPr sz="1650" b="0">
                          <a:solidFill>
                            <a:srgbClr val="354F62"/>
                          </a:solidFill>
                          <a:latin typeface="Noto Sans"/>
                          <a:ea typeface="Noto Sans"/>
                          <a:cs typeface="Noto Sans"/>
                        </a:rPr>
                        <a:t>−0.0327</a:t>
                      </a:r>
                    </a:p>
                  </a:txBody>
                  <a:tcPr marL="133350" marR="133350" marT="85725" marB="85725" anchor="ctr">
                    <a:solidFill>
                      <a:srgbClr val="FFFFFF"/>
                    </a:solidFill>
                  </a:tcPr>
                </a:tc>
              </a:tr>
              <a:tr h="514350">
                <a:tc>
                  <a:txBody>
                    <a:bodyPr/>
                    <a:lstStyle/>
                    <a:p>
                      <a:r>
                        <a:rPr sz="1650" b="0">
                          <a:solidFill>
                            <a:srgbClr val="354F62"/>
                          </a:solidFill>
                          <a:latin typeface="Noto Sans"/>
                          <a:ea typeface="Noto Sans"/>
                          <a:cs typeface="Noto Sans"/>
                        </a:rPr>
                        <a:t>0.5</a:t>
                      </a:r>
                    </a:p>
                  </a:txBody>
                  <a:tcPr marL="133350" marR="133350" marT="85725" marB="85725" anchor="ctr">
                    <a:solidFill>
                      <a:srgbClr val="F1F6F8"/>
                    </a:solidFill>
                  </a:tcPr>
                </a:tc>
                <a:tc>
                  <a:txBody>
                    <a:bodyPr/>
                    <a:lstStyle/>
                    <a:p>
                      <a:r>
                        <a:rPr sz="1650" b="0">
                          <a:solidFill>
                            <a:srgbClr val="354F62"/>
                          </a:solidFill>
                          <a:latin typeface="Noto Sans"/>
                          <a:ea typeface="Noto Sans"/>
                          <a:cs typeface="Noto Sans"/>
                        </a:rPr>
                        <a:t>0.0000</a:t>
                      </a:r>
                    </a:p>
                  </a:txBody>
                  <a:tcPr marL="133350" marR="133350" marT="85725" marB="85725" anchor="ctr">
                    <a:solidFill>
                      <a:srgbClr val="F1F6F8"/>
                    </a:solidFill>
                  </a:tcPr>
                </a:tc>
                <a:tc>
                  <a:txBody>
                    <a:bodyPr/>
                    <a:lstStyle/>
                    <a:p>
                      <a:r>
                        <a:rPr sz="1650" b="0">
                          <a:solidFill>
                            <a:srgbClr val="354F62"/>
                          </a:solidFill>
                          <a:latin typeface="Noto Sans"/>
                          <a:ea typeface="Noto Sans"/>
                          <a:cs typeface="Noto Sans"/>
                        </a:rPr>
                        <a:t>−0.0336</a:t>
                      </a:r>
                    </a:p>
                  </a:txBody>
                  <a:tcPr marL="133350" marR="133350" marT="85725" marB="85725" anchor="ctr">
                    <a:solidFill>
                      <a:srgbClr val="F1F6F8"/>
                    </a:solidFill>
                  </a:tcPr>
                </a:tc>
                <a:tc>
                  <a:txBody>
                    <a:bodyPr/>
                    <a:lstStyle/>
                    <a:p>
                      <a:r>
                        <a:rPr sz="1650" b="0">
                          <a:solidFill>
                            <a:srgbClr val="354F62"/>
                          </a:solidFill>
                          <a:latin typeface="Noto Sans"/>
                          <a:ea typeface="Noto Sans"/>
                          <a:cs typeface="Noto Sans"/>
                        </a:rPr>
                        <a:t>−0.0446</a:t>
                      </a:r>
                    </a:p>
                  </a:txBody>
                  <a:tcPr marL="133350" marR="133350" marT="85725" marB="85725" anchor="ctr">
                    <a:solidFill>
                      <a:srgbClr val="F1F6F8"/>
                    </a:solidFill>
                  </a:tcPr>
                </a:tc>
              </a:tr>
            </a:tbl>
          </a:graphicData>
        </a:graphic>
      </p:graphicFrame>
      <p:sp>
        <p:nvSpPr>
          <p:cNvPr id="4" name="">
            <a:extLst xmlns:a="http://schemas.openxmlformats.org/drawingml/2006/main">
              <a:ext uri="{FF2B5EF4-FFF2-40B4-BE49-F238E27FC236}">
                <a16:creationId xmlns:a16="http://schemas.microsoft.com/office/drawing/2014/main" id="{76235502-6413-4B53-B84F-02E7F8B7536D}"/>
              </a:ext>
            </a:extLst>
          </p:cNvPr>
          <p:cNvSpPr>
            <a:spLocks xmlns:a="http://schemas.openxmlformats.org/drawingml/2006/main" noGrp="1"/>
          </p:cNvSpPr>
          <p:nvPr/>
        </p:nvSpPr>
        <p:spPr>
          <a:xfrm xmlns:a="http://schemas.openxmlformats.org/drawingml/2006/main">
            <a:off x="666750" y="5219700"/>
            <a:ext cx="108585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marL="241300" indent="-127000">
              <a:spcAft>
                <a:spcPts val="600"/>
              </a:spcAft>
              <a:buChar char="•"/>
              <a:defRPr sz="1725" b="0">
                <a:solidFill>
                  <a:srgbClr val="354F62"/>
                </a:solidFill>
                <a:latin typeface="Noto Sans"/>
                <a:ea typeface="Noto Sans"/>
                <a:cs typeface="Noto Sans"/>
              </a:defRPr>
            </a:pPr>
            <a:r>
              <a:rPr sz="1725" b="0">
                <a:solidFill>
                  <a:srgbClr val="354F62"/>
                </a:solidFill>
                <a:latin typeface="Noto Sans"/>
                <a:ea typeface="Noto Sans"/>
                <a:cs typeface="Noto Sans"/>
              </a:rPr>
              <a:t>100 independent seeds per noise level; seeds are paired across levels.</a:t>
            </a:r>
          </a:p>
          <a:p xmlns:a="http://schemas.openxmlformats.org/drawingml/2006/main">
            <a:pPr marL="241300" indent="-127000">
              <a:spcAft>
                <a:spcPts val="600"/>
              </a:spcAft>
              <a:buChar char="•"/>
              <a:defRPr sz="1725" b="0">
                <a:solidFill>
                  <a:srgbClr val="354F62"/>
                </a:solidFill>
                <a:latin typeface="Noto Sans"/>
                <a:ea typeface="Noto Sans"/>
                <a:cs typeface="Noto Sans"/>
              </a:defRPr>
            </a:pPr>
            <a:r>
              <a:rPr sz="1725" b="0">
                <a:solidFill>
                  <a:srgbClr val="354F62"/>
                </a:solidFill>
                <a:latin typeface="Noto Sans"/>
                <a:ea typeface="Noto Sans"/>
                <a:cs typeface="Noto Sans"/>
              </a:rPr>
              <a:t>Combined approximation, estimation, optimization, and tuning costs can outweigh information value.</a:t>
            </a:r>
          </a:p>
        </p:txBody>
      </p:sp>
      <p:sp>
        <p:nvSpPr>
          <p:cNvPr id="5" name="Source exclusion in regime-gated forecasts">
            <a:extLst xmlns:a="http://schemas.openxmlformats.org/drawingml/2006/main">
              <a:ext uri="{FF2B5EF4-FFF2-40B4-BE49-F238E27FC236}">
                <a16:creationId xmlns:a16="http://schemas.microsoft.com/office/drawing/2014/main" id="{088C5A12-5CFF-4264-9C2B-DC608F6CF3F3}"/>
              </a:ext>
            </a:extLst>
          </p:cNvPr>
          <p:cNvSpPr>
            <a:spLocks xmlns:a="http://schemas.openxmlformats.org/drawingml/2006/main" noGrp="1"/>
          </p:cNvSpPr>
          <p:nvPr/>
        </p:nvSpPr>
        <p:spPr>
          <a:xfrm xmlns:a="http://schemas.openxmlformats.org/drawingml/2006/main">
            <a:off x="666750" y="6438900"/>
            <a:ext cx="10239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607D8B"/>
                </a:solidFill>
                <a:latin typeface="Noto Sans"/>
                <a:ea typeface="Noto Sans"/>
                <a:cs typeface="Noto Sans"/>
              </a:defRPr>
            </a:pPr>
            <a:r>
              <a:rPr sz="1200" b="0">
                <a:solidFill>
                  <a:srgbClr val="607D8B"/>
                </a:solidFill>
                <a:latin typeface="Noto Sans"/>
                <a:ea typeface="Noto Sans"/>
                <a:cs typeface="Noto Sans"/>
              </a:rPr>
              <a:t>Source exclusion in regime-gated forecasts</a:t>
            </a:r>
          </a:p>
        </p:txBody>
      </p:sp>
      <p:sp>
        <p:nvSpPr>
          <p:cNvPr id="6" name="09 / 10">
            <a:extLst xmlns:a="http://schemas.openxmlformats.org/drawingml/2006/main">
              <a:ext uri="{FF2B5EF4-FFF2-40B4-BE49-F238E27FC236}">
                <a16:creationId xmlns:a16="http://schemas.microsoft.com/office/drawing/2014/main" id="{63268D93-F3B9-4829-A10F-7A17970550E3}"/>
              </a:ext>
            </a:extLst>
          </p:cNvPr>
          <p:cNvSpPr>
            <a:spLocks xmlns:a="http://schemas.openxmlformats.org/drawingml/2006/main" noGrp="1"/>
          </p:cNvSpPr>
          <p:nvPr/>
        </p:nvSpPr>
        <p:spPr>
          <a:xfrm xmlns:a="http://schemas.openxmlformats.org/drawingml/2006/main">
            <a:off x="109537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b="0">
                <a:solidFill>
                  <a:srgbClr val="607D8B"/>
                </a:solidFill>
                <a:latin typeface="Noto Sans"/>
                <a:ea typeface="Noto Sans"/>
                <a:cs typeface="Noto Sans"/>
              </a:defRPr>
            </a:pPr>
            <a:r>
              <a:rPr sz="1200" b="0">
                <a:solidFill>
                  <a:srgbClr val="607D8B"/>
                </a:solidFill>
                <a:latin typeface="Noto Sans"/>
                <a:ea typeface="Noto Sans"/>
                <a:cs typeface="Noto Sans"/>
              </a:rPr>
              <a:t>09 / 10</a:t>
            </a:r>
          </a:p>
        </p:txBody>
      </p:sp>
    </p:spTree>
    <p:extLst>
      <p:ext uri="{BB962C8B-B14F-4D97-AF65-F5344CB8AC3E}">
        <p14:creationId xmlns:p14="http://schemas.microsoft.com/office/powerpoint/2010/main" val="145967850"/>
      </p:ext>
    </p:extLst>
  </p:cSld>
</p:sld>
</file>

<file path=ppt/slides/slide10.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7" name="Information paths and inference targets">
            <a:extLst xmlns:a="http://schemas.openxmlformats.org/drawingml/2006/main">
              <a:ext uri="{FF2B5EF4-FFF2-40B4-BE49-F238E27FC236}">
                <a16:creationId xmlns:a16="http://schemas.microsoft.com/office/drawing/2014/main" id="{979FAF8B-8D8D-42F3-B374-E32013E240D4}"/>
              </a:ext>
            </a:extLst>
          </p:cNvPr>
          <p:cNvSpPr>
            <a:spLocks xmlns:a="http://schemas.openxmlformats.org/drawingml/2006/main" noGrp="1"/>
          </p:cNvSpPr>
          <p:nvPr/>
        </p:nvSpPr>
        <p:spPr>
          <a:xfrm xmlns:a="http://schemas.openxmlformats.org/drawingml/2006/main">
            <a:off x="666750" y="476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FFFFFF"/>
                </a:solidFill>
                <a:latin typeface="Noto Sans"/>
                <a:ea typeface="Noto Sans"/>
                <a:cs typeface="Noto Sans"/>
              </a:defRPr>
            </a:pPr>
            <a:r>
              <a:rPr sz="3300" b="1">
                <a:solidFill>
                  <a:srgbClr val="FFFFFF"/>
                </a:solidFill>
                <a:latin typeface="Noto Sans"/>
                <a:ea typeface="Noto Sans"/>
                <a:cs typeface="Noto Sans"/>
              </a:rPr>
              <a:t>Information paths and inference targets</a:t>
            </a:r>
          </a:p>
        </p:txBody>
      </p:sp>
      <p:sp>
        <p:nvSpPr>
          <p:cNvPr id="2" name="The supported contribution is a reproducible ">
            <a:extLst xmlns:a="http://schemas.openxmlformats.org/drawingml/2006/main">
              <a:ext uri="{FF2B5EF4-FFF2-40B4-BE49-F238E27FC236}">
                <a16:creationId xmlns:a16="http://schemas.microsoft.com/office/drawing/2014/main" id="{DACEFCAE-62CE-4C71-9494-BAFF3F2C272B}"/>
              </a:ext>
            </a:extLst>
          </p:cNvPr>
          <p:cNvSpPr>
            <a:spLocks xmlns:a="http://schemas.openxmlformats.org/drawingml/2006/main" noGrp="1"/>
          </p:cNvSpPr>
          <p:nvPr/>
        </p:nvSpPr>
        <p:spPr>
          <a:xfrm xmlns:a="http://schemas.openxmlformats.org/drawingml/2006/main">
            <a:off x="666750" y="1762125"/>
            <a:ext cx="1062037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B8E2DF"/>
                </a:solidFill>
                <a:latin typeface="Noto Sans"/>
                <a:ea typeface="Noto Sans"/>
                <a:cs typeface="Noto Sans"/>
              </a:defRPr>
            </a:pPr>
            <a:r>
              <a:rPr sz="3150" b="1">
                <a:solidFill>
                  <a:srgbClr val="B8E2DF"/>
                </a:solidFill>
                <a:latin typeface="Noto Sans"/>
                <a:ea typeface="Noto Sans"/>
                <a:cs typeface="Noto Sans"/>
              </a:rPr>
              <a:t>The supported contribution is a reproducible procedure audit, not a validated warning system.</a:t>
            </a:r>
          </a:p>
        </p:txBody>
      </p:sp>
      <p:sp>
        <p:nvSpPr>
          <p:cNvPr id="3" name="">
            <a:extLst xmlns:a="http://schemas.openxmlformats.org/drawingml/2006/main">
              <a:ext uri="{FF2B5EF4-FFF2-40B4-BE49-F238E27FC236}">
                <a16:creationId xmlns:a16="http://schemas.microsoft.com/office/drawing/2014/main" id="{1493ACB5-E66D-400E-8F00-65FF81CB72AA}"/>
              </a:ext>
            </a:extLst>
          </p:cNvPr>
          <p:cNvSpPr>
            <a:spLocks xmlns:a="http://schemas.openxmlformats.org/drawingml/2006/main" noGrp="1"/>
          </p:cNvSpPr>
          <p:nvPr/>
        </p:nvSpPr>
        <p:spPr>
          <a:xfrm xmlns:a="http://schemas.openxmlformats.org/drawingml/2006/main">
            <a:off x="666750" y="3838575"/>
            <a:ext cx="10668000"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marL="241300" indent="-127000">
              <a:spcAft>
                <a:spcPts val="1400"/>
              </a:spcAft>
              <a:buChar char="•"/>
              <a:defRPr sz="2025" b="0">
                <a:solidFill>
                  <a:srgbClr val="FFFFFF"/>
                </a:solidFill>
                <a:latin typeface="Noto Sans"/>
                <a:ea typeface="Noto Sans"/>
                <a:cs typeface="Noto Sans"/>
              </a:defRPr>
            </a:pPr>
            <a:r>
              <a:rPr sz="2025" b="0">
                <a:solidFill>
                  <a:srgbClr val="FFFFFF"/>
                </a:solidFill>
                <a:latin typeface="Noto Sans"/>
                <a:ea typeface="Noto Sans"/>
                <a:cs typeface="Noto Sans"/>
              </a:rPr>
              <a:t>Specify whether the source is removed from lags, the gate, or the entire pipeline.</a:t>
            </a:r>
          </a:p>
          <a:p xmlns:a="http://schemas.openxmlformats.org/drawingml/2006/main">
            <a:pPr marL="241300" indent="-127000">
              <a:spcAft>
                <a:spcPts val="1400"/>
              </a:spcAft>
              <a:buChar char="•"/>
              <a:defRPr sz="2025" b="0">
                <a:solidFill>
                  <a:srgbClr val="FFFFFF"/>
                </a:solidFill>
                <a:latin typeface="Noto Sans"/>
                <a:ea typeface="Noto Sans"/>
                <a:cs typeface="Noto Sans"/>
              </a:defRPr>
            </a:pPr>
            <a:r>
              <a:rPr sz="2025" b="0">
                <a:solidFill>
                  <a:srgbClr val="FFFFFF"/>
                </a:solidFill>
                <a:latin typeface="Noto Sans"/>
                <a:ea typeface="Noto Sans"/>
                <a:cs typeface="Noto Sans"/>
              </a:rPr>
              <a:t>Keep information value separate from fitted-model performance.</a:t>
            </a:r>
          </a:p>
          <a:p xmlns:a="http://schemas.openxmlformats.org/drawingml/2006/main">
            <a:pPr marL="241300" indent="-127000">
              <a:spcAft>
                <a:spcPts val="1400"/>
              </a:spcAft>
              <a:buChar char="•"/>
              <a:defRPr sz="2025" b="0">
                <a:solidFill>
                  <a:srgbClr val="FFFFFF"/>
                </a:solidFill>
                <a:latin typeface="Noto Sans"/>
                <a:ea typeface="Noto Sans"/>
                <a:cs typeface="Noto Sans"/>
              </a:defRPr>
            </a:pPr>
            <a:r>
              <a:rPr sz="2025" b="0">
                <a:solidFill>
                  <a:srgbClr val="FFFFFF"/>
                </a:solidFill>
                <a:latin typeface="Noto Sans"/>
                <a:ea typeface="Noto Sans"/>
                <a:cs typeface="Noto Sans"/>
              </a:rPr>
              <a:t>Report complete families, uncertainty, and discrepancy magnitudes.</a:t>
            </a:r>
          </a:p>
          <a:p xmlns:a="http://schemas.openxmlformats.org/drawingml/2006/main">
            <a:pPr marL="241300" indent="-127000">
              <a:spcAft>
                <a:spcPts val="1400"/>
              </a:spcAft>
              <a:buChar char="•"/>
              <a:defRPr sz="2025" b="0">
                <a:solidFill>
                  <a:srgbClr val="FFFFFF"/>
                </a:solidFill>
                <a:latin typeface="Noto Sans"/>
                <a:ea typeface="Noto Sans"/>
                <a:cs typeface="Noto Sans"/>
              </a:defRPr>
            </a:pPr>
            <a:r>
              <a:rPr sz="2025" b="0">
                <a:solidFill>
                  <a:srgbClr val="FFFFFF"/>
                </a:solidFill>
                <a:latin typeface="Noto Sans"/>
                <a:ea typeface="Noto Sans"/>
                <a:cs typeface="Noto Sans"/>
              </a:rPr>
              <a:t>Capped-loss evidence does not establish ordinary-MSE coverage or trading value.</a:t>
            </a:r>
          </a:p>
        </p:txBody>
      </p:sp>
      <p:sp>
        <p:nvSpPr>
          <p:cNvPr id="4" name="Source: github.com/ChorokLeeDev/regime-predic">
            <a:extLst xmlns:a="http://schemas.openxmlformats.org/drawingml/2006/main">
              <a:ext uri="{FF2B5EF4-FFF2-40B4-BE49-F238E27FC236}">
                <a16:creationId xmlns:a16="http://schemas.microsoft.com/office/drawing/2014/main" id="{158AF586-DF50-44D8-9BF8-3B58749B8D01}"/>
              </a:ext>
            </a:extLst>
          </p:cNvPr>
          <p:cNvSpPr>
            <a:spLocks xmlns:a="http://schemas.openxmlformats.org/drawingml/2006/main" noGrp="1"/>
          </p:cNvSpPr>
          <p:nvPr/>
        </p:nvSpPr>
        <p:spPr>
          <a:xfrm xmlns:a="http://schemas.openxmlformats.org/drawingml/2006/main">
            <a:off x="666750" y="60198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B8CCD8"/>
                </a:solidFill>
                <a:latin typeface="Noto Sans"/>
                <a:ea typeface="Noto Sans"/>
                <a:cs typeface="Noto Sans"/>
              </a:defRPr>
            </a:pPr>
            <a:r>
              <a:rPr sz="1350" b="0">
                <a:solidFill>
                  <a:srgbClr val="B8CCD8"/>
                </a:solidFill>
                <a:latin typeface="Noto Sans"/>
                <a:ea typeface="Noto Sans"/>
                <a:cs typeface="Noto Sans"/>
              </a:rPr>
              <a:t>Source: github.com/ChorokLeeDev/regime-predictability-revision</a:t>
            </a:r>
          </a:p>
        </p:txBody>
      </p:sp>
      <p:sp>
        <p:nvSpPr>
          <p:cNvPr id="5" name="Source exclusion in regime-gated forecasts">
            <a:extLst xmlns:a="http://schemas.openxmlformats.org/drawingml/2006/main">
              <a:ext uri="{FF2B5EF4-FFF2-40B4-BE49-F238E27FC236}">
                <a16:creationId xmlns:a16="http://schemas.microsoft.com/office/drawing/2014/main" id="{29E29582-35A9-446B-ADBF-AA5E8D442969}"/>
              </a:ext>
            </a:extLst>
          </p:cNvPr>
          <p:cNvSpPr>
            <a:spLocks xmlns:a="http://schemas.openxmlformats.org/drawingml/2006/main" noGrp="1"/>
          </p:cNvSpPr>
          <p:nvPr/>
        </p:nvSpPr>
        <p:spPr>
          <a:xfrm xmlns:a="http://schemas.openxmlformats.org/drawingml/2006/main">
            <a:off x="666750" y="6438900"/>
            <a:ext cx="10239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B8CCD8"/>
                </a:solidFill>
                <a:latin typeface="Noto Sans"/>
                <a:ea typeface="Noto Sans"/>
                <a:cs typeface="Noto Sans"/>
              </a:defRPr>
            </a:pPr>
            <a:r>
              <a:rPr sz="1200" b="0">
                <a:solidFill>
                  <a:srgbClr val="B8CCD8"/>
                </a:solidFill>
                <a:latin typeface="Noto Sans"/>
                <a:ea typeface="Noto Sans"/>
                <a:cs typeface="Noto Sans"/>
              </a:rPr>
              <a:t>Source exclusion in regime-gated forecasts</a:t>
            </a:r>
          </a:p>
        </p:txBody>
      </p:sp>
      <p:sp>
        <p:nvSpPr>
          <p:cNvPr id="6" name="10 / 10">
            <a:extLst xmlns:a="http://schemas.openxmlformats.org/drawingml/2006/main">
              <a:ext uri="{FF2B5EF4-FFF2-40B4-BE49-F238E27FC236}">
                <a16:creationId xmlns:a16="http://schemas.microsoft.com/office/drawing/2014/main" id="{27BA92E2-B4F6-4365-9DC5-0E2DA305D866}"/>
              </a:ext>
            </a:extLst>
          </p:cNvPr>
          <p:cNvSpPr>
            <a:spLocks xmlns:a="http://schemas.openxmlformats.org/drawingml/2006/main" noGrp="1"/>
          </p:cNvSpPr>
          <p:nvPr/>
        </p:nvSpPr>
        <p:spPr>
          <a:xfrm xmlns:a="http://schemas.openxmlformats.org/drawingml/2006/main">
            <a:off x="109537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b="0">
                <a:solidFill>
                  <a:srgbClr val="B8CCD8"/>
                </a:solidFill>
                <a:latin typeface="Noto Sans"/>
                <a:ea typeface="Noto Sans"/>
                <a:cs typeface="Noto Sans"/>
              </a:defRPr>
            </a:pPr>
            <a:r>
              <a:rPr sz="1200" b="0">
                <a:solidFill>
                  <a:srgbClr val="B8CCD8"/>
                </a:solidFill>
                <a:latin typeface="Noto Sans"/>
                <a:ea typeface="Noto Sans"/>
                <a:cs typeface="Noto Sans"/>
              </a:rPr>
              <a:t>10 / 10</a:t>
            </a:r>
          </a:p>
        </p:txBody>
      </p:sp>
    </p:spTree>
    <p:extLst>
      <p:ext uri="{BB962C8B-B14F-4D97-AF65-F5344CB8AC3E}">
        <p14:creationId xmlns:p14="http://schemas.microsoft.com/office/powerpoint/2010/main" val="90830945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2026-09-29T06:11:25.1150000Z</dcterms:created>
  <dcterms:modified xsi:type="dcterms:W3CDTF">2026-09-29T06:11:25.1150000Z</dcterms:modified>
</coreProperties>
</file>