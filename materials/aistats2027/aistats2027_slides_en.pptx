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a0e9d93c394b62" /><Relationship Type="http://schemas.openxmlformats.org/officeDocument/2006/relationships/extended-properties" Target="/docProps/app.xml" Id="R8e79e52e31b441a9" /><Relationship Type="http://schemas.openxmlformats.org/officeDocument/2006/relationships/officeDocument" Target="/ppt/presentation.xml" Id="R7237e60f7033480d" /></Relationships>
</file>

<file path=ppt/presentation.xml><?xml version="1.0" encoding="utf-8"?>
<p:presentation xmlns:p="http://schemas.openxmlformats.org/presentationml/2006/main">
  <p:sldMasterIdLst>
    <p:sldMasterId xmlns:r="http://schemas.openxmlformats.org/officeDocument/2006/relationships" id="2147483648" r:id="Rf22ec1c6d1c644ee"/>
  </p:sldMasterIdLst>
  <p:notesMasterIdLst>
    <p:notesMasterId xmlns:r="http://schemas.openxmlformats.org/officeDocument/2006/relationships" r:id="Rdb5bea14256d4e8d"/>
  </p:notesMasterIdLst>
  <p:sldIdLst>
    <p:sldId xmlns:r="http://schemas.openxmlformats.org/officeDocument/2006/relationships" id="256" r:id="Rbb22a5ad28fc421e"/>
    <p:sldId xmlns:r="http://schemas.openxmlformats.org/officeDocument/2006/relationships" id="257" r:id="Re0a01e9d0885498c"/>
    <p:sldId xmlns:r="http://schemas.openxmlformats.org/officeDocument/2006/relationships" id="258" r:id="R45f13ff0830942c0"/>
    <p:sldId xmlns:r="http://schemas.openxmlformats.org/officeDocument/2006/relationships" id="259" r:id="Rc9ce2f555abd48cf"/>
    <p:sldId xmlns:r="http://schemas.openxmlformats.org/officeDocument/2006/relationships" id="260" r:id="Rcf136896a09b45ff"/>
    <p:sldId xmlns:r="http://schemas.openxmlformats.org/officeDocument/2006/relationships" id="261" r:id="Rb6495889d8434729"/>
    <p:sldId xmlns:r="http://schemas.openxmlformats.org/officeDocument/2006/relationships" id="262" r:id="R853c9f6a23384ae4"/>
    <p:sldId xmlns:r="http://schemas.openxmlformats.org/officeDocument/2006/relationships" id="263" r:id="Re2fff76a75b2468a"/>
    <p:sldId xmlns:r="http://schemas.openxmlformats.org/officeDocument/2006/relationships" id="264" r:id="R93dca19c17284723"/>
    <p:sldId xmlns:r="http://schemas.openxmlformats.org/officeDocument/2006/relationships" id="265" r:id="R9af3e557199045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8441c839954cc4" /><Relationship Type="http://schemas.openxmlformats.org/officeDocument/2006/relationships/slideMaster" Target="/ppt/slideMasters/slideMaster1.xml" Id="Rf22ec1c6d1c644ee" /><Relationship Type="http://schemas.openxmlformats.org/officeDocument/2006/relationships/notesMaster" Target="/ppt/notesMasters/notesMaster1.xml" Id="Rdb5bea14256d4e8d" /><Relationship Type="http://schemas.openxmlformats.org/officeDocument/2006/relationships/presProps" Target="/ppt/presProps.xml" Id="R50500d4f201b42c7" /><Relationship Type="http://schemas.openxmlformats.org/officeDocument/2006/relationships/tableStyles" Target="/ppt/tableStyles.xml" Id="R266799939d39404b" /><Relationship Type="http://schemas.openxmlformats.org/officeDocument/2006/relationships/slide" Target="/ppt/slides/slide1.xml" Id="Rbb22a5ad28fc421e" /><Relationship Type="http://schemas.openxmlformats.org/officeDocument/2006/relationships/slide" Target="/ppt/slides/slide2.xml" Id="Re0a01e9d0885498c" /><Relationship Type="http://schemas.openxmlformats.org/officeDocument/2006/relationships/slide" Target="/ppt/slides/slide3.xml" Id="R45f13ff0830942c0" /><Relationship Type="http://schemas.openxmlformats.org/officeDocument/2006/relationships/slide" Target="/ppt/slides/slide4.xml" Id="Rc9ce2f555abd48cf" /><Relationship Type="http://schemas.openxmlformats.org/officeDocument/2006/relationships/slide" Target="/ppt/slides/slide5.xml" Id="Rcf136896a09b45ff" /><Relationship Type="http://schemas.openxmlformats.org/officeDocument/2006/relationships/slide" Target="/ppt/slides/slide6.xml" Id="Rb6495889d8434729" /><Relationship Type="http://schemas.openxmlformats.org/officeDocument/2006/relationships/slide" Target="/ppt/slides/slide7.xml" Id="R853c9f6a23384ae4" /><Relationship Type="http://schemas.openxmlformats.org/officeDocument/2006/relationships/slide" Target="/ppt/slides/slide8.xml" Id="Re2fff76a75b2468a" /><Relationship Type="http://schemas.openxmlformats.org/officeDocument/2006/relationships/slide" Target="/ppt/slides/slide9.xml" Id="R93dca19c17284723" /><Relationship Type="http://schemas.openxmlformats.org/officeDocument/2006/relationships/slide" Target="/ppt/slides/slide10.xml" Id="R9af3e557199045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a95829a9d842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ec1e45ad8441b1" /><Relationship Type="http://schemas.openxmlformats.org/officeDocument/2006/relationships/notesMaster" Target="/ppt/notesMasters/notesMaster1.xml" Id="R52291318439d4c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4f09f7bc8e4b8c" /><Relationship Type="http://schemas.openxmlformats.org/officeDocument/2006/relationships/notesMaster" Target="/ppt/notesMasters/notesMaster1.xml" Id="Radc9db4440874f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39fa9ea5ae4826" /><Relationship Type="http://schemas.openxmlformats.org/officeDocument/2006/relationships/notesMaster" Target="/ppt/notesMasters/notesMaster1.xml" Id="Rc636d90f80fb44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0c978fc8414b6c" /><Relationship Type="http://schemas.openxmlformats.org/officeDocument/2006/relationships/notesMaster" Target="/ppt/notesMasters/notesMaster1.xml" Id="R2f55796b20af43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72057d30c24e5d" /><Relationship Type="http://schemas.openxmlformats.org/officeDocument/2006/relationships/notesMaster" Target="/ppt/notesMasters/notesMaster1.xml" Id="Rf2121a542a8241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40955ab956419a" /><Relationship Type="http://schemas.openxmlformats.org/officeDocument/2006/relationships/notesMaster" Target="/ppt/notesMasters/notesMaster1.xml" Id="R66a7721f37954f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e20391d71b4e9a" /><Relationship Type="http://schemas.openxmlformats.org/officeDocument/2006/relationships/notesMaster" Target="/ppt/notesMasters/notesMaster1.xml" Id="Rdc287aa4c9fa49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7366e2835f427f" /><Relationship Type="http://schemas.openxmlformats.org/officeDocument/2006/relationships/notesMaster" Target="/ppt/notesMasters/notesMaster1.xml" Id="R159fc0953db146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8df4d84c1140fe" /><Relationship Type="http://schemas.openxmlformats.org/officeDocument/2006/relationships/notesMaster" Target="/ppt/notesMasters/notesMaster1.xml" Id="R8b3cacdec27542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fb3f180aee4fb2" /><Relationship Type="http://schemas.openxmlformats.org/officeDocument/2006/relationships/notesMaster" Target="/ppt/notesMasters/notesMaster1.xml" Id="R340983b38ca641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Conformal prediction returns sets intended to include the true label at a specified rate. Once the deployment distribution changes, a monitoring system may detect drift without telling us how much this coverage has changed. This paper asks what information two common summaries preserve: rotation-invariant measures of covariate change, and the distribution of a frozen model’s confidence. Its first result gives a restricted impossibility example and then a positive characterization under a known binary logistic label law. Its second result removes that known-link assumption and derives the exact range of coverage consistent with source calibration, target confidence, and a density-ratio cap. The distinction is between detection, exact identification, and sensitivity bounds. The experiments illustrate and check those distinctions; they do not demonstrate a general method that guarantees coverage under arbitrary distribution shift.</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Abstract; Introduction</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a frozen binary linear score and a symmetric Gaussian source. Construct two target distributions by translating the source by the same distance: one translation follows the model’s score direction, while the other is orthogonal to it. Rotation-invariant source-to-target discrepancy values, such as the specified radial-kernel MMD, agree for these two targets. Yet the orthogonal translation leaves the score and coverage unchanged, whereas the aligned translation can change coverage. The theorem restricts the observation to those invariant summary values. It does not say that the raw target datasets are identical or indistinguishable by every method. Indeed, raw target-to-target testing can separate them. Both source-to-target shifts can also trigger a drift alarm. The result explains why an equally strong alarm need not identify an equally harmful change for a particular frozen model.</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Theorem: Coverage identification from invariant summaries; Why a drift alarm is compatible with the theorem</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reports population calculations, not measured deployment frequencies. At alpha equal to 0.1, the source is population-calibrated to ten percent error. For each source Gaussian scale tau, the aligned translation is b equal to the square root of tau, and the source threshold is recalibrated. The aligned target’s excess miscoverage rises from about 1.74 percentage points at unit scale to 37.50 points at tau equal to 0.01. The corresponding orthogonal gap is exactly zero. The theorem establishes the sharp limiting upper bound one half minus alpha, which is forty percentage points here; quadrature alone does not prove it. Although the absolute translation gets smaller, it becomes larger relative to the source scale. The source law and threshold also change. This is therefore not an example of an undetectable shift, total-variation closeness, or the typical size of failures in practice.</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Theorem: Sharp harmful gap in a calibrated symmetric family; Table: Population calibration at alpha=0.1</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positive result follows under a strong, explicit assumption: the conditional chance of class one is the logistic function of the frozen score, in both source and target. Then, at a nonnegative threshold, error is possible only when the score magnitude exceeds the threshold, and its conditional probability is the logistic function of the negative magnitude. Averaging that loss over target magnitudes gives target miscoverage. More strongly, the distribution of the absolute score determines the entire coverage curve, and equal coverage curves imply equal absolute-score distributions. Because maximum predictive confidence is a one-to-one function of magnitude in this binary model, the confidence law contains exactly that information. The largest difference between complete coverage curves lies between one half and one times the Kolmogorov distance of magnitude laws. These statements depend on the known label law and all thresholds; they are not consequences of source calibration alone.</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Theorem: Exact coverage-equivalence quotient; Proposition: Stable comparison of whole coverage curves</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counterexample deliberately gives every case the same confidence, 0.9, with a constant positive score equal to log nine. The source is perfectly calibrated because ten percent of cases belong to a hidden covariate group that the classifier gets wrong. Under ordinary covariate shift, the label law given the full covariates is unchanged; only the mixture of those groups changes. A density-ratio cap Gamma equal to two permits one target to upweight the error group and attain twenty percent error. Another target gives that group zero weight and attains zero error. Both keep exactly the same signed-score distribution as the source. Thus confidence calibration identifies a source average within a score level, but not the hidden variation inside it. For every threshold from zero up to log nine, the prediction set is the singleton classifier prediction, so those classification errors are also its miscoverage rates.</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Perfect source calibration does not suffice; Appendix: Exact condition for confidence sufficiency</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main result replaces the known logistic link with partial identification. Let T be score magnitude, m of t the source classifier error probability conditional on that magnitude, and a of t the target-to-source ratio of magnitude frequencies. The full covariate density ratio is allowed to vary between zero and a supplied cap Gamma while matching those target confidence frequencies. Within each confidence level, the smallest feasible target error mass is the larger of zero and a minus Gamma times one minus m. The largest is the smaller of a and Gamma times m. Integrating these limits above the threshold yields the exact interval of target miscoverage compatible with the compressed information. The same two target laws attain the lower and upper endpoints at every threshold. For a fixed full source kernel, confidence suffices precisely when conditional error has no hidden within-level variation, except degenerate weight constraints and zero-score cases. The middle quantity is E_P[ωe given T], a mass density relative to the source magnitude law. At a positive a, dividing it by a gives target conditional error.</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Theorem: Sharp bounds from source confidence calibration; Appendix: Exact envelope and common extremizers</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population envelope is not yet a usable finite-data statement. The paper specifies a finite procedure that starts with a frozen score and confidence bins chosen independently of the audit samples. Source labeled data estimate each bin’s correct and incorrect masses, while unlabeled target scores estimate its target frequency. Concentration bounds expand these estimated masses before applying the density-ratio constraints. A union bound makes the resulting error intervals simultaneous across the prespecified threshold grid. The evaluator may therefore choose a threshold after seeing these audit data and still use the same simultaneous guarantee. If no finite grid threshold has an upper error bound below the target, including both labels is the conservative fallback. The cap Gamma remains an externally supplied sensitivity assumption. The intervals may be wide, and repeated unrestricted monitoring is outside this fixed-sample statement. Sharpness belongs to the population envelope, not the finite-sample slack.</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A finite-sample sensitivity procedure; Appendix: Finite-sample confidence-bin sensitivity intervals</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simulation uses a fixed-bandwidth Gaussian MMD permutation test at nominal level five percent. It runs eighty independent replications, with one hundred sixty observations per group and one hundred ninety-nine random permutations per test. Raw-vector comparisons reject all eighty times for source versus either target and also for aligned versus orthogonal targets. This is exactly compatible with the theoretical equal-discrepancy result: equality of two source-to-target magnitude values is not equality of the target distributions. A radius representation removes orientation; it rejects aligned versus orthogonal targets six times in eighty, with a wide Wilson interval containing the nominal level. The frozen score detects the aligned shift but has an equal-distribution null for the orthogonal one. These outcomes illustrate what each observation retains. They are rejection fractions across repeated simulations, not coverage probabilities and not universal performance claims about MMD.</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Drift versus twin discrimination; Table: Observed MMD permutation rejections at level 0.05</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learned-score experiment uses UCI Spambase and Bank Marketing with separate training, design, and finite reference splits. The study excludes Bank’s post-call duration and chooses target tilts using an error proxy trained on the independent design split, not the reference labels. Three seeds, four tilts, and three ratio caps create seventy-two conditions. Each is replayed one hundred times with ten thousand source and ten thousand target observations, giving seven thousand two hundred simultaneous band containments out of seven thousand two hundred. This is controlled finite-population replay under imposed assumptions, not independent deployment validation. Within-bin shifts keep the observed confidence histogram unchanged while changing target error; the source-bin point benchmark has worst absolute bias 0.0174. Only nine of seventy-two conditions tighten risk-only population bounds, and finite intervals remain conservative. These limitations prevent interpreting perfect replay containment as evidence of narrow or accurate unlabeled point estimates.</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Learned-score replay without an oracle link; Appendix: Learned-score replay</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contribution is a hierarchy of information rather than a single universal monitoring score. Rotation-invariant shift magnitudes can detect a change while failing to identify its coverage consequence. Under a known binary logistic conditional law, the entire confidence distribution is enough to identify the complete coverage curve, with a sharp stability comparison. Once that conditional law is unknown, even perfect source calibration and an unchanged signed-score law can leave target coverage ambiguous. Source calibration, target confidence, and an explicit density-ratio cap then support a sharp population interval and a conservative finite-sample sensitivity procedure. Each level uses different assumptions, and the conclusions should not be exchanged. In particular, unlabeled confidence cannot establish the ratio cap or exclude a changing conditional label law. The practical message is to report the information and assumption set alongside the monitoring result, rather than interpreting a drift alarm as a coverage estimate.</a:t>
            </a:r>
          </a:p>
          <a:p xmlns:a="http://schemas.openxmlformats.org/drawingml/2006/main">
            <a:r>
              <a:t/>
            </a:r>
          </a:p>
          <a:p xmlns:a="http://schemas.openxmlformats.org/drawingml/2006/main">
            <a:r>
              <a:t>Sources</a:t>
            </a:r>
          </a:p>
          <a:p xmlns:a="http://schemas.openxmlformats.org/drawingml/2006/main">
            <a:r>
              <a:t>https://github.com/ChorokLeeDev/conformal-coverage-identification-aistats2027/blob/76661fdf862959345ea22ea2ab5494a4171a6eab/paper_aistats2027/reliance_alignment.tex — Limitations and conclusion</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1187192a0442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5df94574164c14" /><Relationship Type="http://schemas.openxmlformats.org/officeDocument/2006/relationships/slideLayout" Target="/ppt/slideLayouts/slideLayout1.xml" Id="Re64afcf6183e4c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afcf6183e4c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5ad1fd3257429a" /><Relationship Type="http://schemas.openxmlformats.org/officeDocument/2006/relationships/notesSlide" Target="/ppt/notesSlides/notesSlide1.xml" Id="Rb82dd86e02ef43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269ced5c1e4aaf" /><Relationship Type="http://schemas.openxmlformats.org/officeDocument/2006/relationships/notesSlide" Target="/ppt/notesSlides/notesSlide2.xml" Id="Rbf0d24cf8f424d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af23c2ed6945fc" /><Relationship Type="http://schemas.openxmlformats.org/officeDocument/2006/relationships/notesSlide" Target="/ppt/notesSlides/notesSlide3.xml" Id="R638649ba33b34f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26a1f9ed834aec" /><Relationship Type="http://schemas.openxmlformats.org/officeDocument/2006/relationships/notesSlide" Target="/ppt/notesSlides/notesSlide4.xml" Id="Rb7ad2f7e7fe645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8c37bf6b284314" /><Relationship Type="http://schemas.openxmlformats.org/officeDocument/2006/relationships/notesSlide" Target="/ppt/notesSlides/notesSlide5.xml" Id="Ra75b1be8f1b347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9f526e6a2a40a8" /><Relationship Type="http://schemas.openxmlformats.org/officeDocument/2006/relationships/notesSlide" Target="/ppt/notesSlides/notesSlide6.xml" Id="R66fb92c33eeb49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d1c7a7d1934497" /><Relationship Type="http://schemas.openxmlformats.org/officeDocument/2006/relationships/notesSlide" Target="/ppt/notesSlides/notesSlide7.xml" Id="Rd8cdbce8810f44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05c345aa0e414a" /><Relationship Type="http://schemas.openxmlformats.org/officeDocument/2006/relationships/notesSlide" Target="/ppt/notesSlides/notesSlide8.xml" Id="R4c9ac70431b941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77425fea08420b" /><Relationship Type="http://schemas.openxmlformats.org/officeDocument/2006/relationships/notesSlide" Target="/ppt/notesSlides/notesSlide9.xml" Id="R15f5040eb3c14d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d90975d8d44edb" /><Relationship Type="http://schemas.openxmlformats.org/officeDocument/2006/relationships/notesSlide" Target="/ppt/notesSlides/notesSlide10.xml" Id="R654a1be7b1934148"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RELIABLE PREDICTION AND STATISTICAL EVALUATIO">
            <a:extLst xmlns:a="http://schemas.openxmlformats.org/drawingml/2006/main">
              <a:ext uri="{FF2B5EF4-FFF2-40B4-BE49-F238E27FC236}">
                <a16:creationId xmlns:a16="http://schemas.microsoft.com/office/drawing/2014/main" id="{77660B0B-6462-417B-9BB5-F446960D8BBE}"/>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RELIABLE PREDICTION AND STATISTICAL EVALUATION</a:t>
            </a:r>
          </a:p>
        </p:txBody>
      </p:sp>
      <p:sp>
        <p:nvSpPr>
          <p:cNvPr id="2" name="When Marginal Shift Magnitudes Cannot Identif">
            <a:extLst xmlns:a="http://schemas.openxmlformats.org/drawingml/2006/main">
              <a:ext uri="{FF2B5EF4-FFF2-40B4-BE49-F238E27FC236}">
                <a16:creationId xmlns:a16="http://schemas.microsoft.com/office/drawing/2014/main" id="{2007E66D-E55C-45E8-A797-7CB0BCC853E9}"/>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When Marginal Shift Magnitudes Cannot Identify Conformal Coverage Loss</a:t>
            </a:r>
          </a:p>
        </p:txBody>
      </p:sp>
      <p:sp>
        <p:nvSpPr>
          <p:cNvPr id="3" name="Chorok Lee">
            <a:extLst xmlns:a="http://schemas.openxmlformats.org/drawingml/2006/main">
              <a:ext uri="{FF2B5EF4-FFF2-40B4-BE49-F238E27FC236}">
                <a16:creationId xmlns:a16="http://schemas.microsoft.com/office/drawing/2014/main" id="{E5025226-2307-4D90-B385-05E188D0FE9C}"/>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4" name="KAIST">
            <a:extLst xmlns:a="http://schemas.openxmlformats.org/drawingml/2006/main">
              <a:ext uri="{FF2B5EF4-FFF2-40B4-BE49-F238E27FC236}">
                <a16:creationId xmlns:a16="http://schemas.microsoft.com/office/drawing/2014/main" id="{CCA0A9B7-7237-4F96-BFEE-10BB9C33C410}"/>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5" name="When drift does not identify coverage loss">
            <a:extLst xmlns:a="http://schemas.openxmlformats.org/drawingml/2006/main">
              <a:ext uri="{FF2B5EF4-FFF2-40B4-BE49-F238E27FC236}">
                <a16:creationId xmlns:a16="http://schemas.microsoft.com/office/drawing/2014/main" id="{76C8AE01-3F1B-410D-BF07-1C1CBB52671D}"/>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When drift does not identify coverage loss</a:t>
            </a:r>
          </a:p>
        </p:txBody>
      </p:sp>
      <p:sp>
        <p:nvSpPr>
          <p:cNvPr id="6" name="01 / 10">
            <a:extLst xmlns:a="http://schemas.openxmlformats.org/drawingml/2006/main">
              <a:ext uri="{FF2B5EF4-FFF2-40B4-BE49-F238E27FC236}">
                <a16:creationId xmlns:a16="http://schemas.microsoft.com/office/drawing/2014/main" id="{A15E5478-4FE9-4C1A-B0E3-640E9A5EDB87}"/>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20565312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same drift magnitude can mean different c">
            <a:extLst xmlns:a="http://schemas.openxmlformats.org/drawingml/2006/main">
              <a:ext uri="{FF2B5EF4-FFF2-40B4-BE49-F238E27FC236}">
                <a16:creationId xmlns:a16="http://schemas.microsoft.com/office/drawing/2014/main" id="{104400B4-3D10-4C68-9423-5F39827047F4}"/>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same drift magnitude can mean different coverage</a:t>
            </a:r>
          </a:p>
        </p:txBody>
      </p:sp>
      <p:sp>
        <p:nvSpPr>
          <p:cNvPr id="2" name="Equal source-to-target discrepancy values can">
            <a:extLst xmlns:a="http://schemas.openxmlformats.org/drawingml/2006/main">
              <a:ext uri="{FF2B5EF4-FFF2-40B4-BE49-F238E27FC236}">
                <a16:creationId xmlns:a16="http://schemas.microsoft.com/office/drawing/2014/main" id="{28DEF6CB-5556-479C-B22D-38E9C3734B7A}"/>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Equal source-to-target discrepancy values can discard the direction that matters to the predictor.</a:t>
            </a:r>
          </a:p>
        </p:txBody>
      </p:sp>
      <p:sp>
        <p:nvSpPr>
          <p:cNvPr id="3" name="Aligned translation">
            <a:extLst xmlns:a="http://schemas.openxmlformats.org/drawingml/2006/main">
              <a:ext uri="{FF2B5EF4-FFF2-40B4-BE49-F238E27FC236}">
                <a16:creationId xmlns:a16="http://schemas.microsoft.com/office/drawing/2014/main" id="{61BECD79-23CA-49A0-AFD1-7207E208CE71}"/>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84FC4"/>
                </a:solidFill>
                <a:latin typeface="Noto Sans"/>
                <a:ea typeface="Noto Sans"/>
                <a:cs typeface="Noto Sans"/>
              </a:defRPr>
            </a:pPr>
            <a:r>
              <a:rPr sz="2100" b="1">
                <a:solidFill>
                  <a:srgbClr val="784FC4"/>
                </a:solidFill>
                <a:latin typeface="Noto Sans"/>
                <a:ea typeface="Noto Sans"/>
                <a:cs typeface="Noto Sans"/>
              </a:rPr>
              <a:t>Aligned translation</a:t>
            </a:r>
          </a:p>
        </p:txBody>
      </p:sp>
      <p:sp>
        <p:nvSpPr>
          <p:cNvPr id="4" name="The shift follows the model’s score direction">
            <a:extLst xmlns:a="http://schemas.openxmlformats.org/drawingml/2006/main">
              <a:ext uri="{FF2B5EF4-FFF2-40B4-BE49-F238E27FC236}">
                <a16:creationId xmlns:a16="http://schemas.microsoft.com/office/drawing/2014/main" id="{9AAF47AE-FC77-4368-875A-85900B31A7A1}"/>
              </a:ext>
            </a:extLst>
          </p:cNvPr>
          <p:cNvSpPr>
            <a:spLocks xmlns:a="http://schemas.openxmlformats.org/drawingml/2006/main" noGrp="1"/>
          </p:cNvSpPr>
          <p:nvPr/>
        </p:nvSpPr>
        <p:spPr>
          <a:xfrm xmlns:a="http://schemas.openxmlformats.org/drawingml/2006/main">
            <a:off x="6667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shift follows the model’s score direction. Scores change, and prediction-set coverage can change.</a:t>
            </a:r>
          </a:p>
        </p:txBody>
      </p:sp>
      <p:sp>
        <p:nvSpPr>
          <p:cNvPr id="5" name="Orthogonal translation">
            <a:extLst xmlns:a="http://schemas.openxmlformats.org/drawingml/2006/main">
              <a:ext uri="{FF2B5EF4-FFF2-40B4-BE49-F238E27FC236}">
                <a16:creationId xmlns:a16="http://schemas.microsoft.com/office/drawing/2014/main" id="{6DCC0FD1-0473-4CE9-B12E-D6CBD438EC14}"/>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84FC4"/>
                </a:solidFill>
                <a:latin typeface="Noto Sans"/>
                <a:ea typeface="Noto Sans"/>
                <a:cs typeface="Noto Sans"/>
              </a:defRPr>
            </a:pPr>
            <a:r>
              <a:rPr sz="2100" b="1">
                <a:solidFill>
                  <a:srgbClr val="784FC4"/>
                </a:solidFill>
                <a:latin typeface="Noto Sans"/>
                <a:ea typeface="Noto Sans"/>
                <a:cs typeface="Noto Sans"/>
              </a:rPr>
              <a:t>Orthogonal translation</a:t>
            </a:r>
          </a:p>
        </p:txBody>
      </p:sp>
      <p:sp>
        <p:nvSpPr>
          <p:cNvPr id="6" name="The equally large shift is perpendicular to t">
            <a:extLst xmlns:a="http://schemas.openxmlformats.org/drawingml/2006/main">
              <a:ext uri="{FF2B5EF4-FFF2-40B4-BE49-F238E27FC236}">
                <a16:creationId xmlns:a16="http://schemas.microsoft.com/office/drawing/2014/main" id="{7A019C82-9AF6-422F-9532-E2A37993FCB9}"/>
              </a:ext>
            </a:extLst>
          </p:cNvPr>
          <p:cNvSpPr>
            <a:spLocks xmlns:a="http://schemas.openxmlformats.org/drawingml/2006/main" noGrp="1"/>
          </p:cNvSpPr>
          <p:nvPr/>
        </p:nvSpPr>
        <p:spPr>
          <a:xfrm xmlns:a="http://schemas.openxmlformats.org/drawingml/2006/main">
            <a:off x="44513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equally large shift is perpendicular to the score direction. Scores and coverage stay unchanged.</a:t>
            </a:r>
          </a:p>
        </p:txBody>
      </p:sp>
      <p:sp>
        <p:nvSpPr>
          <p:cNvPr id="7" name="What the monitor sees">
            <a:extLst xmlns:a="http://schemas.openxmlformats.org/drawingml/2006/main">
              <a:ext uri="{FF2B5EF4-FFF2-40B4-BE49-F238E27FC236}">
                <a16:creationId xmlns:a16="http://schemas.microsoft.com/office/drawing/2014/main" id="{642D033F-9F44-41BB-A357-2C5C9BB95C5F}"/>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84FC4"/>
                </a:solidFill>
                <a:latin typeface="Noto Sans"/>
                <a:ea typeface="Noto Sans"/>
                <a:cs typeface="Noto Sans"/>
              </a:defRPr>
            </a:pPr>
            <a:r>
              <a:rPr sz="2100" b="1">
                <a:solidFill>
                  <a:srgbClr val="784FC4"/>
                </a:solidFill>
                <a:latin typeface="Noto Sans"/>
                <a:ea typeface="Noto Sans"/>
                <a:cs typeface="Noto Sans"/>
              </a:rPr>
              <a:t>What the monitor sees</a:t>
            </a:r>
          </a:p>
        </p:txBody>
      </p:sp>
      <p:sp>
        <p:nvSpPr>
          <p:cNvPr id="8" name="Rotation-invariant drift magnitudes agree. Ra">
            <a:extLst xmlns:a="http://schemas.openxmlformats.org/drawingml/2006/main">
              <a:ext uri="{FF2B5EF4-FFF2-40B4-BE49-F238E27FC236}">
                <a16:creationId xmlns:a16="http://schemas.microsoft.com/office/drawing/2014/main" id="{C6CE1A20-A7EB-46F6-94F9-65B42BF21D69}"/>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Rotation-invariant drift magnitudes agree. Raw target samples still retain direction and can distinguish the two laws.</a:t>
            </a:r>
          </a:p>
        </p:txBody>
      </p:sp>
      <p:sp>
        <p:nvSpPr>
          <p:cNvPr id="9" name="When drift does not identify coverage loss">
            <a:extLst xmlns:a="http://schemas.openxmlformats.org/drawingml/2006/main">
              <a:ext uri="{FF2B5EF4-FFF2-40B4-BE49-F238E27FC236}">
                <a16:creationId xmlns:a16="http://schemas.microsoft.com/office/drawing/2014/main" id="{ECD0F420-B0BD-4330-9694-3E8FED861FF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10" name="02 / 10">
            <a:extLst xmlns:a="http://schemas.openxmlformats.org/drawingml/2006/main">
              <a:ext uri="{FF2B5EF4-FFF2-40B4-BE49-F238E27FC236}">
                <a16:creationId xmlns:a16="http://schemas.microsoft.com/office/drawing/2014/main" id="{A3286DAB-35E8-4414-A197-021DB9904A2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5424532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harmful gap can approach 40 percentage po">
            <a:extLst xmlns:a="http://schemas.openxmlformats.org/drawingml/2006/main">
              <a:ext uri="{FF2B5EF4-FFF2-40B4-BE49-F238E27FC236}">
                <a16:creationId xmlns:a16="http://schemas.microsoft.com/office/drawing/2014/main" id="{ECA6FD60-A3C8-4270-936E-1E971DF90BF1}"/>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harmful gap can approach 40 percentage points</a:t>
            </a:r>
          </a:p>
        </p:txBody>
      </p:sp>
      <p:sp>
        <p:nvSpPr>
          <p:cNvPr id="2" name="Gaussian construction with source error 10%, ">
            <a:extLst xmlns:a="http://schemas.openxmlformats.org/drawingml/2006/main">
              <a:ext uri="{FF2B5EF4-FFF2-40B4-BE49-F238E27FC236}">
                <a16:creationId xmlns:a16="http://schemas.microsoft.com/office/drawing/2014/main" id="{B31892F2-F6E9-4948-A323-3FE62A660BCC}"/>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Gaussian construction with source error 10%, b = √τ; orthogonal excess error is always zero.</a:t>
            </a:r>
          </a:p>
        </p:txBody>
      </p:sp>
      <p:graphicFrame>
        <p:nvGraphicFramePr>
          <p:cNvPr id="9" name=""/>
          <p:cNvGraphicFramePr/>
          <p:nvPr/>
        </p:nvGraphicFramePr>
        <p:xfrm>
          <a:off xmlns:a="http://schemas.openxmlformats.org/drawingml/2006/main" x="666750" y="2514600"/>
          <a:ext xmlns:a="http://schemas.openxmlformats.org/drawingml/2006/main" cx="10858500" cy="3054858"/>
        </p:xfrm>
        <a:graphic xmlns:a="http://schemas.openxmlformats.org/drawingml/2006/main">
          <a:graphicData uri="http://schemas.openxmlformats.org/drawingml/2006/table">
            <a:tbl>
              <a:tblPr firstRow="1" bandRow="0"/>
              <a:tblGrid>
                <a:gridCol w="3240584"/>
                <a:gridCol w="3464330"/>
                <a:gridCol w="4153586"/>
              </a:tblGrid>
              <a:tr h="483108">
                <a:tc>
                  <a:txBody>
                    <a:bodyPr/>
                    <a:lstStyle/>
                    <a:p>
                      <a:r>
                        <a:rPr sz="1800" b="1">
                          <a:solidFill>
                            <a:srgbClr val="FFFFFF"/>
                          </a:solidFill>
                          <a:latin typeface="Noto Sans"/>
                          <a:ea typeface="Noto Sans"/>
                          <a:cs typeface="Noto Sans"/>
                        </a:rPr>
                        <a:t>Source scale τ</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Absolute shift b</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Aligned excess error</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1.00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1.74 percentage points</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0.50</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0.707</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8.46 percentage points</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0.25</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0.500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18.83 percentage points</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0.10</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0.316</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30.90 percentage points</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0.01</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0.100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37.50 percentage points</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8C13FA8-4EC9-44D0-962F-A12DEDDE8A03}"/>
              </a:ext>
            </a:extLst>
          </p:cNvPr>
          <p:cNvSpPr>
            <a:spLocks xmlns:a="http://schemas.openxmlformats.org/drawingml/2006/main" noGrp="1"/>
          </p:cNvSpPr>
          <p:nvPr/>
        </p:nvSpPr>
        <p:spPr>
          <a:xfrm xmlns:a="http://schemas.openxmlformats.org/drawingml/2006/main">
            <a:off x="666750" y="5740908"/>
            <a:ext cx="10858500" cy="6598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theorem’s limiting gap is 40 points; standardized shift diverges as τ → 0.</a:t>
            </a:r>
          </a:p>
        </p:txBody>
      </p:sp>
      <p:sp>
        <p:nvSpPr>
          <p:cNvPr id="5" name="When drift does not identify coverage loss">
            <a:extLst xmlns:a="http://schemas.openxmlformats.org/drawingml/2006/main">
              <a:ext uri="{FF2B5EF4-FFF2-40B4-BE49-F238E27FC236}">
                <a16:creationId xmlns:a16="http://schemas.microsoft.com/office/drawing/2014/main" id="{41E094A6-0A37-44FE-B37A-D4DBF1AEA53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6" name="03 / 10">
            <a:extLst xmlns:a="http://schemas.openxmlformats.org/drawingml/2006/main">
              <a:ext uri="{FF2B5EF4-FFF2-40B4-BE49-F238E27FC236}">
                <a16:creationId xmlns:a16="http://schemas.microsoft.com/office/drawing/2014/main" id="{2712BC32-6A6A-495C-AD57-A0C90B921CC2}"/>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3345852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ith a known label law, confidence is enough">
            <a:extLst xmlns:a="http://schemas.openxmlformats.org/drawingml/2006/main">
              <a:ext uri="{FF2B5EF4-FFF2-40B4-BE49-F238E27FC236}">
                <a16:creationId xmlns:a16="http://schemas.microsoft.com/office/drawing/2014/main" id="{7028C0BA-4518-4D40-ACAB-043180BFA7AC}"/>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With a known label law, confidence is enough</a:t>
            </a:r>
          </a:p>
        </p:txBody>
      </p:sp>
      <p:sp>
        <p:nvSpPr>
          <p:cNvPr id="2" name="Assume P(Y = 1 | X) = σ(s(X)) in source and t">
            <a:extLst xmlns:a="http://schemas.openxmlformats.org/drawingml/2006/main">
              <a:ext uri="{FF2B5EF4-FFF2-40B4-BE49-F238E27FC236}">
                <a16:creationId xmlns:a16="http://schemas.microsoft.com/office/drawing/2014/main" id="{CCB5891D-F0A2-45F4-A018-B4DFF960A6C0}"/>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Assume P(Y = 1 | X) = σ(s(X)) in source and target; let T = |s(X)|.</a:t>
            </a:r>
          </a:p>
        </p:txBody>
      </p:sp>
      <p:sp>
        <p:nvSpPr>
          <p:cNvPr id="3" name="θq(Q) = E_Q[σ(−T) · 1{T &gt; q}], q ≥ 0">
            <a:extLst xmlns:a="http://schemas.openxmlformats.org/drawingml/2006/main">
              <a:ext uri="{FF2B5EF4-FFF2-40B4-BE49-F238E27FC236}">
                <a16:creationId xmlns:a16="http://schemas.microsoft.com/office/drawing/2014/main" id="{F5DE7F65-E79B-45E8-A25A-BA81D2A69067}"/>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784FC4"/>
                </a:solidFill>
                <a:latin typeface="Noto Sans"/>
                <a:ea typeface="Noto Sans"/>
                <a:cs typeface="Noto Sans"/>
              </a:defRPr>
            </a:pPr>
            <a:r>
              <a:rPr sz="3225" b="1">
                <a:solidFill>
                  <a:srgbClr val="784FC4"/>
                </a:solidFill>
                <a:latin typeface="Noto Sans"/>
                <a:ea typeface="Noto Sans"/>
                <a:cs typeface="Noto Sans"/>
              </a:rPr>
              <a:t>θq(Q) = E_Q[σ(−T) · 1{T &gt; q}], q ≥ 0</a:t>
            </a:r>
          </a:p>
        </p:txBody>
      </p:sp>
      <p:sp>
        <p:nvSpPr>
          <p:cNvPr id="4" name="">
            <a:extLst xmlns:a="http://schemas.openxmlformats.org/drawingml/2006/main">
              <a:ext uri="{FF2B5EF4-FFF2-40B4-BE49-F238E27FC236}">
                <a16:creationId xmlns:a16="http://schemas.microsoft.com/office/drawing/2014/main" id="{FEE98438-F26F-4C91-AA3D-4F2F1D8E598A}"/>
              </a:ext>
            </a:extLst>
          </p:cNvPr>
          <p:cNvSpPr>
            <a:spLocks xmlns:a="http://schemas.openxmlformats.org/drawingml/2006/main" noGrp="1"/>
          </p:cNvSpPr>
          <p:nvPr/>
        </p:nvSpPr>
        <p:spPr>
          <a:xfrm xmlns:a="http://schemas.openxmlformats.org/drawingml/2006/main">
            <a:off x="666750" y="3702939"/>
            <a:ext cx="10858500" cy="2526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θq: target miscoverage; q: set threshold; σ: logistic function; the displayed formula uses q ≥ 0.</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The equivalence between absolute-score laws and complete coverage curves uses all real thresholds.</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This requires the known link, not source calibration alone.</a:t>
            </a:r>
          </a:p>
        </p:txBody>
      </p:sp>
      <p:sp>
        <p:nvSpPr>
          <p:cNvPr id="5" name="When drift does not identify coverage loss">
            <a:extLst xmlns:a="http://schemas.openxmlformats.org/drawingml/2006/main">
              <a:ext uri="{FF2B5EF4-FFF2-40B4-BE49-F238E27FC236}">
                <a16:creationId xmlns:a16="http://schemas.microsoft.com/office/drawing/2014/main" id="{13FB1DB8-F43C-4311-8150-08AF4DEA69C6}"/>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6" name="04 / 10">
            <a:extLst xmlns:a="http://schemas.openxmlformats.org/drawingml/2006/main">
              <a:ext uri="{FF2B5EF4-FFF2-40B4-BE49-F238E27FC236}">
                <a16:creationId xmlns:a16="http://schemas.microsoft.com/office/drawing/2014/main" id="{70318457-9B8A-4240-A833-D5BC786D35F5}"/>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21384400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erfect source calibration can still hide tar">
            <a:extLst xmlns:a="http://schemas.openxmlformats.org/drawingml/2006/main">
              <a:ext uri="{FF2B5EF4-FFF2-40B4-BE49-F238E27FC236}">
                <a16:creationId xmlns:a16="http://schemas.microsoft.com/office/drawing/2014/main" id="{5F473FBC-36FB-436D-81E9-7FD7787CA269}"/>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Perfect source calibration can still hide target error</a:t>
            </a:r>
          </a:p>
        </p:txBody>
      </p:sp>
      <p:sp>
        <p:nvSpPr>
          <p:cNvPr id="2" name="A constructed covariate-shift example: Γ = 2,">
            <a:extLst xmlns:a="http://schemas.openxmlformats.org/drawingml/2006/main">
              <a:ext uri="{FF2B5EF4-FFF2-40B4-BE49-F238E27FC236}">
                <a16:creationId xmlns:a16="http://schemas.microsoft.com/office/drawing/2014/main" id="{AB539124-B287-4BF5-A5ED-4778F839A93B}"/>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A constructed covariate-shift example: Γ = 2, unchanged full signed-score distribution.</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4513531"/>
                <a:gridCol w="3814630"/>
                <a:gridCol w="2530339"/>
              </a:tblGrid>
              <a:tr h="483108">
                <a:tc>
                  <a:txBody>
                    <a:bodyPr/>
                    <a:lstStyle/>
                    <a:p>
                      <a:r>
                        <a:rPr sz="1800" b="1">
                          <a:solidFill>
                            <a:srgbClr val="FFFFFF"/>
                          </a:solidFill>
                          <a:latin typeface="Noto Sans"/>
                          <a:ea typeface="Noto Sans"/>
                          <a:cs typeface="Noto Sans"/>
                        </a:rPr>
                        <a:t>Distribution</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Confidence for every case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Miscoverage</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Source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90%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Target: upweight hidden error group</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90%</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20%</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Target: remove hidden error group</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90%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1EE80FC-495A-4BC5-8FE2-B832D927B363}"/>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Applies for 0 ≤ q &lt; log 9; the full conditional label law stays unchanged.</a:t>
            </a:r>
          </a:p>
        </p:txBody>
      </p:sp>
      <p:sp>
        <p:nvSpPr>
          <p:cNvPr id="5" name="When drift does not identify coverage loss">
            <a:extLst xmlns:a="http://schemas.openxmlformats.org/drawingml/2006/main">
              <a:ext uri="{FF2B5EF4-FFF2-40B4-BE49-F238E27FC236}">
                <a16:creationId xmlns:a16="http://schemas.microsoft.com/office/drawing/2014/main" id="{C899C6A7-533E-4252-80B0-96D8AD24BF70}"/>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6" name="05 / 10">
            <a:extLst xmlns:a="http://schemas.openxmlformats.org/drawingml/2006/main">
              <a:ext uri="{FF2B5EF4-FFF2-40B4-BE49-F238E27FC236}">
                <a16:creationId xmlns:a16="http://schemas.microsoft.com/office/drawing/2014/main" id="{12CF4F2E-CFB5-4772-AEE9-14F97D8F8E68}"/>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6454823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ithout the link, compute a sharp interval">
            <a:extLst xmlns:a="http://schemas.openxmlformats.org/drawingml/2006/main">
              <a:ext uri="{FF2B5EF4-FFF2-40B4-BE49-F238E27FC236}">
                <a16:creationId xmlns:a16="http://schemas.microsoft.com/office/drawing/2014/main" id="{1157A0A2-DF46-496C-91FD-E5DB4DD59B6F}"/>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Without the link, compute a sharp interval</a:t>
            </a:r>
          </a:p>
        </p:txBody>
      </p:sp>
      <p:sp>
        <p:nvSpPr>
          <p:cNvPr id="2" name="From compressed source calibration, target co">
            <a:extLst xmlns:a="http://schemas.openxmlformats.org/drawingml/2006/main">
              <a:ext uri="{FF2B5EF4-FFF2-40B4-BE49-F238E27FC236}">
                <a16:creationId xmlns:a16="http://schemas.microsoft.com/office/drawing/2014/main" id="{446E9E3B-FDF2-4241-B5C8-48B794F2673B}"/>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From compressed source calibration, target confidence frequencies, and a specified density-ratio cap Γ.</a:t>
            </a:r>
          </a:p>
        </p:txBody>
      </p:sp>
      <p:sp>
        <p:nvSpPr>
          <p:cNvPr id="3" name="max{0, a − Γ(1 − m)} ≤ E_P[ωe | T] ≤ min{a, Γ">
            <a:extLst xmlns:a="http://schemas.openxmlformats.org/drawingml/2006/main">
              <a:ext uri="{FF2B5EF4-FFF2-40B4-BE49-F238E27FC236}">
                <a16:creationId xmlns:a16="http://schemas.microsoft.com/office/drawing/2014/main" id="{4835C8B5-6646-4C09-AF82-1CF5202DDFE0}"/>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784FC4"/>
                </a:solidFill>
                <a:latin typeface="Noto Sans"/>
                <a:ea typeface="Noto Sans"/>
                <a:cs typeface="Noto Sans"/>
              </a:defRPr>
            </a:pPr>
            <a:r>
              <a:rPr sz="3225" b="1">
                <a:solidFill>
                  <a:srgbClr val="784FC4"/>
                </a:solidFill>
                <a:latin typeface="Noto Sans"/>
                <a:ea typeface="Noto Sans"/>
                <a:cs typeface="Noto Sans"/>
              </a:rPr>
              <a:t>max{0, a − Γ(1 − m)} ≤ E_P[ωe | T] ≤ min{a, Γm}</a:t>
            </a:r>
          </a:p>
        </p:txBody>
      </p:sp>
      <p:sp>
        <p:nvSpPr>
          <p:cNvPr id="4" name="">
            <a:extLst xmlns:a="http://schemas.openxmlformats.org/drawingml/2006/main">
              <a:ext uri="{FF2B5EF4-FFF2-40B4-BE49-F238E27FC236}">
                <a16:creationId xmlns:a16="http://schemas.microsoft.com/office/drawing/2014/main" id="{C22BE07E-2059-4876-82FD-A827D2D6CBFD}"/>
              </a:ext>
            </a:extLst>
          </p:cNvPr>
          <p:cNvSpPr>
            <a:spLocks xmlns:a="http://schemas.openxmlformats.org/drawingml/2006/main" noGrp="1"/>
          </p:cNvSpPr>
          <p:nvPr/>
        </p:nvSpPr>
        <p:spPr>
          <a:xfrm xmlns:a="http://schemas.openxmlformats.org/drawingml/2006/main">
            <a:off x="666750" y="3702939"/>
            <a:ext cx="10858500" cy="2526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e(X): error probability given full covariates; m(T): source average of e at magnitude T.</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a(T): target/source magnitude-frequency ratio; ω: covariate density ratio.</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The middle term is error mass per unit source magnitude mass, not target conditional error.</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Integrating over source magnitudes above q is sharp for these compressed quantities; fixed full source kernels can yield tighter bounds.</a:t>
            </a:r>
          </a:p>
        </p:txBody>
      </p:sp>
      <p:sp>
        <p:nvSpPr>
          <p:cNvPr id="5" name="When drift does not identify coverage loss">
            <a:extLst xmlns:a="http://schemas.openxmlformats.org/drawingml/2006/main">
              <a:ext uri="{FF2B5EF4-FFF2-40B4-BE49-F238E27FC236}">
                <a16:creationId xmlns:a16="http://schemas.microsoft.com/office/drawing/2014/main" id="{0AA78770-96D8-4078-916A-E4F443A2A1BD}"/>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6" name="06 / 10">
            <a:extLst xmlns:a="http://schemas.openxmlformats.org/drawingml/2006/main">
              <a:ext uri="{FF2B5EF4-FFF2-40B4-BE49-F238E27FC236}">
                <a16:creationId xmlns:a16="http://schemas.microsoft.com/office/drawing/2014/main" id="{7BE5171A-506A-4074-99DA-C33D0FCF09B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15537374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nite samples produce simultaneous sensitivi">
            <a:extLst xmlns:a="http://schemas.openxmlformats.org/drawingml/2006/main">
              <a:ext uri="{FF2B5EF4-FFF2-40B4-BE49-F238E27FC236}">
                <a16:creationId xmlns:a16="http://schemas.microsoft.com/office/drawing/2014/main" id="{0EF95B33-63FF-4896-A469-D757FEA8A9A7}"/>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Finite samples produce simultaneous sensitivity bands</a:t>
            </a:r>
          </a:p>
        </p:txBody>
      </p:sp>
      <p:sp>
        <p:nvSpPr>
          <p:cNvPr id="2" name="Source labels + unlabeled target scores + a s">
            <a:extLst xmlns:a="http://schemas.openxmlformats.org/drawingml/2006/main">
              <a:ext uri="{FF2B5EF4-FFF2-40B4-BE49-F238E27FC236}">
                <a16:creationId xmlns:a16="http://schemas.microsoft.com/office/drawing/2014/main" id="{0A702C42-587E-48A1-B57A-4B7C316A0995}"/>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Source labels + unlabeled target scores + a specified cap → a coverage sensitivity interval.</a:t>
            </a:r>
          </a:p>
        </p:txBody>
      </p:sp>
      <p:sp>
        <p:nvSpPr>
          <p:cNvPr id="3" name="">
            <a:extLst xmlns:a="http://schemas.openxmlformats.org/drawingml/2006/main">
              <a:ext uri="{FF2B5EF4-FFF2-40B4-BE49-F238E27FC236}">
                <a16:creationId xmlns:a16="http://schemas.microsoft.com/office/drawing/2014/main" id="{F5D91826-5CC3-49B8-A725-3B6A0CB232CF}"/>
              </a:ext>
            </a:extLst>
          </p:cNvPr>
          <p:cNvSpPr>
            <a:spLocks xmlns:a="http://schemas.openxmlformats.org/drawingml/2006/main" noGrp="1"/>
          </p:cNvSpPr>
          <p:nvPr/>
        </p:nvSpPr>
        <p:spPr>
          <a:xfrm xmlns:a="http://schemas.openxmlformats.org/drawingml/2006/main">
            <a:off x="666750" y="2514600"/>
            <a:ext cx="106680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Freeze the score, confidence bins, and candidate threshold grid.</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Estimate source correct/error masses and target bin frequencies.</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Add simultaneous concentration slack before applying the sharp population bounds.</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Choose only thresholds whose upper error bound meets the target; Γ remains an assumption.</a:t>
            </a:r>
          </a:p>
        </p:txBody>
      </p:sp>
      <p:sp>
        <p:nvSpPr>
          <p:cNvPr id="4" name="When drift does not identify coverage loss">
            <a:extLst xmlns:a="http://schemas.openxmlformats.org/drawingml/2006/main">
              <a:ext uri="{FF2B5EF4-FFF2-40B4-BE49-F238E27FC236}">
                <a16:creationId xmlns:a16="http://schemas.microsoft.com/office/drawing/2014/main" id="{89A41F68-237F-45FF-BECE-A40D5C9ECF8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5" name="07 / 10">
            <a:extLst xmlns:a="http://schemas.openxmlformats.org/drawingml/2006/main">
              <a:ext uri="{FF2B5EF4-FFF2-40B4-BE49-F238E27FC236}">
                <a16:creationId xmlns:a16="http://schemas.microsoft.com/office/drawing/2014/main" id="{A1CC7DB2-F32C-46B8-89AD-C8CD29BA6AD5}"/>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9412791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rift detection and twin discrimination are d">
            <a:extLst xmlns:a="http://schemas.openxmlformats.org/drawingml/2006/main">
              <a:ext uri="{FF2B5EF4-FFF2-40B4-BE49-F238E27FC236}">
                <a16:creationId xmlns:a16="http://schemas.microsoft.com/office/drawing/2014/main" id="{B6859AD3-8FBA-4AD9-BF73-3AAB70AFFE4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Drift detection and twin discrimination are different</a:t>
            </a:r>
          </a:p>
        </p:txBody>
      </p:sp>
      <p:sp>
        <p:nvSpPr>
          <p:cNvPr id="2" name="Simulation: 80 repetitions, 160 observations/">
            <a:extLst xmlns:a="http://schemas.openxmlformats.org/drawingml/2006/main">
              <a:ext uri="{FF2B5EF4-FFF2-40B4-BE49-F238E27FC236}">
                <a16:creationId xmlns:a16="http://schemas.microsoft.com/office/drawing/2014/main" id="{521E4490-5012-466C-87E2-3BCD31577A47}"/>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Simulation: 80 repetitions, 160 observations/group, 199 permutations, fixed bandwidth.</a:t>
            </a:r>
          </a:p>
        </p:txBody>
      </p:sp>
      <p:graphicFrame>
        <p:nvGraphicFramePr>
          <p:cNvPr id="9" name=""/>
          <p:cNvGraphicFramePr/>
          <p:nvPr/>
        </p:nvGraphicFramePr>
        <p:xfrm>
          <a:off xmlns:a="http://schemas.openxmlformats.org/drawingml/2006/main" x="666750" y="2514600"/>
          <a:ext xmlns:a="http://schemas.openxmlformats.org/drawingml/2006/main" cx="10858500" cy="3301746"/>
        </p:xfrm>
        <a:graphic xmlns:a="http://schemas.openxmlformats.org/drawingml/2006/main">
          <a:graphicData uri="http://schemas.openxmlformats.org/drawingml/2006/table">
            <a:tbl>
              <a:tblPr firstRow="1" bandRow="0"/>
              <a:tblGrid>
                <a:gridCol w="4451971"/>
                <a:gridCol w="3148019"/>
                <a:gridCol w="3258509"/>
              </a:tblGrid>
              <a:tr h="476250">
                <a:tc>
                  <a:txBody>
                    <a:bodyPr/>
                    <a:lstStyle/>
                    <a:p>
                      <a:r>
                        <a:rPr sz="1725" b="1">
                          <a:solidFill>
                            <a:srgbClr val="FFFFFF"/>
                          </a:solidFill>
                          <a:latin typeface="Noto Sans"/>
                          <a:ea typeface="Noto Sans"/>
                          <a:cs typeface="Noto Sans"/>
                        </a:rPr>
                        <a:t>Comparison</a:t>
                      </a:r>
                    </a:p>
                  </a:txBody>
                  <a:tcPr marL="133350" marR="133350" marT="85725" marB="85725" anchor="ctr">
                    <a:solidFill>
                      <a:srgbClr val="102A43"/>
                    </a:solidFill>
                  </a:tcPr>
                </a:tc>
                <a:tc>
                  <a:txBody>
                    <a:bodyPr/>
                    <a:lstStyle/>
                    <a:p>
                      <a:r>
                        <a:rPr sz="1725" b="1">
                          <a:solidFill>
                            <a:srgbClr val="FFFFFF"/>
                          </a:solidFill>
                          <a:latin typeface="Noto Sans"/>
                          <a:ea typeface="Noto Sans"/>
                          <a:cs typeface="Noto Sans"/>
                        </a:rPr>
                        <a:t>Representation</a:t>
                      </a:r>
                    </a:p>
                  </a:txBody>
                  <a:tcPr marL="133350" marR="133350" marT="85725" marB="85725" anchor="ctr">
                    <a:solidFill>
                      <a:srgbClr val="102A43"/>
                    </a:solidFill>
                  </a:tcPr>
                </a:tc>
                <a:tc>
                  <a:txBody>
                    <a:bodyPr/>
                    <a:lstStyle/>
                    <a:p>
                      <a:r>
                        <a:rPr sz="1725" b="1">
                          <a:solidFill>
                            <a:srgbClr val="FFFFFF"/>
                          </a:solidFill>
                          <a:latin typeface="Noto Sans"/>
                          <a:ea typeface="Noto Sans"/>
                          <a:cs typeface="Noto Sans"/>
                        </a:rPr>
                        <a:t>Rejections / 80</a:t>
                      </a:r>
                    </a:p>
                  </a:txBody>
                  <a:tcPr marL="133350" marR="133350" marT="85725" marB="85725" anchor="ctr">
                    <a:solidFill>
                      <a:srgbClr val="102A43"/>
                    </a:solidFill>
                  </a:tcPr>
                </a:tc>
              </a:tr>
              <a:tr h="470916">
                <a:tc>
                  <a:txBody>
                    <a:bodyPr/>
                    <a:lstStyle/>
                    <a:p>
                      <a:r>
                        <a:rPr sz="1725" b="0">
                          <a:solidFill>
                            <a:srgbClr val="354F62"/>
                          </a:solidFill>
                          <a:latin typeface="Noto Sans"/>
                          <a:ea typeface="Noto Sans"/>
                          <a:cs typeface="Noto Sans"/>
                        </a:rPr>
                        <a:t>Source / aligned target</a:t>
                      </a:r>
                    </a:p>
                  </a:txBody>
                  <a:tcPr marL="133350" marR="133350" marT="85725" marB="85725" anchor="ctr">
                    <a:solidFill>
                      <a:srgbClr val="FFFFFF"/>
                    </a:solidFill>
                  </a:tcPr>
                </a:tc>
                <a:tc>
                  <a:txBody>
                    <a:bodyPr/>
                    <a:lstStyle/>
                    <a:p>
                      <a:r>
                        <a:rPr sz="1725" b="0">
                          <a:solidFill>
                            <a:srgbClr val="354F62"/>
                          </a:solidFill>
                          <a:latin typeface="Noto Sans"/>
                          <a:ea typeface="Noto Sans"/>
                          <a:cs typeface="Noto Sans"/>
                        </a:rPr>
                        <a:t>Raw features</a:t>
                      </a:r>
                    </a:p>
                  </a:txBody>
                  <a:tcPr marL="133350" marR="133350" marT="85725" marB="85725" anchor="ctr">
                    <a:solidFill>
                      <a:srgbClr val="FFFFFF"/>
                    </a:solidFill>
                  </a:tcPr>
                </a:tc>
                <a:tc>
                  <a:txBody>
                    <a:bodyPr/>
                    <a:lstStyle/>
                    <a:p>
                      <a:r>
                        <a:rPr sz="1725" b="0">
                          <a:solidFill>
                            <a:srgbClr val="354F62"/>
                          </a:solidFill>
                          <a:latin typeface="Noto Sans"/>
                          <a:ea typeface="Noto Sans"/>
                          <a:cs typeface="Noto Sans"/>
                        </a:rPr>
                        <a:t>80</a:t>
                      </a:r>
                    </a:p>
                  </a:txBody>
                  <a:tcPr marL="133350" marR="133350" marT="85725" marB="85725" anchor="ctr">
                    <a:solidFill>
                      <a:srgbClr val="FFFFFF"/>
                    </a:solidFill>
                  </a:tcPr>
                </a:tc>
              </a:tr>
              <a:tr h="470916">
                <a:tc>
                  <a:txBody>
                    <a:bodyPr/>
                    <a:lstStyle/>
                    <a:p>
                      <a:r>
                        <a:rPr sz="1725" b="0">
                          <a:solidFill>
                            <a:srgbClr val="354F62"/>
                          </a:solidFill>
                          <a:latin typeface="Noto Sans"/>
                          <a:ea typeface="Noto Sans"/>
                          <a:cs typeface="Noto Sans"/>
                        </a:rPr>
                        <a:t>Source / orthogonal target</a:t>
                      </a:r>
                    </a:p>
                  </a:txBody>
                  <a:tcPr marL="133350" marR="133350" marT="85725" marB="85725" anchor="ctr">
                    <a:solidFill>
                      <a:srgbClr val="F1F6F8"/>
                    </a:solidFill>
                  </a:tcPr>
                </a:tc>
                <a:tc>
                  <a:txBody>
                    <a:bodyPr/>
                    <a:lstStyle/>
                    <a:p>
                      <a:r>
                        <a:rPr sz="1725" b="0">
                          <a:solidFill>
                            <a:srgbClr val="354F62"/>
                          </a:solidFill>
                          <a:latin typeface="Noto Sans"/>
                          <a:ea typeface="Noto Sans"/>
                          <a:cs typeface="Noto Sans"/>
                        </a:rPr>
                        <a:t>Raw features</a:t>
                      </a:r>
                    </a:p>
                  </a:txBody>
                  <a:tcPr marL="133350" marR="133350" marT="85725" marB="85725" anchor="ctr">
                    <a:solidFill>
                      <a:srgbClr val="F1F6F8"/>
                    </a:solidFill>
                  </a:tcPr>
                </a:tc>
                <a:tc>
                  <a:txBody>
                    <a:bodyPr/>
                    <a:lstStyle/>
                    <a:p>
                      <a:r>
                        <a:rPr sz="1725" b="0">
                          <a:solidFill>
                            <a:srgbClr val="354F62"/>
                          </a:solidFill>
                          <a:latin typeface="Noto Sans"/>
                          <a:ea typeface="Noto Sans"/>
                          <a:cs typeface="Noto Sans"/>
                        </a:rPr>
                        <a:t>80</a:t>
                      </a:r>
                    </a:p>
                  </a:txBody>
                  <a:tcPr marL="133350" marR="133350" marT="85725" marB="85725" anchor="ctr">
                    <a:solidFill>
                      <a:srgbClr val="F1F6F8"/>
                    </a:solidFill>
                  </a:tcPr>
                </a:tc>
              </a:tr>
              <a:tr h="470916">
                <a:tc>
                  <a:txBody>
                    <a:bodyPr/>
                    <a:lstStyle/>
                    <a:p>
                      <a:r>
                        <a:rPr sz="1725" b="0">
                          <a:solidFill>
                            <a:srgbClr val="354F62"/>
                          </a:solidFill>
                          <a:latin typeface="Noto Sans"/>
                          <a:ea typeface="Noto Sans"/>
                          <a:cs typeface="Noto Sans"/>
                        </a:rPr>
                        <a:t>Aligned / orthogonal targets</a:t>
                      </a:r>
                    </a:p>
                  </a:txBody>
                  <a:tcPr marL="133350" marR="133350" marT="85725" marB="85725" anchor="ctr">
                    <a:solidFill>
                      <a:srgbClr val="FFFFFF"/>
                    </a:solidFill>
                  </a:tcPr>
                </a:tc>
                <a:tc>
                  <a:txBody>
                    <a:bodyPr/>
                    <a:lstStyle/>
                    <a:p>
                      <a:r>
                        <a:rPr sz="1725" b="0">
                          <a:solidFill>
                            <a:srgbClr val="354F62"/>
                          </a:solidFill>
                          <a:latin typeface="Noto Sans"/>
                          <a:ea typeface="Noto Sans"/>
                          <a:cs typeface="Noto Sans"/>
                        </a:rPr>
                        <a:t>Raw features</a:t>
                      </a:r>
                    </a:p>
                  </a:txBody>
                  <a:tcPr marL="133350" marR="133350" marT="85725" marB="85725" anchor="ctr">
                    <a:solidFill>
                      <a:srgbClr val="FFFFFF"/>
                    </a:solidFill>
                  </a:tcPr>
                </a:tc>
                <a:tc>
                  <a:txBody>
                    <a:bodyPr/>
                    <a:lstStyle/>
                    <a:p>
                      <a:r>
                        <a:rPr sz="1725" b="0">
                          <a:solidFill>
                            <a:srgbClr val="354F62"/>
                          </a:solidFill>
                          <a:latin typeface="Noto Sans"/>
                          <a:ea typeface="Noto Sans"/>
                          <a:cs typeface="Noto Sans"/>
                        </a:rPr>
                        <a:t>80</a:t>
                      </a:r>
                    </a:p>
                  </a:txBody>
                  <a:tcPr marL="133350" marR="133350" marT="85725" marB="85725" anchor="ctr">
                    <a:solidFill>
                      <a:srgbClr val="FFFFFF"/>
                    </a:solidFill>
                  </a:tcPr>
                </a:tc>
              </a:tr>
              <a:tr h="470916">
                <a:tc>
                  <a:txBody>
                    <a:bodyPr/>
                    <a:lstStyle/>
                    <a:p>
                      <a:r>
                        <a:rPr sz="1725" b="0">
                          <a:solidFill>
                            <a:srgbClr val="354F62"/>
                          </a:solidFill>
                          <a:latin typeface="Noto Sans"/>
                          <a:ea typeface="Noto Sans"/>
                          <a:cs typeface="Noto Sans"/>
                        </a:rPr>
                        <a:t>Aligned / orthogonal targets</a:t>
                      </a:r>
                    </a:p>
                  </a:txBody>
                  <a:tcPr marL="133350" marR="133350" marT="85725" marB="85725" anchor="ctr">
                    <a:solidFill>
                      <a:srgbClr val="F1F6F8"/>
                    </a:solidFill>
                  </a:tcPr>
                </a:tc>
                <a:tc>
                  <a:txBody>
                    <a:bodyPr/>
                    <a:lstStyle/>
                    <a:p>
                      <a:r>
                        <a:rPr sz="1725" b="0">
                          <a:solidFill>
                            <a:srgbClr val="354F62"/>
                          </a:solidFill>
                          <a:latin typeface="Noto Sans"/>
                          <a:ea typeface="Noto Sans"/>
                          <a:cs typeface="Noto Sans"/>
                        </a:rPr>
                        <a:t>Radius</a:t>
                      </a:r>
                    </a:p>
                  </a:txBody>
                  <a:tcPr marL="133350" marR="133350" marT="85725" marB="85725" anchor="ctr">
                    <a:solidFill>
                      <a:srgbClr val="F1F6F8"/>
                    </a:solidFill>
                  </a:tcPr>
                </a:tc>
                <a:tc>
                  <a:txBody>
                    <a:bodyPr/>
                    <a:lstStyle/>
                    <a:p>
                      <a:r>
                        <a:rPr sz="1725" b="0">
                          <a:solidFill>
                            <a:srgbClr val="354F62"/>
                          </a:solidFill>
                          <a:latin typeface="Noto Sans"/>
                          <a:ea typeface="Noto Sans"/>
                          <a:cs typeface="Noto Sans"/>
                        </a:rPr>
                        <a:t>6</a:t>
                      </a:r>
                    </a:p>
                  </a:txBody>
                  <a:tcPr marL="133350" marR="133350" marT="85725" marB="85725" anchor="ctr">
                    <a:solidFill>
                      <a:srgbClr val="F1F6F8"/>
                    </a:solidFill>
                  </a:tcPr>
                </a:tc>
              </a:tr>
              <a:tr h="470916">
                <a:tc>
                  <a:txBody>
                    <a:bodyPr/>
                    <a:lstStyle/>
                    <a:p>
                      <a:r>
                        <a:rPr sz="1725" b="0">
                          <a:solidFill>
                            <a:srgbClr val="354F62"/>
                          </a:solidFill>
                          <a:latin typeface="Noto Sans"/>
                          <a:ea typeface="Noto Sans"/>
                          <a:cs typeface="Noto Sans"/>
                        </a:rPr>
                        <a:t>Source / aligned target</a:t>
                      </a:r>
                    </a:p>
                  </a:txBody>
                  <a:tcPr marL="133350" marR="133350" marT="85725" marB="85725" anchor="ctr">
                    <a:solidFill>
                      <a:srgbClr val="FFFFFF"/>
                    </a:solidFill>
                  </a:tcPr>
                </a:tc>
                <a:tc>
                  <a:txBody>
                    <a:bodyPr/>
                    <a:lstStyle/>
                    <a:p>
                      <a:r>
                        <a:rPr sz="1725" b="0">
                          <a:solidFill>
                            <a:srgbClr val="354F62"/>
                          </a:solidFill>
                          <a:latin typeface="Noto Sans"/>
                          <a:ea typeface="Noto Sans"/>
                          <a:cs typeface="Noto Sans"/>
                        </a:rPr>
                        <a:t>Frozen score</a:t>
                      </a:r>
                    </a:p>
                  </a:txBody>
                  <a:tcPr marL="133350" marR="133350" marT="85725" marB="85725" anchor="ctr">
                    <a:solidFill>
                      <a:srgbClr val="FFFFFF"/>
                    </a:solidFill>
                  </a:tcPr>
                </a:tc>
                <a:tc>
                  <a:txBody>
                    <a:bodyPr/>
                    <a:lstStyle/>
                    <a:p>
                      <a:r>
                        <a:rPr sz="1725" b="0">
                          <a:solidFill>
                            <a:srgbClr val="354F62"/>
                          </a:solidFill>
                          <a:latin typeface="Noto Sans"/>
                          <a:ea typeface="Noto Sans"/>
                          <a:cs typeface="Noto Sans"/>
                        </a:rPr>
                        <a:t>80</a:t>
                      </a:r>
                    </a:p>
                  </a:txBody>
                  <a:tcPr marL="133350" marR="133350" marT="85725" marB="85725" anchor="ctr">
                    <a:solidFill>
                      <a:srgbClr val="FFFFFF"/>
                    </a:solidFill>
                  </a:tcPr>
                </a:tc>
              </a:tr>
              <a:tr h="470916">
                <a:tc>
                  <a:txBody>
                    <a:bodyPr/>
                    <a:lstStyle/>
                    <a:p>
                      <a:r>
                        <a:rPr sz="1725" b="0">
                          <a:solidFill>
                            <a:srgbClr val="354F62"/>
                          </a:solidFill>
                          <a:latin typeface="Noto Sans"/>
                          <a:ea typeface="Noto Sans"/>
                          <a:cs typeface="Noto Sans"/>
                        </a:rPr>
                        <a:t>Source / orthogonal target</a:t>
                      </a:r>
                    </a:p>
                  </a:txBody>
                  <a:tcPr marL="133350" marR="133350" marT="85725" marB="85725" anchor="ctr">
                    <a:solidFill>
                      <a:srgbClr val="F1F6F8"/>
                    </a:solidFill>
                  </a:tcPr>
                </a:tc>
                <a:tc>
                  <a:txBody>
                    <a:bodyPr/>
                    <a:lstStyle/>
                    <a:p>
                      <a:r>
                        <a:rPr sz="1725" b="0">
                          <a:solidFill>
                            <a:srgbClr val="354F62"/>
                          </a:solidFill>
                          <a:latin typeface="Noto Sans"/>
                          <a:ea typeface="Noto Sans"/>
                          <a:cs typeface="Noto Sans"/>
                        </a:rPr>
                        <a:t>Frozen score</a:t>
                      </a:r>
                    </a:p>
                  </a:txBody>
                  <a:tcPr marL="133350" marR="133350" marT="85725" marB="85725" anchor="ctr">
                    <a:solidFill>
                      <a:srgbClr val="F1F6F8"/>
                    </a:solidFill>
                  </a:tcPr>
                </a:tc>
                <a:tc>
                  <a:txBody>
                    <a:bodyPr/>
                    <a:lstStyle/>
                    <a:p>
                      <a:r>
                        <a:rPr sz="1725" b="0">
                          <a:solidFill>
                            <a:srgbClr val="354F62"/>
                          </a:solidFill>
                          <a:latin typeface="Noto Sans"/>
                          <a:ea typeface="Noto Sans"/>
                          <a:cs typeface="Noto Sans"/>
                        </a:rPr>
                        <a:t>6</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CF61312C-9F45-4028-8810-F115CB97DCDC}"/>
              </a:ext>
            </a:extLst>
          </p:cNvPr>
          <p:cNvSpPr>
            <a:spLocks xmlns:a="http://schemas.openxmlformats.org/drawingml/2006/main" noGrp="1"/>
          </p:cNvSpPr>
          <p:nvPr/>
        </p:nvSpPr>
        <p:spPr>
          <a:xfrm xmlns:a="http://schemas.openxmlformats.org/drawingml/2006/main">
            <a:off x="666750" y="5987796"/>
            <a:ext cx="10858500" cy="413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Wilson 95% intervals: 80/80 → [0.95, 1.00]; 6/80 → [0.03, 0.15].</a:t>
            </a:r>
          </a:p>
        </p:txBody>
      </p:sp>
      <p:sp>
        <p:nvSpPr>
          <p:cNvPr id="5" name="When drift does not identify coverage loss">
            <a:extLst xmlns:a="http://schemas.openxmlformats.org/drawingml/2006/main">
              <a:ext uri="{FF2B5EF4-FFF2-40B4-BE49-F238E27FC236}">
                <a16:creationId xmlns:a16="http://schemas.microsoft.com/office/drawing/2014/main" id="{F966EE76-A4CE-48A6-8CFB-3AE8BCEC22E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6" name="08 / 10">
            <a:extLst xmlns:a="http://schemas.openxmlformats.org/drawingml/2006/main">
              <a:ext uri="{FF2B5EF4-FFF2-40B4-BE49-F238E27FC236}">
                <a16:creationId xmlns:a16="http://schemas.microsoft.com/office/drawing/2014/main" id="{F0A8B4CB-8A69-4301-BEC9-F1B00F75FC2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18822874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earned-score replay supports intervals, not ">
            <a:extLst xmlns:a="http://schemas.openxmlformats.org/drawingml/2006/main">
              <a:ext uri="{FF2B5EF4-FFF2-40B4-BE49-F238E27FC236}">
                <a16:creationId xmlns:a16="http://schemas.microsoft.com/office/drawing/2014/main" id="{26A8D03D-FEC0-4A73-A3B1-0FD2F5D675A1}"/>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Learned-score replay supports intervals, not point claims</a:t>
            </a:r>
          </a:p>
        </p:txBody>
      </p:sp>
      <p:sp>
        <p:nvSpPr>
          <p:cNvPr id="2" name="Controlled replay on two UCI datasets; 72 con">
            <a:extLst xmlns:a="http://schemas.openxmlformats.org/drawingml/2006/main">
              <a:ext uri="{FF2B5EF4-FFF2-40B4-BE49-F238E27FC236}">
                <a16:creationId xmlns:a16="http://schemas.microsoft.com/office/drawing/2014/main" id="{35A07679-30EE-4E8F-B623-9AFB762777A0}"/>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84FC4"/>
                </a:solidFill>
                <a:latin typeface="Noto Sans"/>
                <a:ea typeface="Noto Sans"/>
                <a:cs typeface="Noto Sans"/>
              </a:defRPr>
            </a:pPr>
            <a:r>
              <a:rPr sz="2175" b="0">
                <a:solidFill>
                  <a:srgbClr val="784FC4"/>
                </a:solidFill>
                <a:latin typeface="Noto Sans"/>
                <a:ea typeface="Noto Sans"/>
                <a:cs typeface="Noto Sans"/>
              </a:rPr>
              <a:t>Controlled replay on two UCI datasets; 72 conditions and 100 replays per condition.</a:t>
            </a:r>
          </a:p>
        </p:txBody>
      </p:sp>
      <p:graphicFrame>
        <p:nvGraphicFramePr>
          <p:cNvPr id="8" name=""/>
          <p:cNvGraphicFramePr/>
          <p:nvPr/>
        </p:nvGraphicFramePr>
        <p:xfrm>
          <a:off xmlns:a="http://schemas.openxmlformats.org/drawingml/2006/main" x="666750" y="2514600"/>
          <a:ext xmlns:a="http://schemas.openxmlformats.org/drawingml/2006/main" cx="10858500" cy="3324606"/>
        </p:xfrm>
        <a:graphic xmlns:a="http://schemas.openxmlformats.org/drawingml/2006/main">
          <a:graphicData uri="http://schemas.openxmlformats.org/drawingml/2006/table">
            <a:tbl>
              <a:tblPr firstRow="1" bandRow="0"/>
              <a:tblGrid>
                <a:gridCol w="4210120"/>
                <a:gridCol w="2495544"/>
                <a:gridCol w="4152836"/>
              </a:tblGrid>
              <a:tr h="483108">
                <a:tc>
                  <a:txBody>
                    <a:bodyPr/>
                    <a:lstStyle/>
                    <a:p>
                      <a:r>
                        <a:rPr sz="1800" b="1">
                          <a:solidFill>
                            <a:srgbClr val="FFFFFF"/>
                          </a:solidFill>
                          <a:latin typeface="Noto Sans"/>
                          <a:ea typeface="Noto Sans"/>
                          <a:cs typeface="Noto Sans"/>
                        </a:rPr>
                        <a:t>Reported quantity</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Result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Interpretation</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Simultaneous band containment</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7,200 / 7,200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Under the imposed replay model</a:t>
                      </a:r>
                    </a:p>
                  </a:txBody>
                  <a:tcPr marL="133350" marR="133350" marT="85725" marB="85725" anchor="ctr">
                    <a:solidFill>
                      <a:srgbClr val="FFFFFF"/>
                    </a:solidFill>
                  </a:tcPr>
                </a:tc>
              </a:tr>
              <a:tr h="775716">
                <a:tc>
                  <a:txBody>
                    <a:bodyPr/>
                    <a:lstStyle/>
                    <a:p>
                      <a:r>
                        <a:rPr sz="1800" b="0">
                          <a:solidFill>
                            <a:srgbClr val="354F62"/>
                          </a:solidFill>
                          <a:latin typeface="Noto Sans"/>
                          <a:ea typeface="Noto Sans"/>
                          <a:cs typeface="Noto Sans"/>
                        </a:rPr>
                        <a:t>Worst source-bin point bias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0.0174</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Unchanged bins can hide error change</a:t>
                      </a:r>
                    </a:p>
                  </a:txBody>
                  <a:tcPr marL="133350" marR="133350" marT="85725" marB="85725" anchor="ctr">
                    <a:solidFill>
                      <a:srgbClr val="F1F6F8"/>
                    </a:solidFill>
                  </a:tcPr>
                </a:tc>
              </a:tr>
              <a:tr h="775716">
                <a:tc>
                  <a:txBody>
                    <a:bodyPr/>
                    <a:lstStyle/>
                    <a:p>
                      <a:r>
                        <a:rPr sz="1800" b="0">
                          <a:solidFill>
                            <a:srgbClr val="354F62"/>
                          </a:solidFill>
                          <a:latin typeface="Noto Sans"/>
                          <a:ea typeface="Noto Sans"/>
                          <a:cs typeface="Noto Sans"/>
                        </a:rPr>
                        <a:t>Conditions improving risk-only bounds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9 / 72</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Refinement is not universal</a:t>
                      </a:r>
                    </a:p>
                  </a:txBody>
                  <a:tcPr marL="133350" marR="133350" marT="85725" marB="85725" anchor="ctr">
                    <a:solidFill>
                      <a:srgbClr val="FFFFFF"/>
                    </a:solidFill>
                  </a:tcPr>
                </a:tc>
              </a:tr>
              <a:tr h="775716">
                <a:tc>
                  <a:txBody>
                    <a:bodyPr/>
                    <a:lstStyle/>
                    <a:p>
                      <a:r>
                        <a:rPr sz="1800" b="0">
                          <a:solidFill>
                            <a:srgbClr val="354F62"/>
                          </a:solidFill>
                          <a:latin typeface="Noto Sans"/>
                          <a:ea typeface="Noto Sans"/>
                          <a:cs typeface="Noto Sans"/>
                        </a:rPr>
                        <a:t>Largest population-bound tightening</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0.1661</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Finite intervals remain conservative</a:t>
                      </a:r>
                    </a:p>
                  </a:txBody>
                  <a:tcPr marL="133350" marR="133350" marT="85725" marB="85725" anchor="ctr">
                    <a:solidFill>
                      <a:srgbClr val="F1F6F8"/>
                    </a:solidFill>
                  </a:tcPr>
                </a:tc>
              </a:tr>
            </a:tbl>
          </a:graphicData>
        </a:graphic>
      </p:graphicFrame>
      <p:sp>
        <p:nvSpPr>
          <p:cNvPr id="4" name="When drift does not identify coverage loss">
            <a:extLst xmlns:a="http://schemas.openxmlformats.org/drawingml/2006/main">
              <a:ext uri="{FF2B5EF4-FFF2-40B4-BE49-F238E27FC236}">
                <a16:creationId xmlns:a16="http://schemas.microsoft.com/office/drawing/2014/main" id="{6BBBA881-DDFA-4696-8443-D3B4DAF9D7F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drift does not identify coverage loss</a:t>
            </a:r>
          </a:p>
        </p:txBody>
      </p:sp>
      <p:sp>
        <p:nvSpPr>
          <p:cNvPr id="5" name="09 / 10">
            <a:extLst xmlns:a="http://schemas.openxmlformats.org/drawingml/2006/main">
              <a:ext uri="{FF2B5EF4-FFF2-40B4-BE49-F238E27FC236}">
                <a16:creationId xmlns:a16="http://schemas.microsoft.com/office/drawing/2014/main" id="{B3F412D1-7EA7-4ADC-A60B-55B3F1EB66A7}"/>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692195266"/>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Information requirements for coverage monitor">
            <a:extLst xmlns:a="http://schemas.openxmlformats.org/drawingml/2006/main">
              <a:ext uri="{FF2B5EF4-FFF2-40B4-BE49-F238E27FC236}">
                <a16:creationId xmlns:a16="http://schemas.microsoft.com/office/drawing/2014/main" id="{7C65A30C-A44B-415B-A399-D5FBB5EAE094}"/>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Information requirements for coverage monitoring</a:t>
            </a:r>
          </a:p>
        </p:txBody>
      </p:sp>
      <p:sp>
        <p:nvSpPr>
          <p:cNvPr id="2" name="Match the conclusion to the information retai">
            <a:extLst xmlns:a="http://schemas.openxmlformats.org/drawingml/2006/main">
              <a:ext uri="{FF2B5EF4-FFF2-40B4-BE49-F238E27FC236}">
                <a16:creationId xmlns:a16="http://schemas.microsoft.com/office/drawing/2014/main" id="{E0360357-DD69-46E6-A450-FA5EAFC28112}"/>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Match the conclusion to the information retained and the assumptions supplied.</a:t>
            </a:r>
          </a:p>
        </p:txBody>
      </p:sp>
      <p:sp>
        <p:nvSpPr>
          <p:cNvPr id="3" name="">
            <a:extLst xmlns:a="http://schemas.openxmlformats.org/drawingml/2006/main">
              <a:ext uri="{FF2B5EF4-FFF2-40B4-BE49-F238E27FC236}">
                <a16:creationId xmlns:a16="http://schemas.microsoft.com/office/drawing/2014/main" id="{829C97E4-EBE9-4608-8CCF-19ACB66B0FF1}"/>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Drift magnitude: a change alarm can leave coverage loss unidentified.</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Known binary link: confidence identifies the entire coverage curve.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Source calibration + ratio cap: report an identified interval.</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Unchanged confidence alone is not a target coverage certificate.</a:t>
            </a:r>
          </a:p>
        </p:txBody>
      </p:sp>
      <p:sp>
        <p:nvSpPr>
          <p:cNvPr id="4" name="Source: github.com/ChorokLeeDev/conformal-cov">
            <a:extLst xmlns:a="http://schemas.openxmlformats.org/drawingml/2006/main">
              <a:ext uri="{FF2B5EF4-FFF2-40B4-BE49-F238E27FC236}">
                <a16:creationId xmlns:a16="http://schemas.microsoft.com/office/drawing/2014/main" id="{95290CD6-8ED3-4E7E-A258-C18A0BEECA37}"/>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github.com/ChorokLeeDev/conformal-coverage-identification-aistats2027</a:t>
            </a:r>
          </a:p>
        </p:txBody>
      </p:sp>
      <p:sp>
        <p:nvSpPr>
          <p:cNvPr id="5" name="When drift does not identify coverage loss">
            <a:extLst xmlns:a="http://schemas.openxmlformats.org/drawingml/2006/main">
              <a:ext uri="{FF2B5EF4-FFF2-40B4-BE49-F238E27FC236}">
                <a16:creationId xmlns:a16="http://schemas.microsoft.com/office/drawing/2014/main" id="{E112F7E8-2BF6-4C27-A3E8-78D707BD2F9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When drift does not identify coverage loss</a:t>
            </a:r>
          </a:p>
        </p:txBody>
      </p:sp>
      <p:sp>
        <p:nvSpPr>
          <p:cNvPr id="6" name="10 / 10">
            <a:extLst xmlns:a="http://schemas.openxmlformats.org/drawingml/2006/main">
              <a:ext uri="{FF2B5EF4-FFF2-40B4-BE49-F238E27FC236}">
                <a16:creationId xmlns:a16="http://schemas.microsoft.com/office/drawing/2014/main" id="{12EBF31C-8F3C-47E2-8C50-56E8CD869D9B}"/>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1185507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2026-09-29T06:05:36.3560000Z</dcterms:created>
  <dcterms:modified xsi:type="dcterms:W3CDTF">2026-09-29T06:05:36.3560000Z</dcterms:modified>
</coreProperties>
</file>